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9"/>
  </p:notesMasterIdLst>
  <p:handoutMasterIdLst>
    <p:handoutMasterId r:id="rId30"/>
  </p:handoutMasterIdLst>
  <p:sldIdLst>
    <p:sldId id="256" r:id="rId5"/>
    <p:sldId id="439" r:id="rId6"/>
    <p:sldId id="447" r:id="rId7"/>
    <p:sldId id="449" r:id="rId8"/>
    <p:sldId id="448" r:id="rId9"/>
    <p:sldId id="450" r:id="rId10"/>
    <p:sldId id="452" r:id="rId11"/>
    <p:sldId id="454" r:id="rId12"/>
    <p:sldId id="443" r:id="rId13"/>
    <p:sldId id="444" r:id="rId14"/>
    <p:sldId id="445" r:id="rId15"/>
    <p:sldId id="446" r:id="rId16"/>
    <p:sldId id="442" r:id="rId17"/>
    <p:sldId id="453" r:id="rId18"/>
    <p:sldId id="457" r:id="rId19"/>
    <p:sldId id="458" r:id="rId20"/>
    <p:sldId id="459" r:id="rId21"/>
    <p:sldId id="460" r:id="rId22"/>
    <p:sldId id="261" r:id="rId23"/>
    <p:sldId id="455" r:id="rId24"/>
    <p:sldId id="378" r:id="rId25"/>
    <p:sldId id="438" r:id="rId26"/>
    <p:sldId id="353" r:id="rId27"/>
    <p:sldId id="376" r:id="rId28"/>
  </p:sldIdLst>
  <p:sldSz cx="16257588" cy="9144000"/>
  <p:notesSz cx="6858000" cy="9144000"/>
  <p:defaultTextStyle>
    <a:defPPr>
      <a:defRPr lang="en-US"/>
    </a:defPPr>
    <a:lvl1pPr marL="0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1pPr>
    <a:lvl2pPr marL="781583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2pPr>
    <a:lvl3pPr marL="1563167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3pPr>
    <a:lvl4pPr marL="2344750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4pPr>
    <a:lvl5pPr marL="3126334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5pPr>
    <a:lvl6pPr marL="3907917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6pPr>
    <a:lvl7pPr marL="4689500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7pPr>
    <a:lvl8pPr marL="5471084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8pPr>
    <a:lvl9pPr marL="6252667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512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73E"/>
    <a:srgbClr val="589278"/>
    <a:srgbClr val="FF85FF"/>
    <a:srgbClr val="43B02A"/>
    <a:srgbClr val="267A52"/>
    <a:srgbClr val="006643"/>
    <a:srgbClr val="7AC1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114B1E3-88EA-3AF6-60A4-8ADA18F832BD}" v="1" dt="2025-03-31T23:07:03.32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588" autoAdjust="0"/>
    <p:restoredTop sz="96357" autoAdjust="0"/>
  </p:normalViewPr>
  <p:slideViewPr>
    <p:cSldViewPr snapToGrid="0" snapToObjects="1">
      <p:cViewPr varScale="1">
        <p:scale>
          <a:sx n="44" d="100"/>
          <a:sy n="44" d="100"/>
        </p:scale>
        <p:origin x="1252" y="52"/>
      </p:cViewPr>
      <p:guideLst>
        <p:guide orient="horz" pos="2880"/>
        <p:guide pos="5121"/>
      </p:guideLst>
    </p:cSldViewPr>
  </p:slideViewPr>
  <p:outlineViewPr>
    <p:cViewPr>
      <p:scale>
        <a:sx n="33" d="100"/>
        <a:sy n="33" d="100"/>
      </p:scale>
      <p:origin x="0" y="5384"/>
    </p:cViewPr>
  </p:outlineViewPr>
  <p:notesTextViewPr>
    <p:cViewPr>
      <p:scale>
        <a:sx n="400" d="100"/>
        <a:sy n="4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handoutMaster" Target="handoutMasters/handoutMaster1.xml"/><Relationship Id="rId35" Type="http://schemas.microsoft.com/office/2015/10/relationships/revisionInfo" Target="revisionInfo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678AF4-5E64-AC4C-BB17-179E924E563F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BC6A53-3777-FA4B-999B-678D40C4B3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41370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BA0A7F-40AB-B84E-BA8C-8861397EF456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B51CE3-F1EC-6B4D-8B6D-86D363C89B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87595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781583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563167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2344750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3126334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3907917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4689500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5471084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6252667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sz="21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51CE3-F1EC-6B4D-8B6D-86D363C89BA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7953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876611-0983-698E-894F-E92C717D7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71EB58-301B-D784-AEEB-B88DF8F5C0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C74661-B469-E90B-3835-810BC3ECFA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sz="21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951792-7537-A8C8-C292-2B75DD9F6E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51CE3-F1EC-6B4D-8B6D-86D363C89BA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5802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95F4D6-0B00-64FB-46D4-F351FA149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6A467B-D566-3111-C507-177C529369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170AC9-6B87-87F4-D713-A11ADC49BE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sz="21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88B2DA-91A4-D31D-7377-38B61F5042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51CE3-F1EC-6B4D-8B6D-86D363C89BA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1160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836E6B-D9D2-2223-F8BF-B65CBEACF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C3F9DE-78F9-3FBF-2F3E-7544EBB2FE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68102B-130B-3CB3-3A30-A9B797195E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sz="21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F6B1F6-6831-A1C6-5A8F-63E57E0067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51CE3-F1EC-6B4D-8B6D-86D363C89BA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2306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991B0F-4A7D-E05C-6976-C3D81CBCE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AA2FFC-AF75-D708-EEFC-B19F5CE44C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76AC37-52B7-BEFA-38A2-E3DFB32DA9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sz="21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BBDBCF-2E2A-A0E7-100B-8044ACBCFB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51CE3-F1EC-6B4D-8B6D-86D363C89BA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4418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1F735-D381-FDE9-A877-C835DF03C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75D6C7-5ED4-7BB6-C85B-ECBC631B92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8EF005-50F3-3A79-E97C-417E7F903B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sz="21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3C0191-D6DA-AB52-EFF1-AECAB862D7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51CE3-F1EC-6B4D-8B6D-86D363C89BA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4501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920F34-A9FC-18AA-E4E7-F168DA77D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C707C2-F7AC-C2A1-C7FF-D4B27982DC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2CF4BC-0209-B8CA-E1D0-A98BC95C25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sz="21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5D2D05-6D6A-7FB2-A0F1-018C93DC9E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51CE3-F1EC-6B4D-8B6D-86D363C89BA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5540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269E4E-7EB0-E7B4-8279-2868BA5DC2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30C9FD-F282-A16D-9458-F96555A3E1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9A0363-0FE3-0A15-2F54-EA10903979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sz="21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571572-673C-F1D2-03F4-257AC64BFD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51CE3-F1EC-6B4D-8B6D-86D363C89BA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4040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C33C2F-9975-C2A1-D19C-02BD21BBA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165C5B-40F7-48DB-B818-6628A043F4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D1CCDA-5D06-6962-4DD0-FC828C6E0F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sz="21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95B509-44A4-03E5-7FB6-319ADD7F34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51CE3-F1EC-6B4D-8B6D-86D363C89BA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9484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7D2CFF-0C86-2FF9-F6DC-4DE061909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E8A98C-3308-1727-0827-982F6BA678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3FA948-0D35-8D90-2794-2933C585A4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sz="21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6B6E75-22A1-9892-E988-78A4440904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51CE3-F1EC-6B4D-8B6D-86D363C89BA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9392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767775-35E4-750F-575C-E41949E74C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351C88-F5C7-FBBE-9C6E-89CC1CA1BE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0C210B-EBFA-1BEA-B1E8-859F6938FA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sz="21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78852E-01C2-6037-8AD6-023AF3A6D2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51CE3-F1EC-6B4D-8B6D-86D363C89BAA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8026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8F8299-B952-E3BE-3610-322745763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5D566E-989F-75B9-660A-6557B3B511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92787D-97E2-478F-D04D-EFF3AD0445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sz="21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7A2869-629C-9ABA-4C2E-25E4185354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51CE3-F1EC-6B4D-8B6D-86D363C89BAA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8100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95A787-9CA3-7DDD-66AE-686D1CEE3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E66D03-47B9-C1DD-D643-C604F591E5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542D9F-3699-6D59-FF94-AC25985752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sz="21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E022EB-EC72-0835-D928-5023021A09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51CE3-F1EC-6B4D-8B6D-86D363C89BAA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6058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sz="21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51CE3-F1EC-6B4D-8B6D-86D363C89BAA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8142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15978"/>
            <a:ext cx="16257588" cy="173909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12882" y="1716573"/>
            <a:ext cx="9668510" cy="2180690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CA" dirty="0"/>
              <a:t>This is your presentation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12881" y="4032727"/>
            <a:ext cx="12157629" cy="233680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buNone/>
              <a:defRPr sz="4800" baseline="0">
                <a:solidFill>
                  <a:schemeClr val="accent3"/>
                </a:solidFill>
              </a:defRPr>
            </a:lvl1pPr>
            <a:lvl2pPr marL="7815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5631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3447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1263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9079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689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471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2526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CA" dirty="0"/>
              <a:t>Presentation subtitle or brief one-sentence description.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29733" y="7346545"/>
            <a:ext cx="7145607" cy="993775"/>
          </a:xfrm>
        </p:spPr>
        <p:txBody>
          <a:bodyPr anchor="b"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Month 24th, 2017</a:t>
            </a:r>
            <a:endParaRPr lang="en-US" dirty="0"/>
          </a:p>
        </p:txBody>
      </p:sp>
      <p:pic>
        <p:nvPicPr>
          <p:cNvPr id="4" name="Picture 3" descr="ac-logo.eps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57728" y="825406"/>
            <a:ext cx="3390900" cy="71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026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eparator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15978"/>
            <a:ext cx="16257588" cy="173909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0" y="2059516"/>
            <a:ext cx="9668513" cy="1816101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4800" b="1" cap="none" baseline="0">
                <a:solidFill>
                  <a:srgbClr val="FFFFFF"/>
                </a:solidFill>
              </a:defRPr>
            </a:lvl1pPr>
          </a:lstStyle>
          <a:p>
            <a:r>
              <a:rPr lang="en-CA" dirty="0"/>
              <a:t>Chapter or Section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12881" y="4083762"/>
            <a:ext cx="9668512" cy="2000250"/>
          </a:xfr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buNone/>
              <a:defRPr sz="3400" baseline="0">
                <a:solidFill>
                  <a:srgbClr val="A6C8BC"/>
                </a:solidFill>
              </a:defRPr>
            </a:lvl1pPr>
            <a:lvl2pPr marL="781583" indent="0">
              <a:buNone/>
              <a:defRPr sz="3100">
                <a:solidFill>
                  <a:schemeClr val="tx1">
                    <a:tint val="75000"/>
                  </a:schemeClr>
                </a:solidFill>
              </a:defRPr>
            </a:lvl2pPr>
            <a:lvl3pPr marL="1563167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34475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3126334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907917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6895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5471084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6252667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CA" dirty="0"/>
              <a:t>Brief description or intro to this section</a:t>
            </a:r>
          </a:p>
        </p:txBody>
      </p:sp>
      <p:pic>
        <p:nvPicPr>
          <p:cNvPr id="10" name="Picture 9" descr="ac-icon.eps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18893" y="689942"/>
            <a:ext cx="965199" cy="711200"/>
          </a:xfrm>
          <a:prstGeom prst="rect">
            <a:avLst/>
          </a:prstGeom>
        </p:spPr>
      </p:pic>
      <p:sp>
        <p:nvSpPr>
          <p:cNvPr id="15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rgbClr val="96B7A6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738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Autho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5" hasCustomPrompt="1"/>
          </p:nvPr>
        </p:nvSpPr>
        <p:spPr>
          <a:xfrm>
            <a:off x="3335758" y="2404534"/>
            <a:ext cx="4633424" cy="4303580"/>
          </a:xfrm>
        </p:spPr>
        <p:txBody>
          <a:bodyPr/>
          <a:lstStyle/>
          <a:p>
            <a:r>
              <a:rPr lang="en-US" dirty="0"/>
              <a:t>Author Photo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7" hasCustomPrompt="1"/>
          </p:nvPr>
        </p:nvSpPr>
        <p:spPr>
          <a:xfrm>
            <a:off x="8297063" y="3115733"/>
            <a:ext cx="4673448" cy="2881182"/>
          </a:xfrm>
        </p:spPr>
        <p:txBody>
          <a:bodyPr anchor="ctr"/>
          <a:lstStyle/>
          <a:p>
            <a:pPr lvl="0"/>
            <a:r>
              <a:rPr lang="en-CA" dirty="0"/>
              <a:t>Author description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chemeClr val="tx2"/>
                </a:solidFill>
              </a:defRPr>
            </a:lvl1pPr>
          </a:lstStyle>
          <a:p>
            <a:r>
              <a:rPr lang="en-CA" dirty="0"/>
              <a:t>About the Author (1 author)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8296275" y="2405062"/>
            <a:ext cx="4673600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Author Name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9" hasCustomPrompt="1"/>
          </p:nvPr>
        </p:nvSpPr>
        <p:spPr>
          <a:xfrm>
            <a:off x="8296275" y="5997575"/>
            <a:ext cx="4673600" cy="710539"/>
          </a:xfrm>
        </p:spPr>
        <p:txBody>
          <a:bodyPr anchor="b"/>
          <a:lstStyle>
            <a:lvl1pPr>
              <a:defRPr sz="2100"/>
            </a:lvl1pPr>
          </a:lstStyle>
          <a:p>
            <a:pPr lvl="0"/>
            <a:r>
              <a:rPr lang="en-CA" dirty="0"/>
              <a:t>Author email</a:t>
            </a:r>
          </a:p>
        </p:txBody>
      </p:sp>
    </p:spTree>
    <p:extLst>
      <p:ext uri="{BB962C8B-B14F-4D97-AF65-F5344CB8AC3E}">
        <p14:creationId xmlns:p14="http://schemas.microsoft.com/office/powerpoint/2010/main" val="16981270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Autho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5" hasCustomPrompt="1"/>
          </p:nvPr>
        </p:nvSpPr>
        <p:spPr>
          <a:xfrm>
            <a:off x="829814" y="2405062"/>
            <a:ext cx="2167288" cy="2013003"/>
          </a:xfrm>
        </p:spPr>
        <p:txBody>
          <a:bodyPr/>
          <a:lstStyle/>
          <a:p>
            <a:r>
              <a:rPr lang="en-US" dirty="0"/>
              <a:t>Author Photo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7" hasCustomPrompt="1"/>
          </p:nvPr>
        </p:nvSpPr>
        <p:spPr>
          <a:xfrm>
            <a:off x="3318933" y="3115733"/>
            <a:ext cx="4673448" cy="2387600"/>
          </a:xfrm>
        </p:spPr>
        <p:txBody>
          <a:bodyPr anchor="t"/>
          <a:lstStyle/>
          <a:p>
            <a:pPr lvl="0"/>
            <a:r>
              <a:rPr lang="en-CA" dirty="0"/>
              <a:t>Author description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About the Author (2 authors)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3318145" y="2405062"/>
            <a:ext cx="4673600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Author 1 Name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9" hasCustomPrompt="1"/>
          </p:nvPr>
        </p:nvSpPr>
        <p:spPr>
          <a:xfrm>
            <a:off x="3318145" y="5503333"/>
            <a:ext cx="4673600" cy="710539"/>
          </a:xfrm>
        </p:spPr>
        <p:txBody>
          <a:bodyPr anchor="b"/>
          <a:lstStyle>
            <a:lvl1pPr>
              <a:defRPr sz="2100"/>
            </a:lvl1pPr>
          </a:lstStyle>
          <a:p>
            <a:pPr lvl="0"/>
            <a:r>
              <a:rPr lang="en-CA" dirty="0"/>
              <a:t>Author email</a:t>
            </a:r>
          </a:p>
        </p:txBody>
      </p:sp>
      <p:sp>
        <p:nvSpPr>
          <p:cNvPr id="9" name="Picture Placeholder 4"/>
          <p:cNvSpPr>
            <a:spLocks noGrp="1"/>
          </p:cNvSpPr>
          <p:nvPr>
            <p:ph type="pic" sz="quarter" idx="20" hasCustomPrompt="1"/>
          </p:nvPr>
        </p:nvSpPr>
        <p:spPr>
          <a:xfrm>
            <a:off x="8297171" y="2405062"/>
            <a:ext cx="2167288" cy="2013003"/>
          </a:xfrm>
        </p:spPr>
        <p:txBody>
          <a:bodyPr/>
          <a:lstStyle/>
          <a:p>
            <a:r>
              <a:rPr lang="en-US" dirty="0"/>
              <a:t>Author Photo</a:t>
            </a:r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21" hasCustomPrompt="1"/>
          </p:nvPr>
        </p:nvSpPr>
        <p:spPr>
          <a:xfrm>
            <a:off x="10786290" y="3115733"/>
            <a:ext cx="4673448" cy="2387600"/>
          </a:xfrm>
        </p:spPr>
        <p:txBody>
          <a:bodyPr anchor="t"/>
          <a:lstStyle/>
          <a:p>
            <a:pPr lvl="0"/>
            <a:r>
              <a:rPr lang="en-CA" dirty="0"/>
              <a:t>Author description</a:t>
            </a:r>
          </a:p>
        </p:txBody>
      </p:sp>
      <p:sp>
        <p:nvSpPr>
          <p:cNvPr id="12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10785502" y="2405062"/>
            <a:ext cx="4673600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Author 2 Name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23" hasCustomPrompt="1"/>
          </p:nvPr>
        </p:nvSpPr>
        <p:spPr>
          <a:xfrm>
            <a:off x="10785502" y="5503333"/>
            <a:ext cx="4673600" cy="710539"/>
          </a:xfrm>
        </p:spPr>
        <p:txBody>
          <a:bodyPr anchor="b"/>
          <a:lstStyle>
            <a:lvl1pPr>
              <a:defRPr sz="2100"/>
            </a:lvl1pPr>
          </a:lstStyle>
          <a:p>
            <a:pPr lvl="0"/>
            <a:r>
              <a:rPr lang="en-CA" dirty="0"/>
              <a:t>Author email</a:t>
            </a:r>
          </a:p>
        </p:txBody>
      </p:sp>
      <p:pic>
        <p:nvPicPr>
          <p:cNvPr id="15" name="Picture 14" descr="curtain-100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65826"/>
            <a:ext cx="16257588" cy="1778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7974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Key Point w/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1-column key point text slide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11615780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89278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4" name="Picture 13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5" name="Picture 14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6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28326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Key Point, No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660398"/>
            <a:ext cx="11615780" cy="6874935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A basic 1-column key point slide with no title. 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3" name="Picture 1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4" name="Picture 13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5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63640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 Key Poi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2-column key point slide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7162458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8297170" y="2404534"/>
            <a:ext cx="7147539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pic>
        <p:nvPicPr>
          <p:cNvPr id="17" name="Picture 16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8" name="Picture 17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9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6180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 Key Point w/Subtitl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basic 2-column key point text slide with subtitles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7162458" cy="4419601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8297170" y="3115732"/>
            <a:ext cx="7147539" cy="4419602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3" y="2405062"/>
            <a:ext cx="716245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8297170" y="2405062"/>
            <a:ext cx="7147539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pic>
        <p:nvPicPr>
          <p:cNvPr id="12" name="Picture 11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3" name="Picture 12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5" name="Slide Number Placeholder 8"/>
          <p:cNvSpPr>
            <a:spLocks noGrp="1"/>
          </p:cNvSpPr>
          <p:nvPr>
            <p:ph type="sldNum" sz="quarter" idx="20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70226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 Key Poi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3-column key point slide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4673339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5807945" y="2404534"/>
            <a:ext cx="4644000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10786183" y="2404534"/>
            <a:ext cx="4673448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pic>
        <p:nvPicPr>
          <p:cNvPr id="11" name="Picture 10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2" name="Picture 11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3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95207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 Key Point w/Subtitl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3-column key point slide with subtitles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4673339" cy="4419601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5807945" y="3115732"/>
            <a:ext cx="4644000" cy="4419601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10786183" y="3115732"/>
            <a:ext cx="4673448" cy="4419601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3" y="2405062"/>
            <a:ext cx="467333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2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2405062"/>
            <a:ext cx="4644000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3" name="Text Placeholder 6"/>
          <p:cNvSpPr>
            <a:spLocks noGrp="1"/>
          </p:cNvSpPr>
          <p:nvPr>
            <p:ph type="body" sz="quarter" idx="20" hasCustomPrompt="1"/>
          </p:nvPr>
        </p:nvSpPr>
        <p:spPr>
          <a:xfrm>
            <a:off x="10786183" y="2405062"/>
            <a:ext cx="467333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pic>
        <p:nvPicPr>
          <p:cNvPr id="15" name="Picture 1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7" name="Picture 16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8" name="Slide Number Placeholder 8"/>
          <p:cNvSpPr>
            <a:spLocks noGrp="1"/>
          </p:cNvSpPr>
          <p:nvPr>
            <p:ph type="sldNum" sz="quarter" idx="21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45669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Point Key Poi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6-column key point slide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4673339" cy="2409137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subject.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5807945" y="2404534"/>
            <a:ext cx="4644000" cy="2409137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10786183" y="2404534"/>
            <a:ext cx="4673448" cy="2409137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5130801"/>
            <a:ext cx="4673339" cy="2409137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subject.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5130801"/>
            <a:ext cx="4644000" cy="2409137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20" hasCustomPrompt="1"/>
          </p:nvPr>
        </p:nvSpPr>
        <p:spPr>
          <a:xfrm>
            <a:off x="10786183" y="5130801"/>
            <a:ext cx="4673448" cy="2409137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pic>
        <p:nvPicPr>
          <p:cNvPr id="15" name="Picture 1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7" name="Picture 16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8" name="Slide Number Placeholder 8"/>
          <p:cNvSpPr>
            <a:spLocks noGrp="1"/>
          </p:cNvSpPr>
          <p:nvPr>
            <p:ph type="sldNum" sz="quarter" idx="21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04804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Point Key Point w/ Subtitl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6-point key point slide with subtitles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3"/>
            <a:ext cx="4673339" cy="1697938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subject.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5807945" y="3115733"/>
            <a:ext cx="4644000" cy="1697938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10786183" y="3115733"/>
            <a:ext cx="4673448" cy="1697938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5858406"/>
            <a:ext cx="4673339" cy="1681532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subject.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5858406"/>
            <a:ext cx="4644000" cy="1681532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20" hasCustomPrompt="1"/>
          </p:nvPr>
        </p:nvSpPr>
        <p:spPr>
          <a:xfrm>
            <a:off x="10786183" y="5858406"/>
            <a:ext cx="4673448" cy="1681532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7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812883" y="2405062"/>
            <a:ext cx="467333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8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5807945" y="2405062"/>
            <a:ext cx="4644000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9" name="Text Placeholder 6"/>
          <p:cNvSpPr>
            <a:spLocks noGrp="1"/>
          </p:cNvSpPr>
          <p:nvPr>
            <p:ph type="body" sz="quarter" idx="23" hasCustomPrompt="1"/>
          </p:nvPr>
        </p:nvSpPr>
        <p:spPr>
          <a:xfrm>
            <a:off x="10786183" y="2405062"/>
            <a:ext cx="467333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20" name="Text Placeholder 6"/>
          <p:cNvSpPr>
            <a:spLocks noGrp="1"/>
          </p:cNvSpPr>
          <p:nvPr>
            <p:ph type="body" sz="quarter" idx="24" hasCustomPrompt="1"/>
          </p:nvPr>
        </p:nvSpPr>
        <p:spPr>
          <a:xfrm>
            <a:off x="812883" y="5147735"/>
            <a:ext cx="467333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21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5807945" y="5147735"/>
            <a:ext cx="4644000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22" name="Text Placeholder 6"/>
          <p:cNvSpPr>
            <a:spLocks noGrp="1"/>
          </p:cNvSpPr>
          <p:nvPr>
            <p:ph type="body" sz="quarter" idx="26" hasCustomPrompt="1"/>
          </p:nvPr>
        </p:nvSpPr>
        <p:spPr>
          <a:xfrm>
            <a:off x="10786183" y="5147735"/>
            <a:ext cx="467333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pic>
        <p:nvPicPr>
          <p:cNvPr id="23" name="Picture 2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24" name="Picture 23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25" name="Slide Number Placeholder 8"/>
          <p:cNvSpPr>
            <a:spLocks noGrp="1"/>
          </p:cNvSpPr>
          <p:nvPr>
            <p:ph type="sldNum" sz="quarter" idx="27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36385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Bulk Content w/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1-column bulk content slide for long content.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11615780" cy="5130800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3" name="Picture 1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4" name="Picture 13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5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0516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Bulk Content, No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660398"/>
            <a:ext cx="11615780" cy="6874936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This is a 1-column bulk content slide without a title. 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4" name="Picture 13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5" name="Picture 14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6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73197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 Bulk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2-column bulk content slide for long content.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7162458" cy="4419601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297169" y="3115732"/>
            <a:ext cx="7147539" cy="4419601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812882" y="2405062"/>
            <a:ext cx="7162457" cy="710671"/>
          </a:xfrm>
        </p:spPr>
        <p:txBody>
          <a:bodyPr/>
          <a:lstStyle>
            <a:lvl1pPr>
              <a:defRPr sz="2100" b="1" baseline="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8297168" y="2405062"/>
            <a:ext cx="7147539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pic>
        <p:nvPicPr>
          <p:cNvPr id="17" name="Picture 16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8" name="Picture 17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9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77413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 Bulk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3-column bulk content slide for long content.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4673339" cy="4419601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10786183" y="3115732"/>
            <a:ext cx="4658525" cy="4419601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812883" y="2405062"/>
            <a:ext cx="4673338" cy="710671"/>
          </a:xfrm>
        </p:spPr>
        <p:txBody>
          <a:bodyPr/>
          <a:lstStyle>
            <a:lvl1pPr>
              <a:defRPr sz="2100" b="1" baseline="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10786182" y="2405062"/>
            <a:ext cx="4658525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24" hasCustomPrompt="1"/>
          </p:nvPr>
        </p:nvSpPr>
        <p:spPr>
          <a:xfrm>
            <a:off x="5807947" y="3115732"/>
            <a:ext cx="4643998" cy="4419601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8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5807946" y="2405062"/>
            <a:ext cx="4643998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pic>
        <p:nvPicPr>
          <p:cNvPr id="19" name="Picture 18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20" name="Picture 19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21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31276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Point Bulk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30" hasCustomPrompt="1"/>
          </p:nvPr>
        </p:nvSpPr>
        <p:spPr>
          <a:xfrm>
            <a:off x="812882" y="5858405"/>
            <a:ext cx="4673339" cy="1697939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28" name="Text Placeholder 5"/>
          <p:cNvSpPr>
            <a:spLocks noGrp="1"/>
          </p:cNvSpPr>
          <p:nvPr>
            <p:ph type="body" sz="quarter" idx="31" hasCustomPrompt="1"/>
          </p:nvPr>
        </p:nvSpPr>
        <p:spPr>
          <a:xfrm>
            <a:off x="10786183" y="5858405"/>
            <a:ext cx="4658525" cy="1697939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29" name="Text Placeholder 6"/>
          <p:cNvSpPr>
            <a:spLocks noGrp="1"/>
          </p:cNvSpPr>
          <p:nvPr>
            <p:ph type="body" sz="quarter" idx="32" hasCustomPrompt="1"/>
          </p:nvPr>
        </p:nvSpPr>
        <p:spPr>
          <a:xfrm>
            <a:off x="812883" y="5147735"/>
            <a:ext cx="4673338" cy="710671"/>
          </a:xfrm>
        </p:spPr>
        <p:txBody>
          <a:bodyPr/>
          <a:lstStyle>
            <a:lvl1pPr>
              <a:defRPr sz="2100" b="1" baseline="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30" name="Text Placeholder 6"/>
          <p:cNvSpPr>
            <a:spLocks noGrp="1"/>
          </p:cNvSpPr>
          <p:nvPr>
            <p:ph type="body" sz="quarter" idx="33" hasCustomPrompt="1"/>
          </p:nvPr>
        </p:nvSpPr>
        <p:spPr>
          <a:xfrm>
            <a:off x="10786182" y="5147735"/>
            <a:ext cx="4658525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31" name="Text Placeholder 5"/>
          <p:cNvSpPr>
            <a:spLocks noGrp="1"/>
          </p:cNvSpPr>
          <p:nvPr>
            <p:ph type="body" sz="quarter" idx="34" hasCustomPrompt="1"/>
          </p:nvPr>
        </p:nvSpPr>
        <p:spPr>
          <a:xfrm>
            <a:off x="5807947" y="5858405"/>
            <a:ext cx="4643998" cy="1697939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32" name="Text Placeholder 6"/>
          <p:cNvSpPr>
            <a:spLocks noGrp="1"/>
          </p:cNvSpPr>
          <p:nvPr>
            <p:ph type="body" sz="quarter" idx="35" hasCustomPrompt="1"/>
          </p:nvPr>
        </p:nvSpPr>
        <p:spPr>
          <a:xfrm>
            <a:off x="5807946" y="5147735"/>
            <a:ext cx="4643998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6-point bulk content slide for long content.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4673339" cy="1697939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10786183" y="3115732"/>
            <a:ext cx="4658525" cy="1697939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812883" y="2405062"/>
            <a:ext cx="4673338" cy="710671"/>
          </a:xfrm>
        </p:spPr>
        <p:txBody>
          <a:bodyPr/>
          <a:lstStyle>
            <a:lvl1pPr>
              <a:defRPr sz="2100" b="1" baseline="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10786182" y="2405062"/>
            <a:ext cx="4658525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24" hasCustomPrompt="1"/>
          </p:nvPr>
        </p:nvSpPr>
        <p:spPr>
          <a:xfrm>
            <a:off x="5807947" y="3115732"/>
            <a:ext cx="4643998" cy="1697939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18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5807946" y="2405062"/>
            <a:ext cx="4643998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pic>
        <p:nvPicPr>
          <p:cNvPr id="33" name="Picture 3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34" name="Picture 33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35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937178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Numbers Lar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3860800"/>
            <a:ext cx="4673339" cy="3679138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the figure above.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3860800"/>
            <a:ext cx="4644000" cy="3679138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the figure above.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10786183" y="3860800"/>
            <a:ext cx="4673448" cy="3679138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the figure above.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6" hasCustomPrompt="1"/>
          </p:nvPr>
        </p:nvSpPr>
        <p:spPr>
          <a:xfrm>
            <a:off x="812881" y="2475441"/>
            <a:ext cx="4673340" cy="1226329"/>
          </a:xfrm>
        </p:spPr>
        <p:txBody>
          <a:bodyPr anchor="b"/>
          <a:lstStyle>
            <a:lvl1pPr>
              <a:lnSpc>
                <a:spcPct val="80000"/>
              </a:lnSpc>
              <a:defRPr sz="11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##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20" hasCustomPrompt="1"/>
          </p:nvPr>
        </p:nvSpPr>
        <p:spPr>
          <a:xfrm>
            <a:off x="5807945" y="2475441"/>
            <a:ext cx="4643999" cy="1226329"/>
          </a:xfrm>
        </p:spPr>
        <p:txBody>
          <a:bodyPr anchor="b"/>
          <a:lstStyle>
            <a:lvl1pPr>
              <a:lnSpc>
                <a:spcPct val="80000"/>
              </a:lnSpc>
              <a:defRPr sz="11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##%</a:t>
            </a:r>
          </a:p>
        </p:txBody>
      </p:sp>
      <p:sp>
        <p:nvSpPr>
          <p:cNvPr id="24" name="Text Placeholder 9"/>
          <p:cNvSpPr>
            <a:spLocks noGrp="1"/>
          </p:cNvSpPr>
          <p:nvPr>
            <p:ph type="body" sz="quarter" idx="22" hasCustomPrompt="1"/>
          </p:nvPr>
        </p:nvSpPr>
        <p:spPr>
          <a:xfrm>
            <a:off x="10786183" y="2475441"/>
            <a:ext cx="4673448" cy="1226329"/>
          </a:xfrm>
        </p:spPr>
        <p:txBody>
          <a:bodyPr anchor="b"/>
          <a:lstStyle>
            <a:lvl1pPr>
              <a:lnSpc>
                <a:spcPct val="80000"/>
              </a:lnSpc>
              <a:defRPr sz="11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#,###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key numbers slide for short numbers.</a:t>
            </a:r>
            <a:endParaRPr lang="en-US" dirty="0"/>
          </a:p>
        </p:txBody>
      </p:sp>
      <p:pic>
        <p:nvPicPr>
          <p:cNvPr id="33" name="Picture 3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34" name="Picture 33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35" name="Slide Number Placeholder 8"/>
          <p:cNvSpPr>
            <a:spLocks noGrp="1"/>
          </p:cNvSpPr>
          <p:nvPr>
            <p:ph type="sldNum" sz="quarter" idx="24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26428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Numbers Mediu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3701769"/>
            <a:ext cx="4673339" cy="3838169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the figure above.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3701769"/>
            <a:ext cx="4644000" cy="3838169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the figure above.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10786183" y="3701769"/>
            <a:ext cx="4673448" cy="3838169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the figure above.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6" hasCustomPrompt="1"/>
          </p:nvPr>
        </p:nvSpPr>
        <p:spPr>
          <a:xfrm>
            <a:off x="812881" y="2441575"/>
            <a:ext cx="4673340" cy="1260195"/>
          </a:xfrm>
        </p:spPr>
        <p:txBody>
          <a:bodyPr anchor="t"/>
          <a:lstStyle>
            <a:lvl1pPr>
              <a:lnSpc>
                <a:spcPct val="80000"/>
              </a:lnSpc>
              <a:defRPr sz="7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$##,###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20" hasCustomPrompt="1"/>
          </p:nvPr>
        </p:nvSpPr>
        <p:spPr>
          <a:xfrm>
            <a:off x="5807945" y="2475441"/>
            <a:ext cx="4643999" cy="1226329"/>
          </a:xfrm>
        </p:spPr>
        <p:txBody>
          <a:bodyPr anchor="t"/>
          <a:lstStyle>
            <a:lvl1pPr>
              <a:lnSpc>
                <a:spcPct val="80000"/>
              </a:lnSpc>
              <a:defRPr sz="7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#,####%</a:t>
            </a:r>
          </a:p>
        </p:txBody>
      </p:sp>
      <p:sp>
        <p:nvSpPr>
          <p:cNvPr id="24" name="Text Placeholder 9"/>
          <p:cNvSpPr>
            <a:spLocks noGrp="1"/>
          </p:cNvSpPr>
          <p:nvPr>
            <p:ph type="body" sz="quarter" idx="22" hasCustomPrompt="1"/>
          </p:nvPr>
        </p:nvSpPr>
        <p:spPr>
          <a:xfrm>
            <a:off x="10786183" y="2475441"/>
            <a:ext cx="4673448" cy="1226329"/>
          </a:xfrm>
        </p:spPr>
        <p:txBody>
          <a:bodyPr anchor="t"/>
          <a:lstStyle>
            <a:lvl1pPr>
              <a:lnSpc>
                <a:spcPct val="80000"/>
              </a:lnSpc>
              <a:defRPr sz="7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#,###,####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key numbers slide for long numbers.</a:t>
            </a:r>
            <a:endParaRPr lang="en-US" dirty="0"/>
          </a:p>
        </p:txBody>
      </p:sp>
      <p:pic>
        <p:nvPicPr>
          <p:cNvPr id="15" name="Picture 1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6" name="Picture 15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7" name="Slide Number Placeholder 8"/>
          <p:cNvSpPr>
            <a:spLocks noGrp="1"/>
          </p:cNvSpPr>
          <p:nvPr>
            <p:ph type="sldNum" sz="quarter" idx="24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360790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Points with Ico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4538133"/>
            <a:ext cx="4673339" cy="3001805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a brief point, illustrated by the icon above.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4538133"/>
            <a:ext cx="4644000" cy="3001805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a brief point, illustrated by the icon above.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10786183" y="4538133"/>
            <a:ext cx="4673448" cy="3001805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a brief point, illustrated by the icon above.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chemeClr val="accent1"/>
                </a:solidFill>
              </a:defRPr>
            </a:lvl1pPr>
          </a:lstStyle>
          <a:p>
            <a:r>
              <a:rPr lang="en-CA" dirty="0"/>
              <a:t>This is a key point slide with icons to illustrate points.</a:t>
            </a:r>
            <a:endParaRPr lang="en-US" dirty="0"/>
          </a:p>
        </p:txBody>
      </p:sp>
      <p:sp>
        <p:nvSpPr>
          <p:cNvPr id="12" name="Oval 11"/>
          <p:cNvSpPr/>
          <p:nvPr userDrawn="1"/>
        </p:nvSpPr>
        <p:spPr>
          <a:xfrm>
            <a:off x="728135" y="2454806"/>
            <a:ext cx="1755775" cy="17557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Picture Placeholder 3"/>
          <p:cNvSpPr>
            <a:spLocks noGrp="1" noChangeAspect="1"/>
          </p:cNvSpPr>
          <p:nvPr>
            <p:ph type="pic" sz="quarter" idx="26" hasCustomPrompt="1"/>
          </p:nvPr>
        </p:nvSpPr>
        <p:spPr>
          <a:xfrm>
            <a:off x="1173631" y="2900693"/>
            <a:ext cx="864783" cy="86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4" name="Oval 13"/>
          <p:cNvSpPr/>
          <p:nvPr userDrawn="1"/>
        </p:nvSpPr>
        <p:spPr>
          <a:xfrm>
            <a:off x="5723280" y="2454806"/>
            <a:ext cx="1755775" cy="17557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Picture Placeholder 3"/>
          <p:cNvSpPr>
            <a:spLocks noGrp="1" noChangeAspect="1"/>
          </p:cNvSpPr>
          <p:nvPr>
            <p:ph type="pic" sz="quarter" idx="27" hasCustomPrompt="1"/>
          </p:nvPr>
        </p:nvSpPr>
        <p:spPr>
          <a:xfrm>
            <a:off x="6168776" y="2900693"/>
            <a:ext cx="864782" cy="86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6" name="Oval 15"/>
          <p:cNvSpPr/>
          <p:nvPr userDrawn="1"/>
        </p:nvSpPr>
        <p:spPr>
          <a:xfrm>
            <a:off x="10701518" y="2454806"/>
            <a:ext cx="1755775" cy="17557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Picture Placeholder 3"/>
          <p:cNvSpPr>
            <a:spLocks noGrp="1" noChangeAspect="1"/>
          </p:cNvSpPr>
          <p:nvPr>
            <p:ph type="pic" sz="quarter" idx="28" hasCustomPrompt="1"/>
          </p:nvPr>
        </p:nvSpPr>
        <p:spPr>
          <a:xfrm>
            <a:off x="11147405" y="2900693"/>
            <a:ext cx="864000" cy="86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pic>
        <p:nvPicPr>
          <p:cNvPr id="18" name="Picture 17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9" name="Picture 18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20" name="Slide Number Placeholder 8"/>
          <p:cNvSpPr>
            <a:spLocks noGrp="1"/>
          </p:cNvSpPr>
          <p:nvPr>
            <p:ph type="sldNum" sz="quarter" idx="2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96315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Slid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63845"/>
            <a:ext cx="16257588" cy="1739093"/>
          </a:xfrm>
          <a:prstGeom prst="rect">
            <a:avLst/>
          </a:prstGeom>
        </p:spPr>
      </p:pic>
      <p:sp>
        <p:nvSpPr>
          <p:cNvPr id="5" name="Media Placeholder 4"/>
          <p:cNvSpPr>
            <a:spLocks noGrp="1"/>
          </p:cNvSpPr>
          <p:nvPr>
            <p:ph type="media" sz="quarter" idx="10" hasCustomPrompt="1"/>
          </p:nvPr>
        </p:nvSpPr>
        <p:spPr>
          <a:xfrm>
            <a:off x="3287077" y="829734"/>
            <a:ext cx="9683434" cy="750146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this icon to insert a video</a:t>
            </a:r>
          </a:p>
        </p:txBody>
      </p:sp>
    </p:spTree>
    <p:extLst>
      <p:ext uri="{BB962C8B-B14F-4D97-AF65-F5344CB8AC3E}">
        <p14:creationId xmlns:p14="http://schemas.microsoft.com/office/powerpoint/2010/main" val="188030905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1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63845"/>
            <a:ext cx="16257588" cy="1739093"/>
          </a:xfrm>
          <a:prstGeom prst="rect">
            <a:avLst/>
          </a:prstGeom>
        </p:spPr>
      </p:pic>
      <p:sp>
        <p:nvSpPr>
          <p:cNvPr id="3" name="Rectangle 2"/>
          <p:cNvSpPr/>
          <p:nvPr userDrawn="1"/>
        </p:nvSpPr>
        <p:spPr>
          <a:xfrm>
            <a:off x="805366" y="838200"/>
            <a:ext cx="14646856" cy="74676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87077" y="2787076"/>
            <a:ext cx="9683434" cy="3492669"/>
          </a:xfrm>
        </p:spPr>
        <p:txBody>
          <a:bodyPr/>
          <a:lstStyle>
            <a:lvl1pPr algn="ctr">
              <a:lnSpc>
                <a:spcPct val="110000"/>
              </a:lnSpc>
              <a:defRPr sz="4800" baseline="0">
                <a:solidFill>
                  <a:srgbClr val="599A83"/>
                </a:solidFill>
              </a:defRPr>
            </a:lvl1pPr>
          </a:lstStyle>
          <a:p>
            <a:r>
              <a:rPr lang="en-CA" dirty="0"/>
              <a:t>Enter an impressive statistic or fact. e.g. 98% of Algonquin students have been hired immediately after graduation.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287077" y="2125170"/>
            <a:ext cx="9683434" cy="510712"/>
          </a:xfrm>
        </p:spPr>
        <p:txBody>
          <a:bodyPr anchor="ctr"/>
          <a:lstStyle>
            <a:lvl1pPr algn="ctr">
              <a:lnSpc>
                <a:spcPct val="100000"/>
              </a:lnSpc>
              <a:defRPr sz="21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287077" y="6561978"/>
            <a:ext cx="9683434" cy="388804"/>
          </a:xfrm>
        </p:spPr>
        <p:txBody>
          <a:bodyPr anchor="ctr"/>
          <a:lstStyle>
            <a:lvl1pPr algn="ctr">
              <a:defRPr sz="1600"/>
            </a:lvl1pPr>
          </a:lstStyle>
          <a:p>
            <a:pPr lvl="0"/>
            <a:r>
              <a:rPr lang="en-CA" dirty="0"/>
              <a:t>THIS IS A SPACE FOR A CITATION OR SOURCE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437039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2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63845"/>
            <a:ext cx="16257588" cy="1739093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3287077" y="2787076"/>
            <a:ext cx="9683434" cy="3492669"/>
          </a:xfrm>
        </p:spPr>
        <p:txBody>
          <a:bodyPr/>
          <a:lstStyle>
            <a:lvl1pPr algn="ctr">
              <a:lnSpc>
                <a:spcPct val="110000"/>
              </a:lnSpc>
              <a:defRPr sz="4800" baseline="0">
                <a:solidFill>
                  <a:srgbClr val="A6C8BC"/>
                </a:solidFill>
              </a:defRPr>
            </a:lvl1pPr>
          </a:lstStyle>
          <a:p>
            <a:r>
              <a:rPr lang="en-CA" dirty="0"/>
              <a:t>Enter an impressive statistic or fact. e.g. 98% of Algonquin students have been hired immediately after graduation.</a:t>
            </a:r>
            <a:endParaRPr lang="en-US" dirty="0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287077" y="2125170"/>
            <a:ext cx="9683434" cy="510712"/>
          </a:xfrm>
        </p:spPr>
        <p:txBody>
          <a:bodyPr anchor="ctr"/>
          <a:lstStyle>
            <a:lvl1pPr algn="ctr">
              <a:lnSpc>
                <a:spcPct val="100000"/>
              </a:lnSpc>
              <a:defRPr sz="2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287077" y="6561978"/>
            <a:ext cx="9683434" cy="388804"/>
          </a:xfrm>
        </p:spPr>
        <p:txBody>
          <a:bodyPr anchor="ctr"/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THIS IS A SPACE FOR A CITATION OR SOURCE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602353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3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ampus-scape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65700"/>
            <a:ext cx="16256000" cy="41783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287077" y="1313874"/>
            <a:ext cx="9683434" cy="3492669"/>
          </a:xfrm>
        </p:spPr>
        <p:txBody>
          <a:bodyPr/>
          <a:lstStyle>
            <a:lvl1pPr algn="ctr">
              <a:lnSpc>
                <a:spcPct val="110000"/>
              </a:lnSpc>
              <a:defRPr sz="4800" baseline="0">
                <a:solidFill>
                  <a:srgbClr val="A6C8BC"/>
                </a:solidFill>
              </a:defRPr>
            </a:lvl1pPr>
          </a:lstStyle>
          <a:p>
            <a:r>
              <a:rPr lang="en-CA" dirty="0"/>
              <a:t>Enter an impressive statistic or fact. e.g. We raised $1,000,000 this year. Highlight a number by making it bold and white.</a:t>
            </a:r>
            <a:endParaRPr lang="en-US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287077" y="651968"/>
            <a:ext cx="9683434" cy="510712"/>
          </a:xfrm>
        </p:spPr>
        <p:txBody>
          <a:bodyPr anchor="ctr"/>
          <a:lstStyle>
            <a:lvl1pPr algn="ctr">
              <a:lnSpc>
                <a:spcPct val="100000"/>
              </a:lnSpc>
              <a:defRPr sz="2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199242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ampus-scape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65700"/>
            <a:ext cx="16256000" cy="41783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287077" y="1313874"/>
            <a:ext cx="9683434" cy="3492669"/>
          </a:xfrm>
        </p:spPr>
        <p:txBody>
          <a:bodyPr/>
          <a:lstStyle>
            <a:lvl1pPr algn="ctr">
              <a:lnSpc>
                <a:spcPct val="110000"/>
              </a:lnSpc>
              <a:defRPr sz="4800" baseline="0">
                <a:solidFill>
                  <a:srgbClr val="599A83"/>
                </a:solidFill>
              </a:defRPr>
            </a:lvl1pPr>
          </a:lstStyle>
          <a:p>
            <a:r>
              <a:rPr lang="en-CA" dirty="0"/>
              <a:t>Enter an impressive statistic or fact. e.g. We raised $1,000,000 this year. Highlight a number by making it bold and 100% green.</a:t>
            </a:r>
            <a:endParaRPr lang="en-US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287077" y="651968"/>
            <a:ext cx="9683434" cy="510712"/>
          </a:xfrm>
        </p:spPr>
        <p:txBody>
          <a:bodyPr anchor="ctr"/>
          <a:lstStyle>
            <a:lvl1pPr algn="ctr">
              <a:lnSpc>
                <a:spcPct val="100000"/>
              </a:lnSpc>
              <a:defRPr sz="21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269909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5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127735" cy="4571404"/>
          </a:xfrm>
          <a:solidFill>
            <a:schemeClr val="bg2"/>
          </a:solidFill>
          <a:ln>
            <a:noFill/>
          </a:ln>
        </p:spPr>
        <p:txBody>
          <a:bodyPr/>
          <a:lstStyle>
            <a:lvl1pPr algn="ctr">
              <a:defRPr baseline="0">
                <a:ln>
                  <a:noFill/>
                </a:ln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this icon to insert a background photo, the resize this box so it covers the whole screen. Make sure its good quality.</a:t>
            </a:r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2980794" y="2552251"/>
            <a:ext cx="10296000" cy="4039500"/>
          </a:xfrm>
          <a:solidFill>
            <a:srgbClr val="FFFFFF"/>
          </a:solidFill>
          <a:ln>
            <a:noFill/>
          </a:ln>
          <a:effectLst>
            <a:outerShdw blurRad="381000" dir="2700000" sx="98000" sy="98000" algn="tl" rotWithShape="0">
              <a:srgbClr val="000000">
                <a:alpha val="85000"/>
              </a:srgbClr>
            </a:outerShdw>
          </a:effectLst>
        </p:spPr>
        <p:txBody>
          <a:bodyPr lIns="324000" tIns="1080000" rIns="324000" bIns="1080000"/>
          <a:lstStyle>
            <a:lvl1pPr algn="ctr">
              <a:lnSpc>
                <a:spcPct val="90000"/>
              </a:lnSpc>
              <a:defRPr sz="11200">
                <a:solidFill>
                  <a:srgbClr val="599A83"/>
                </a:solidFill>
              </a:defRPr>
            </a:lvl1pPr>
          </a:lstStyle>
          <a:p>
            <a:r>
              <a:rPr lang="en-CA" dirty="0"/>
              <a:t>$#,###,###</a:t>
            </a:r>
            <a:endParaRPr lang="en-US" dirty="0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301893" y="3012628"/>
            <a:ext cx="9653802" cy="510712"/>
          </a:xfrm>
        </p:spPr>
        <p:txBody>
          <a:bodyPr anchor="ctr"/>
          <a:lstStyle>
            <a:lvl1pPr algn="ctr">
              <a:lnSpc>
                <a:spcPct val="100000"/>
              </a:lnSpc>
              <a:defRPr sz="2100" b="1" baseline="0">
                <a:solidFill>
                  <a:srgbClr val="00673E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301893" y="5643918"/>
            <a:ext cx="9653802" cy="388804"/>
          </a:xfrm>
        </p:spPr>
        <p:txBody>
          <a:bodyPr anchor="ctr"/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THIS IS A SPACE FOR A CITATION OR SOURCE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21046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-Aligned Image with Text +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7484181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7484182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A slide with a right-aligned image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3318825" y="6267279"/>
            <a:ext cx="4978238" cy="1268053"/>
          </a:xfrm>
        </p:spPr>
        <p:txBody>
          <a:bodyPr anchor="b"/>
          <a:lstStyle>
            <a:lvl1pPr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sp>
        <p:nvSpPr>
          <p:cNvPr id="11" name="Picture Placeholder 4"/>
          <p:cNvSpPr>
            <a:spLocks noGrp="1"/>
          </p:cNvSpPr>
          <p:nvPr>
            <p:ph type="pic" sz="quarter" idx="16" hasCustomPrompt="1"/>
          </p:nvPr>
        </p:nvSpPr>
        <p:spPr>
          <a:xfrm>
            <a:off x="9346896" y="853030"/>
            <a:ext cx="6910691" cy="6682303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on this icon to insert a photo.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7" hasCustomPrompt="1"/>
          </p:nvPr>
        </p:nvSpPr>
        <p:spPr>
          <a:xfrm>
            <a:off x="9346896" y="5489054"/>
            <a:ext cx="5029037" cy="778226"/>
          </a:xfrm>
          <a:solidFill>
            <a:srgbClr val="43B02A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 baseline="0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pic>
        <p:nvPicPr>
          <p:cNvPr id="15" name="Picture 1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6" name="Picture 15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7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33475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-Aligned Image with Text +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7992382" y="2404534"/>
            <a:ext cx="7484181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992381" y="768365"/>
            <a:ext cx="7484182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A slide with a left-aligned image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7992381" y="6267279"/>
            <a:ext cx="4978238" cy="1268053"/>
          </a:xfrm>
        </p:spPr>
        <p:txBody>
          <a:bodyPr anchor="b"/>
          <a:lstStyle>
            <a:lvl1pPr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sp>
        <p:nvSpPr>
          <p:cNvPr id="14" name="Picture Placeholder 4"/>
          <p:cNvSpPr>
            <a:spLocks noGrp="1"/>
          </p:cNvSpPr>
          <p:nvPr>
            <p:ph type="pic" sz="quarter" idx="16" hasCustomPrompt="1"/>
          </p:nvPr>
        </p:nvSpPr>
        <p:spPr>
          <a:xfrm>
            <a:off x="0" y="853030"/>
            <a:ext cx="6910691" cy="6682303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on this icon to insert a photo.</a:t>
            </a:r>
          </a:p>
        </p:txBody>
      </p:sp>
      <p:sp>
        <p:nvSpPr>
          <p:cNvPr id="15" name="Text Placeholder 8"/>
          <p:cNvSpPr>
            <a:spLocks noGrp="1"/>
          </p:cNvSpPr>
          <p:nvPr>
            <p:ph type="body" sz="quarter" idx="17" hasCustomPrompt="1"/>
          </p:nvPr>
        </p:nvSpPr>
        <p:spPr>
          <a:xfrm>
            <a:off x="0" y="5489054"/>
            <a:ext cx="5029037" cy="778226"/>
          </a:xfrm>
          <a:solidFill>
            <a:srgbClr val="43B02A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 baseline="0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pic>
        <p:nvPicPr>
          <p:cNvPr id="16" name="Picture 15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7" name="Picture 16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8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854599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Frame 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186" y="0"/>
            <a:ext cx="16256402" cy="9144000"/>
          </a:xfrm>
        </p:spPr>
        <p:txBody>
          <a:bodyPr/>
          <a:lstStyle>
            <a:lvl1pPr marL="0" indent="0">
              <a:buNone/>
              <a:defRPr sz="4000" baseline="0"/>
            </a:lvl1pPr>
            <a:lvl2pPr marL="781583" indent="0">
              <a:buNone/>
              <a:defRPr sz="4800"/>
            </a:lvl2pPr>
            <a:lvl3pPr marL="1563167" indent="0">
              <a:buNone/>
              <a:defRPr sz="4100"/>
            </a:lvl3pPr>
            <a:lvl4pPr marL="2344750" indent="0">
              <a:buNone/>
              <a:defRPr sz="3400"/>
            </a:lvl4pPr>
            <a:lvl5pPr marL="3126334" indent="0">
              <a:buNone/>
              <a:defRPr sz="3400"/>
            </a:lvl5pPr>
            <a:lvl6pPr marL="3907917" indent="0">
              <a:buNone/>
              <a:defRPr sz="3400"/>
            </a:lvl6pPr>
            <a:lvl7pPr marL="4689500" indent="0">
              <a:buNone/>
              <a:defRPr sz="3400"/>
            </a:lvl7pPr>
            <a:lvl8pPr marL="5471084" indent="0">
              <a:buNone/>
              <a:defRPr sz="3400"/>
            </a:lvl8pPr>
            <a:lvl9pPr marL="6252667" indent="0">
              <a:buNone/>
              <a:defRPr sz="3400"/>
            </a:lvl9pPr>
          </a:lstStyle>
          <a:p>
            <a:r>
              <a:rPr lang="en-US" dirty="0"/>
              <a:t>Click on this icon to insert a photo.</a:t>
            </a:r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1" y="6313857"/>
            <a:ext cx="7958408" cy="759384"/>
          </a:xfrm>
          <a:solidFill>
            <a:srgbClr val="43B02A"/>
          </a:solidFill>
          <a:ln>
            <a:noFill/>
          </a:ln>
        </p:spPr>
        <p:txBody>
          <a:bodyPr wrap="square" lIns="252000" tIns="180000" rIns="252000" bIns="252000" anchor="ctr">
            <a:spAutoFit/>
          </a:bodyPr>
          <a:lstStyle>
            <a:lvl1pPr>
              <a:lnSpc>
                <a:spcPct val="100000"/>
              </a:lnSpc>
              <a:defRPr sz="2100" b="1" baseline="0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758531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hoto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woosh-85.eps"/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63845"/>
            <a:ext cx="16257588" cy="1739093"/>
          </a:xfrm>
          <a:prstGeom prst="rect">
            <a:avLst/>
          </a:prstGeom>
        </p:spPr>
      </p:pic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8332918" y="829734"/>
            <a:ext cx="7111897" cy="6696000"/>
          </a:xfrm>
        </p:spPr>
        <p:txBody>
          <a:bodyPr/>
          <a:lstStyle/>
          <a:p>
            <a:r>
              <a:rPr lang="en-US" dirty="0"/>
              <a:t>Click on this icon to insert a photo.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829707" y="829734"/>
            <a:ext cx="7145633" cy="6696000"/>
          </a:xfrm>
        </p:spPr>
        <p:txBody>
          <a:bodyPr/>
          <a:lstStyle/>
          <a:p>
            <a:r>
              <a:rPr lang="en-US" dirty="0"/>
              <a:t>Click on this icon to insert a photo.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829707" y="5498998"/>
            <a:ext cx="4673447" cy="778226"/>
          </a:xfrm>
          <a:solidFill>
            <a:srgbClr val="43B02A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8" hasCustomPrompt="1"/>
          </p:nvPr>
        </p:nvSpPr>
        <p:spPr>
          <a:xfrm>
            <a:off x="8332919" y="5498998"/>
            <a:ext cx="4654526" cy="778226"/>
          </a:xfrm>
          <a:solidFill>
            <a:srgbClr val="43B02A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pic>
        <p:nvPicPr>
          <p:cNvPr id="16" name="Picture 15" descr="green-bar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7" name="Picture 16" descr="ac-icon.eps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8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72627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Descri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swoosh-85.eps"/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94193"/>
            <a:ext cx="16257588" cy="1739093"/>
          </a:xfrm>
          <a:prstGeom prst="rect">
            <a:avLst/>
          </a:prstGeom>
        </p:spPr>
      </p:pic>
      <p:sp>
        <p:nvSpPr>
          <p:cNvPr id="12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829707" y="829734"/>
            <a:ext cx="11598955" cy="66960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on this icon to insert a photo.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829707" y="5498998"/>
            <a:ext cx="4673447" cy="778226"/>
          </a:xfrm>
          <a:solidFill>
            <a:srgbClr val="43B02A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sp>
        <p:nvSpPr>
          <p:cNvPr id="14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9" name="Picture 18" descr="green-bar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20" name="Picture 19" descr="ac-icon.eps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21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2200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ic + Title and Descri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woosh-85.eps"/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94193"/>
            <a:ext cx="16257588" cy="1739093"/>
          </a:xfrm>
          <a:prstGeom prst="rect">
            <a:avLst/>
          </a:prstGeom>
        </p:spPr>
      </p:pic>
      <p:sp>
        <p:nvSpPr>
          <p:cNvPr id="13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829708" y="2404534"/>
            <a:ext cx="9459088" cy="5121200"/>
          </a:xfrm>
        </p:spPr>
        <p:txBody>
          <a:bodyPr/>
          <a:lstStyle/>
          <a:p>
            <a:r>
              <a:rPr lang="en-US" dirty="0"/>
              <a:t>Click on this icon to insert a graphic.</a:t>
            </a:r>
          </a:p>
        </p:txBody>
      </p:sp>
      <p:sp>
        <p:nvSpPr>
          <p:cNvPr id="20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graphic slide with a title and optional annotation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24" name="Picture 23" descr="green-bar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25" name="Picture 24" descr="ac-icon.eps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26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6130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r Ch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8" name="Picture 7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3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chart or table slide with optional annotation</a:t>
            </a:r>
            <a:endParaRPr lang="en-US" dirty="0"/>
          </a:p>
        </p:txBody>
      </p:sp>
      <p:sp>
        <p:nvSpPr>
          <p:cNvPr id="17" name="Table Placeholder 3"/>
          <p:cNvSpPr>
            <a:spLocks noGrp="1"/>
          </p:cNvSpPr>
          <p:nvPr>
            <p:ph type="tbl" sz="quarter" idx="20" hasCustomPrompt="1"/>
          </p:nvPr>
        </p:nvSpPr>
        <p:spPr>
          <a:xfrm>
            <a:off x="812800" y="2405063"/>
            <a:ext cx="9475788" cy="5121275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on the icon to insert a table or chart.</a:t>
            </a:r>
          </a:p>
        </p:txBody>
      </p:sp>
      <p:sp>
        <p:nvSpPr>
          <p:cNvPr id="18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80234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tro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48421" y="3117806"/>
            <a:ext cx="10360746" cy="2612172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800" baseline="0">
                <a:solidFill>
                  <a:schemeClr val="accent5"/>
                </a:solidFill>
              </a:defRPr>
            </a:lvl1pPr>
            <a:lvl2pPr marL="7815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5631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3447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1263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9079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689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471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2526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CA" dirty="0"/>
              <a:t>Questions? Put your contact prompt message and your email here.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320943" y="2082794"/>
            <a:ext cx="9615704" cy="1018079"/>
          </a:xfrm>
        </p:spPr>
        <p:txBody>
          <a:bodyPr anchor="b"/>
          <a:lstStyle>
            <a:lvl1pPr algn="ctr">
              <a:defRPr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Thank you message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3320941" y="6017839"/>
            <a:ext cx="9615706" cy="462413"/>
          </a:xfrm>
        </p:spPr>
        <p:txBody>
          <a:bodyPr anchor="t"/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pPr lvl="0"/>
            <a:r>
              <a:rPr lang="en-CA" dirty="0" err="1"/>
              <a:t>www.algonquincollege.com</a:t>
            </a:r>
            <a:r>
              <a:rPr lang="en-CA" dirty="0"/>
              <a:t>/</a:t>
            </a:r>
            <a:r>
              <a:rPr lang="en-CA" dirty="0" err="1"/>
              <a:t>relevantURL</a:t>
            </a:r>
            <a:endParaRPr lang="en-US" dirty="0"/>
          </a:p>
        </p:txBody>
      </p:sp>
      <p:pic>
        <p:nvPicPr>
          <p:cNvPr id="13" name="Picture 12" descr="ac-icon-green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7683" y="828547"/>
            <a:ext cx="635142" cy="467999"/>
          </a:xfrm>
          <a:prstGeom prst="rect">
            <a:avLst/>
          </a:prstGeom>
        </p:spPr>
      </p:pic>
      <p:pic>
        <p:nvPicPr>
          <p:cNvPr id="14" name="Picture 13" descr="curtain-100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65826"/>
            <a:ext cx="16257588" cy="1778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50834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836049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8F2E0-079B-4233-9F86-ABAE7A5FB3F9}" type="datetimeFigureOut">
              <a:rPr lang="en-CA" smtClean="0"/>
              <a:t>2025-11-19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B4DF2-C165-41A7-A83A-20ADB0BB1B22}" type="slidenum">
              <a:rPr lang="en-CA" smtClean="0"/>
              <a:t>‹#›</a:t>
            </a:fld>
            <a:endParaRPr lang="en-CA"/>
          </a:p>
        </p:txBody>
      </p:sp>
      <p:sp>
        <p:nvSpPr>
          <p:cNvPr id="7" name="hrSlideMaster.Title and ContentHeader" descr="UNCLASSIFIED"/>
          <p:cNvSpPr txBox="1"/>
          <p:nvPr userDrawn="1"/>
        </p:nvSpPr>
        <p:spPr>
          <a:xfrm>
            <a:off x="0" y="0"/>
            <a:ext cx="16257588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CA" sz="1600" b="0" i="0" u="none" baseline="0">
                <a:solidFill>
                  <a:srgbClr val="000000"/>
                </a:solidFill>
                <a:latin typeface="Arial" panose="020B0604020202020204" pitchFamily="34" charset="0"/>
              </a:rPr>
              <a:t>UNCLASSIFIED</a:t>
            </a:r>
          </a:p>
        </p:txBody>
      </p:sp>
    </p:spTree>
    <p:extLst>
      <p:ext uri="{BB962C8B-B14F-4D97-AF65-F5344CB8AC3E}">
        <p14:creationId xmlns:p14="http://schemas.microsoft.com/office/powerpoint/2010/main" val="31108678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80" y="666518"/>
            <a:ext cx="14631829" cy="146708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CA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80" y="2133600"/>
            <a:ext cx="14631829" cy="520453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CA" dirty="0"/>
              <a:t>Click to edit Master text styles</a:t>
            </a:r>
          </a:p>
          <a:p>
            <a:pPr lvl="1"/>
            <a:r>
              <a:rPr lang="en-CA" dirty="0"/>
              <a:t>First level</a:t>
            </a:r>
          </a:p>
          <a:p>
            <a:pPr lvl="2"/>
            <a:r>
              <a:rPr lang="en-CA" dirty="0"/>
              <a:t>Second level</a:t>
            </a:r>
          </a:p>
          <a:p>
            <a:pPr lvl="0"/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80" y="8475135"/>
            <a:ext cx="1180185" cy="4868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21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424084-422A-4246-8522-ECCBA4948A8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7881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79" r:id="rId3"/>
    <p:sldLayoutId id="2147483686" r:id="rId4"/>
    <p:sldLayoutId id="2147483650" r:id="rId5"/>
    <p:sldLayoutId id="2147483693" r:id="rId6"/>
    <p:sldLayoutId id="2147483685" r:id="rId7"/>
    <p:sldLayoutId id="2147483687" r:id="rId8"/>
    <p:sldLayoutId id="2147483688" r:id="rId9"/>
    <p:sldLayoutId id="2147483689" r:id="rId10"/>
    <p:sldLayoutId id="2147483690" r:id="rId11"/>
    <p:sldLayoutId id="2147483691" r:id="rId12"/>
    <p:sldLayoutId id="2147483692" r:id="rId13"/>
    <p:sldLayoutId id="2147483694" r:id="rId14"/>
    <p:sldLayoutId id="2147483695" r:id="rId15"/>
    <p:sldLayoutId id="2147483696" r:id="rId16"/>
    <p:sldLayoutId id="2147483697" r:id="rId17"/>
    <p:sldLayoutId id="2147483677" r:id="rId18"/>
    <p:sldLayoutId id="2147483698" r:id="rId19"/>
    <p:sldLayoutId id="2147483699" r:id="rId20"/>
    <p:sldLayoutId id="2147483682" r:id="rId21"/>
    <p:sldLayoutId id="2147483654" r:id="rId22"/>
    <p:sldLayoutId id="2147483662" r:id="rId23"/>
    <p:sldLayoutId id="2147483683" r:id="rId24"/>
    <p:sldLayoutId id="2147483684" r:id="rId25"/>
    <p:sldLayoutId id="2147483664" r:id="rId26"/>
    <p:sldLayoutId id="2147483700" r:id="rId27"/>
    <p:sldLayoutId id="2147483701" r:id="rId28"/>
    <p:sldLayoutId id="2147483657" r:id="rId29"/>
    <p:sldLayoutId id="2147483674" r:id="rId30"/>
    <p:sldLayoutId id="2147483675" r:id="rId31"/>
    <p:sldLayoutId id="2147483681" r:id="rId32"/>
    <p:sldLayoutId id="2147483667" r:id="rId33"/>
    <p:sldLayoutId id="2147483680" r:id="rId34"/>
    <p:sldLayoutId id="2147483702" r:id="rId35"/>
    <p:sldLayoutId id="2147483703" r:id="rId36"/>
  </p:sldLayoutIdLst>
  <p:hf hdr="0" ftr="0" dt="0"/>
  <p:txStyles>
    <p:titleStyle>
      <a:lvl1pPr algn="l" defTabSz="781583" rtl="0" eaLnBrk="1" latinLnBrk="0" hangingPunct="1">
        <a:lnSpc>
          <a:spcPct val="80000"/>
        </a:lnSpc>
        <a:spcBef>
          <a:spcPct val="0"/>
        </a:spcBef>
        <a:buNone/>
        <a:defRPr sz="7200" kern="1200">
          <a:solidFill>
            <a:schemeClr val="accent5"/>
          </a:solidFill>
          <a:latin typeface="+mj-lt"/>
          <a:ea typeface="+mj-ea"/>
          <a:cs typeface="+mj-cs"/>
        </a:defRPr>
      </a:lvl1pPr>
    </p:titleStyle>
    <p:bodyStyle>
      <a:lvl1pPr marL="0" indent="0" algn="l" defTabSz="781583" rtl="0" eaLnBrk="1" latinLnBrk="0" hangingPunct="1">
        <a:lnSpc>
          <a:spcPct val="110000"/>
        </a:lnSpc>
        <a:spcBef>
          <a:spcPct val="20000"/>
        </a:spcBef>
        <a:buClr>
          <a:schemeClr val="accent2"/>
        </a:buClr>
        <a:buFontTx/>
        <a:buNone/>
        <a:defRPr sz="3200" kern="1200">
          <a:solidFill>
            <a:schemeClr val="accent5"/>
          </a:solidFill>
          <a:latin typeface="+mn-lt"/>
          <a:ea typeface="+mn-ea"/>
          <a:cs typeface="+mn-cs"/>
        </a:defRPr>
      </a:lvl1pPr>
      <a:lvl2pPr marL="1270073" indent="-488490" algn="l" defTabSz="781583" rtl="0" eaLnBrk="1" latinLnBrk="0" hangingPunct="1">
        <a:lnSpc>
          <a:spcPct val="110000"/>
        </a:lnSpc>
        <a:spcBef>
          <a:spcPct val="20000"/>
        </a:spcBef>
        <a:buClr>
          <a:schemeClr val="accent2"/>
        </a:buClr>
        <a:buSzPct val="75000"/>
        <a:buFont typeface="Arial"/>
        <a:buChar char="•"/>
        <a:defRPr sz="3200" kern="1200">
          <a:solidFill>
            <a:schemeClr val="accent5"/>
          </a:solidFill>
          <a:latin typeface="+mn-lt"/>
          <a:ea typeface="+mn-ea"/>
          <a:cs typeface="+mn-cs"/>
        </a:defRPr>
      </a:lvl2pPr>
      <a:lvl3pPr marL="2020367" indent="-457200" algn="l" defTabSz="781583" rtl="0" eaLnBrk="1" latinLnBrk="0" hangingPunct="1">
        <a:lnSpc>
          <a:spcPct val="110000"/>
        </a:lnSpc>
        <a:spcBef>
          <a:spcPct val="20000"/>
        </a:spcBef>
        <a:buClr>
          <a:schemeClr val="accent2"/>
        </a:buClr>
        <a:buSzPct val="60000"/>
        <a:buFont typeface="Wingdings" charset="2"/>
        <a:buChar char="§"/>
        <a:defRPr sz="3200" kern="1200" baseline="0">
          <a:solidFill>
            <a:schemeClr val="accent5"/>
          </a:solidFill>
          <a:latin typeface="+mn-lt"/>
          <a:ea typeface="+mn-ea"/>
          <a:cs typeface="+mn-cs"/>
        </a:defRPr>
      </a:lvl3pPr>
      <a:lvl4pPr marL="2735542" indent="-390792" algn="l" defTabSz="781583" rtl="0" eaLnBrk="1" latinLnBrk="0" hangingPunct="1">
        <a:lnSpc>
          <a:spcPct val="120000"/>
        </a:lnSpc>
        <a:spcBef>
          <a:spcPct val="20000"/>
        </a:spcBef>
        <a:buClr>
          <a:schemeClr val="accent2"/>
        </a:buClr>
        <a:buSzPct val="90000"/>
        <a:buFont typeface="Arial"/>
        <a:buChar char="–"/>
        <a:defRPr sz="2100" kern="1200">
          <a:solidFill>
            <a:schemeClr val="accent4"/>
          </a:solidFill>
          <a:latin typeface="+mn-lt"/>
          <a:ea typeface="+mn-ea"/>
          <a:cs typeface="+mn-cs"/>
        </a:defRPr>
      </a:lvl4pPr>
      <a:lvl5pPr marL="3517125" indent="-390792" algn="l" defTabSz="781583" rtl="0" eaLnBrk="1" latinLnBrk="0" hangingPunct="1">
        <a:spcBef>
          <a:spcPct val="20000"/>
        </a:spcBef>
        <a:buFont typeface="Arial"/>
        <a:buChar char="»"/>
        <a:defRPr sz="3400" kern="1200">
          <a:solidFill>
            <a:schemeClr val="accent5"/>
          </a:solidFill>
          <a:latin typeface="+mn-lt"/>
          <a:ea typeface="+mn-ea"/>
          <a:cs typeface="+mn-cs"/>
        </a:defRPr>
      </a:lvl5pPr>
      <a:lvl6pPr marL="4298709" indent="-390792" algn="l" defTabSz="781583" rtl="0" eaLnBrk="1" latinLnBrk="0" hangingPunct="1">
        <a:spcBef>
          <a:spcPct val="20000"/>
        </a:spcBef>
        <a:buFont typeface="Arial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6pPr>
      <a:lvl7pPr marL="5080292" indent="-390792" algn="l" defTabSz="781583" rtl="0" eaLnBrk="1" latinLnBrk="0" hangingPunct="1">
        <a:spcBef>
          <a:spcPct val="20000"/>
        </a:spcBef>
        <a:buFont typeface="Arial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7pPr>
      <a:lvl8pPr marL="5861876" indent="-390792" algn="l" defTabSz="781583" rtl="0" eaLnBrk="1" latinLnBrk="0" hangingPunct="1">
        <a:spcBef>
          <a:spcPct val="20000"/>
        </a:spcBef>
        <a:buFont typeface="Arial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8pPr>
      <a:lvl9pPr marL="6643459" indent="-390792" algn="l" defTabSz="781583" rtl="0" eaLnBrk="1" latinLnBrk="0" hangingPunct="1">
        <a:spcBef>
          <a:spcPct val="20000"/>
        </a:spcBef>
        <a:buFont typeface="Arial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1pPr>
      <a:lvl2pPr marL="781583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2pPr>
      <a:lvl3pPr marL="1563167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3pPr>
      <a:lvl4pPr marL="2344750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4pPr>
      <a:lvl5pPr marL="3126334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5pPr>
      <a:lvl6pPr marL="3907917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6pPr>
      <a:lvl7pPr marL="4689500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7pPr>
      <a:lvl8pPr marL="5471084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8pPr>
      <a:lvl9pPr marL="6252667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6.xml"/><Relationship Id="rId6" Type="http://schemas.openxmlformats.org/officeDocument/2006/relationships/image" Target="../media/image23.jpeg"/><Relationship Id="rId11" Type="http://schemas.openxmlformats.org/officeDocument/2006/relationships/image" Target="../media/image27.png"/><Relationship Id="rId5" Type="http://schemas.openxmlformats.org/officeDocument/2006/relationships/image" Target="../media/image22.png"/><Relationship Id="rId10" Type="http://schemas.openxmlformats.org/officeDocument/2006/relationships/image" Target="../media/image26.png"/><Relationship Id="rId4" Type="http://schemas.openxmlformats.org/officeDocument/2006/relationships/image" Target="../media/image21.png"/><Relationship Id="rId9" Type="http://schemas.openxmlformats.org/officeDocument/2006/relationships/image" Target="../media/image25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36.xml"/><Relationship Id="rId4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tif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playground.tensorflow.org/#activation=tanh&amp;batchSize=10&amp;dataset=circle&amp;regDataset=reg-plane&amp;learningRate=0.03&amp;regularizationRate=0&amp;noise=0&amp;networkShape=4,2&amp;seed=0.94179&amp;showTestData=false&amp;discretize=false&amp;percTrainData=50&amp;x=true&amp;y=true&amp;xTimesY=false&amp;xSquared=false&amp;ySquared=false&amp;cosX=false&amp;sinX=false&amp;cosY=false&amp;sinY=false&amp;collectStats=false&amp;problem=classification&amp;initZero=false&amp;hideText=false" TargetMode="External"/><Relationship Id="rId1" Type="http://schemas.openxmlformats.org/officeDocument/2006/relationships/slideLayout" Target="../slideLayouts/slideLayout3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2881" y="2557219"/>
            <a:ext cx="13786521" cy="1348353"/>
          </a:xfrm>
        </p:spPr>
        <p:txBody>
          <a:bodyPr>
            <a:normAutofit/>
          </a:bodyPr>
          <a:lstStyle/>
          <a:p>
            <a:r>
              <a:rPr lang="en-US" dirty="0">
                <a:latin typeface="Avenir Roman" panose="02000503020000020003" pitchFamily="2" charset="0"/>
                <a:cs typeface="Calibri" panose="020F0502020204030204" pitchFamily="34" charset="0"/>
              </a:rPr>
              <a:t>Welcome to Week 12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9733" y="4264281"/>
            <a:ext cx="13118496" cy="1338233"/>
          </a:xfrm>
        </p:spPr>
        <p:txBody>
          <a:bodyPr/>
          <a:lstStyle/>
          <a:p>
            <a:r>
              <a:rPr lang="en-IN" sz="4000" dirty="0">
                <a:latin typeface="Avenir Book" panose="02000503020000020003" pitchFamily="2" charset="0"/>
              </a:rPr>
              <a:t>Neural Networks</a:t>
            </a:r>
            <a:endParaRPr lang="en-US" sz="4000" dirty="0">
              <a:latin typeface="Avenir Book" panose="02000503020000020003" pitchFamily="2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8454ED-2A11-A5C3-CDBD-69301AC8AAA8}"/>
              </a:ext>
            </a:extLst>
          </p:cNvPr>
          <p:cNvSpPr txBox="1"/>
          <p:nvPr/>
        </p:nvSpPr>
        <p:spPr>
          <a:xfrm>
            <a:off x="978694" y="7565738"/>
            <a:ext cx="81295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>
                <a:solidFill>
                  <a:schemeClr val="accent3"/>
                </a:solidFill>
                <a:latin typeface="Avenir Book" panose="02000503020000020003" pitchFamily="2" charset="0"/>
              </a:rPr>
              <a:t>Dr. Umer Altaf</a:t>
            </a:r>
            <a:endParaRPr lang="en-CA" sz="3600" dirty="0">
              <a:solidFill>
                <a:schemeClr val="accent3"/>
              </a:solidFill>
              <a:latin typeface="Avenir Book" panose="020005030200000200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58137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/>
          <a:p>
            <a:fld id="{DEF3F5F5-7776-394F-A41F-3BAFC9CC9F8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656FA17-EF9D-944B-82F6-AC79608D5420}"/>
              </a:ext>
            </a:extLst>
          </p:cNvPr>
          <p:cNvSpPr/>
          <p:nvPr/>
        </p:nvSpPr>
        <p:spPr>
          <a:xfrm>
            <a:off x="491064" y="182029"/>
            <a:ext cx="360348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4000" dirty="0">
                <a:solidFill>
                  <a:srgbClr val="00673E"/>
                </a:solidFill>
                <a:latin typeface="Avenir Medium" panose="02000503020000020003" pitchFamily="2" charset="0"/>
                <a:ea typeface="+mj-ea"/>
                <a:cs typeface="+mj-cs"/>
              </a:rPr>
              <a:t>Neural Network</a:t>
            </a:r>
            <a:endParaRPr lang="en-US" sz="4000" dirty="0">
              <a:solidFill>
                <a:srgbClr val="00673E"/>
              </a:solidFill>
              <a:latin typeface="Avenir Medium" panose="02000503020000020003" pitchFamily="2" charset="0"/>
              <a:ea typeface="+mj-ea"/>
              <a:cs typeface="+mj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C1F90CF-1A92-D4B8-34DD-7DED85D697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2808" y="361733"/>
            <a:ext cx="8304445" cy="547300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BD953CC-667F-228E-496D-570896733192}"/>
              </a:ext>
            </a:extLst>
          </p:cNvPr>
          <p:cNvSpPr/>
          <p:nvPr/>
        </p:nvSpPr>
        <p:spPr>
          <a:xfrm>
            <a:off x="469882" y="6293480"/>
            <a:ext cx="13517113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3300" dirty="0">
                <a:solidFill>
                  <a:schemeClr val="tx1">
                    <a:lumMod val="50000"/>
                  </a:schemeClr>
                </a:solidFill>
                <a:latin typeface="Avenir Book" panose="02000503020000020003" pitchFamily="2" charset="0"/>
              </a:rPr>
              <a:t>What is the Error here?</a:t>
            </a:r>
          </a:p>
          <a:p>
            <a:endParaRPr lang="en-IN" sz="3300" dirty="0">
              <a:solidFill>
                <a:schemeClr val="tx1">
                  <a:lumMod val="50000"/>
                </a:schemeClr>
              </a:solidFill>
              <a:latin typeface="Avenir Book" panose="020005030200000200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6115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646DC-B2E2-0D0B-DC1B-B4A3D34A1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5FD44F-61A6-A835-1FD0-382527109DC8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/>
          <a:p>
            <a:fld id="{DEF3F5F5-7776-394F-A41F-3BAFC9CC9F8E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2DA2CF7-ECEE-6788-FF53-638ABF89EB3C}"/>
              </a:ext>
            </a:extLst>
          </p:cNvPr>
          <p:cNvSpPr/>
          <p:nvPr/>
        </p:nvSpPr>
        <p:spPr>
          <a:xfrm>
            <a:off x="852030" y="446155"/>
            <a:ext cx="360348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4000" dirty="0">
                <a:solidFill>
                  <a:srgbClr val="00673E"/>
                </a:solidFill>
                <a:latin typeface="Avenir Medium" panose="02000503020000020003" pitchFamily="2" charset="0"/>
                <a:ea typeface="+mj-ea"/>
                <a:cs typeface="+mj-cs"/>
              </a:rPr>
              <a:t>Neural Network</a:t>
            </a:r>
            <a:endParaRPr lang="en-US" sz="4000" dirty="0">
              <a:solidFill>
                <a:srgbClr val="00673E"/>
              </a:solidFill>
              <a:latin typeface="Avenir Medium" panose="02000503020000020003" pitchFamily="2" charset="0"/>
              <a:ea typeface="+mj-ea"/>
              <a:cs typeface="+mj-cs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F8A18A6-C457-68A3-F8C5-ABFAC4ECED34}"/>
              </a:ext>
            </a:extLst>
          </p:cNvPr>
          <p:cNvSpPr txBox="1"/>
          <p:nvPr/>
        </p:nvSpPr>
        <p:spPr>
          <a:xfrm>
            <a:off x="1495155" y="3204569"/>
            <a:ext cx="35695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dirty="0">
                <a:latin typeface="Avenir Book" panose="02000503020000020003" pitchFamily="2" charset="0"/>
              </a:rPr>
              <a:t>Linear Regression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D68A7B2-B6FA-4ABA-BCDA-29624BBC5593}"/>
              </a:ext>
            </a:extLst>
          </p:cNvPr>
          <p:cNvGrpSpPr/>
          <p:nvPr/>
        </p:nvGrpSpPr>
        <p:grpSpPr>
          <a:xfrm>
            <a:off x="5638653" y="1903912"/>
            <a:ext cx="5320930" cy="1896111"/>
            <a:chOff x="6300052" y="1893233"/>
            <a:chExt cx="5320930" cy="1896111"/>
          </a:xfrm>
        </p:grpSpPr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DF16D899-4038-6954-59A9-4BE2473931E5}"/>
                </a:ext>
              </a:extLst>
            </p:cNvPr>
            <p:cNvSpPr txBox="1"/>
            <p:nvPr/>
          </p:nvSpPr>
          <p:spPr>
            <a:xfrm>
              <a:off x="6300052" y="3266124"/>
              <a:ext cx="356951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2800" dirty="0">
                  <a:latin typeface="Avenir Book" panose="02000503020000020003" pitchFamily="2" charset="0"/>
                </a:rPr>
                <a:t>Y = </a:t>
              </a:r>
              <a:r>
                <a:rPr lang="el-GR" sz="2800" dirty="0">
                  <a:solidFill>
                    <a:srgbClr val="C00000"/>
                  </a:solidFill>
                </a:rPr>
                <a:t>β</a:t>
              </a:r>
              <a:r>
                <a:rPr lang="en-CA" sz="2800" baseline="-25000" dirty="0">
                  <a:solidFill>
                    <a:srgbClr val="C00000"/>
                  </a:solidFill>
                  <a:latin typeface="Avenir Book" panose="02000503020000020003" pitchFamily="2" charset="0"/>
                </a:rPr>
                <a:t>1</a:t>
              </a:r>
              <a:r>
                <a:rPr lang="en-CA" sz="2800" dirty="0">
                  <a:latin typeface="Avenir Book" panose="02000503020000020003" pitchFamily="2" charset="0"/>
                </a:rPr>
                <a:t>X</a:t>
              </a:r>
              <a:r>
                <a:rPr lang="en-CA" sz="2800" baseline="-25000" dirty="0">
                  <a:latin typeface="Avenir Book" panose="02000503020000020003" pitchFamily="2" charset="0"/>
                </a:rPr>
                <a:t>1</a:t>
              </a:r>
              <a:r>
                <a:rPr lang="en-CA" sz="2800" dirty="0">
                  <a:latin typeface="Avenir Book" panose="02000503020000020003" pitchFamily="2" charset="0"/>
                </a:rPr>
                <a:t> + </a:t>
              </a:r>
              <a:r>
                <a:rPr lang="el-GR" sz="2800" dirty="0">
                  <a:solidFill>
                    <a:srgbClr val="C00000"/>
                  </a:solidFill>
                </a:rPr>
                <a:t>β</a:t>
              </a:r>
              <a:r>
                <a:rPr lang="en-CA" sz="2800" baseline="-25000" dirty="0">
                  <a:solidFill>
                    <a:srgbClr val="C00000"/>
                  </a:solidFill>
                  <a:latin typeface="Avenir Book" panose="02000503020000020003" pitchFamily="2" charset="0"/>
                </a:rPr>
                <a:t>2</a:t>
              </a:r>
              <a:r>
                <a:rPr lang="en-CA" sz="2800" dirty="0">
                  <a:latin typeface="Avenir Book" panose="02000503020000020003" pitchFamily="2" charset="0"/>
                </a:rPr>
                <a:t>X</a:t>
              </a:r>
              <a:r>
                <a:rPr lang="en-CA" sz="2800" baseline="-25000" dirty="0">
                  <a:latin typeface="Avenir Book" panose="02000503020000020003" pitchFamily="2" charset="0"/>
                </a:rPr>
                <a:t>2</a:t>
              </a:r>
              <a:r>
                <a:rPr lang="en-CA" sz="2800" dirty="0">
                  <a:latin typeface="Avenir Book" panose="02000503020000020003" pitchFamily="2" charset="0"/>
                </a:rPr>
                <a:t> + </a:t>
              </a:r>
              <a:r>
                <a:rPr lang="el-GR" sz="2800" dirty="0">
                  <a:solidFill>
                    <a:srgbClr val="C00000"/>
                  </a:solidFill>
                </a:rPr>
                <a:t>β</a:t>
              </a:r>
              <a:r>
                <a:rPr lang="en-CA" sz="2800" baseline="-25000" dirty="0">
                  <a:solidFill>
                    <a:srgbClr val="C00000"/>
                  </a:solidFill>
                  <a:latin typeface="Avenir Book" panose="02000503020000020003" pitchFamily="2" charset="0"/>
                </a:rPr>
                <a:t>0</a:t>
              </a:r>
              <a:endParaRPr lang="en-CA" sz="2800" dirty="0">
                <a:latin typeface="Avenir Book" panose="02000503020000020003" pitchFamily="2" charset="0"/>
              </a:endParaRP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8645824B-B143-0967-45D5-E19FFC45E665}"/>
                </a:ext>
              </a:extLst>
            </p:cNvPr>
            <p:cNvGrpSpPr/>
            <p:nvPr/>
          </p:nvGrpSpPr>
          <p:grpSpPr>
            <a:xfrm>
              <a:off x="7148945" y="2294175"/>
              <a:ext cx="1306286" cy="971949"/>
              <a:chOff x="7148945" y="1747910"/>
              <a:chExt cx="1306286" cy="971949"/>
            </a:xfrm>
          </p:grpSpPr>
          <p:cxnSp>
            <p:nvCxnSpPr>
              <p:cNvPr id="4" name="Straight Arrow Connector 3">
                <a:extLst>
                  <a:ext uri="{FF2B5EF4-FFF2-40B4-BE49-F238E27FC236}">
                    <a16:creationId xmlns:a16="http://schemas.microsoft.com/office/drawing/2014/main" id="{9F7837A5-B584-6610-5B58-B3C85E4950CA}"/>
                  </a:ext>
                </a:extLst>
              </p:cNvPr>
              <p:cNvCxnSpPr/>
              <p:nvPr/>
            </p:nvCxnSpPr>
            <p:spPr>
              <a:xfrm flipV="1">
                <a:off x="7148945" y="1747910"/>
                <a:ext cx="1306286" cy="97194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Arrow Connector 60">
                <a:extLst>
                  <a:ext uri="{FF2B5EF4-FFF2-40B4-BE49-F238E27FC236}">
                    <a16:creationId xmlns:a16="http://schemas.microsoft.com/office/drawing/2014/main" id="{48E7B8F0-3714-A479-6C80-9FAC4BACB7B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288977" y="1770877"/>
                <a:ext cx="166254" cy="94898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2" name="Straight Arrow Connector 61">
              <a:extLst>
                <a:ext uri="{FF2B5EF4-FFF2-40B4-BE49-F238E27FC236}">
                  <a16:creationId xmlns:a16="http://schemas.microsoft.com/office/drawing/2014/main" id="{F605CD33-C471-5527-2786-6F7614A2C66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89156" y="3529057"/>
              <a:ext cx="642376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1F078A85-BBCD-3DF3-710C-8F69F0709409}"/>
                </a:ext>
              </a:extLst>
            </p:cNvPr>
            <p:cNvSpPr txBox="1"/>
            <p:nvPr/>
          </p:nvSpPr>
          <p:spPr>
            <a:xfrm>
              <a:off x="7904397" y="1893233"/>
              <a:ext cx="139972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2000" dirty="0">
                  <a:latin typeface="Avenir Book" panose="02000503020000020003" pitchFamily="2" charset="0"/>
                </a:rPr>
                <a:t>Coefficients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D50A5CF0-974E-0C68-3F59-0DFE0524E950}"/>
                </a:ext>
              </a:extLst>
            </p:cNvPr>
            <p:cNvSpPr txBox="1"/>
            <p:nvPr/>
          </p:nvSpPr>
          <p:spPr>
            <a:xfrm>
              <a:off x="10380826" y="3327679"/>
              <a:ext cx="124015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2000" dirty="0">
                  <a:latin typeface="Avenir Book" panose="02000503020000020003" pitchFamily="2" charset="0"/>
                </a:rPr>
                <a:t>Error Term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556488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8E54EF-6B9A-D2CA-F3BC-A22B811A7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41A24D-9363-DF60-E858-BF91110B5DE7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/>
          <a:p>
            <a:fld id="{DEF3F5F5-7776-394F-A41F-3BAFC9CC9F8E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82CFAE3-951C-DB0D-2D50-69F0B6BB3EA6}"/>
              </a:ext>
            </a:extLst>
          </p:cNvPr>
          <p:cNvSpPr/>
          <p:nvPr/>
        </p:nvSpPr>
        <p:spPr>
          <a:xfrm>
            <a:off x="491064" y="182029"/>
            <a:ext cx="360348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4000" dirty="0">
                <a:solidFill>
                  <a:srgbClr val="00673E"/>
                </a:solidFill>
                <a:latin typeface="Avenir Medium" panose="02000503020000020003" pitchFamily="2" charset="0"/>
                <a:ea typeface="+mj-ea"/>
                <a:cs typeface="+mj-cs"/>
              </a:rPr>
              <a:t>Neural Network</a:t>
            </a:r>
            <a:endParaRPr lang="en-US" sz="4000" dirty="0">
              <a:solidFill>
                <a:srgbClr val="00673E"/>
              </a:solidFill>
              <a:latin typeface="Avenir Medium" panose="02000503020000020003" pitchFamily="2" charset="0"/>
              <a:ea typeface="+mj-ea"/>
              <a:cs typeface="+mj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60025CD-5CD6-A1AE-80B9-9A863AEEB7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2808" y="361733"/>
            <a:ext cx="8304445" cy="547300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4586312-5433-318E-37B5-B92E6D523399}"/>
              </a:ext>
            </a:extLst>
          </p:cNvPr>
          <p:cNvSpPr/>
          <p:nvPr/>
        </p:nvSpPr>
        <p:spPr>
          <a:xfrm>
            <a:off x="469882" y="6162854"/>
            <a:ext cx="13517113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3300" dirty="0">
                <a:solidFill>
                  <a:schemeClr val="tx1">
                    <a:lumMod val="50000"/>
                  </a:schemeClr>
                </a:solidFill>
                <a:latin typeface="Avenir Book" panose="02000503020000020003" pitchFamily="2" charset="0"/>
              </a:rPr>
              <a:t>What is the Error here?</a:t>
            </a:r>
          </a:p>
          <a:p>
            <a:endParaRPr lang="en-IN" sz="3300" dirty="0">
              <a:solidFill>
                <a:schemeClr val="tx1">
                  <a:lumMod val="50000"/>
                </a:schemeClr>
              </a:solidFill>
              <a:latin typeface="Avenir Book" panose="02000503020000020003" pitchFamily="2" charset="0"/>
            </a:endParaRPr>
          </a:p>
          <a:p>
            <a:r>
              <a:rPr lang="en-IN" sz="3300" dirty="0">
                <a:solidFill>
                  <a:schemeClr val="tx1">
                    <a:lumMod val="50000"/>
                  </a:schemeClr>
                </a:solidFill>
                <a:latin typeface="Avenir Book" panose="02000503020000020003" pitchFamily="2" charset="0"/>
              </a:rPr>
              <a:t>MSE =                                = 1/8{(4-3.5)</a:t>
            </a:r>
            <a:r>
              <a:rPr lang="en-IN" sz="3300" baseline="30000" dirty="0">
                <a:solidFill>
                  <a:schemeClr val="tx1">
                    <a:lumMod val="50000"/>
                  </a:schemeClr>
                </a:solidFill>
                <a:latin typeface="Avenir Book" panose="02000503020000020003" pitchFamily="2" charset="0"/>
              </a:rPr>
              <a:t>2 </a:t>
            </a:r>
            <a:r>
              <a:rPr lang="en-IN" sz="3300" dirty="0">
                <a:solidFill>
                  <a:schemeClr val="tx1">
                    <a:lumMod val="50000"/>
                  </a:schemeClr>
                </a:solidFill>
                <a:latin typeface="Avenir Book" panose="02000503020000020003" pitchFamily="2" charset="0"/>
              </a:rPr>
              <a:t> + (3 – 4.5)</a:t>
            </a:r>
            <a:r>
              <a:rPr lang="en-IN" sz="3300" baseline="30000" dirty="0">
                <a:solidFill>
                  <a:schemeClr val="tx1">
                    <a:lumMod val="50000"/>
                  </a:schemeClr>
                </a:solidFill>
                <a:latin typeface="Avenir Book" panose="02000503020000020003" pitchFamily="2" charset="0"/>
              </a:rPr>
              <a:t>2</a:t>
            </a:r>
            <a:r>
              <a:rPr lang="en-IN" sz="3300" dirty="0">
                <a:solidFill>
                  <a:schemeClr val="tx1">
                    <a:lumMod val="50000"/>
                  </a:schemeClr>
                </a:solidFill>
                <a:latin typeface="Avenir Book" panose="02000503020000020003" pitchFamily="2" charset="0"/>
              </a:rPr>
              <a:t>}  = 0.31 </a:t>
            </a:r>
          </a:p>
          <a:p>
            <a:endParaRPr lang="en-IN" sz="3300" dirty="0">
              <a:solidFill>
                <a:schemeClr val="tx1">
                  <a:lumMod val="50000"/>
                </a:schemeClr>
              </a:solidFill>
              <a:latin typeface="Avenir Book" panose="02000503020000020003" pitchFamily="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825A21-36D9-867D-D757-87F0DB9557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7793" y="7025349"/>
            <a:ext cx="3495153" cy="986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23810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2BFAB-82AA-F6D8-9F78-5A2D1A7D0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D539B6-FF53-FA5C-5C97-A43E718EFF2C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/>
          <a:p>
            <a:fld id="{DEF3F5F5-7776-394F-A41F-3BAFC9CC9F8E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161AE58-7D94-5F9D-640E-93C36BF63EE3}"/>
              </a:ext>
            </a:extLst>
          </p:cNvPr>
          <p:cNvSpPr/>
          <p:nvPr/>
        </p:nvSpPr>
        <p:spPr>
          <a:xfrm>
            <a:off x="852030" y="591295"/>
            <a:ext cx="7302768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4000" dirty="0">
                <a:solidFill>
                  <a:srgbClr val="00673E"/>
                </a:solidFill>
                <a:latin typeface="Avenir Medium" panose="02000503020000020003" pitchFamily="2" charset="0"/>
                <a:ea typeface="+mj-ea"/>
                <a:cs typeface="+mj-cs"/>
              </a:rPr>
              <a:t>Neural Network Terminologies</a:t>
            </a:r>
            <a:endParaRPr lang="en-US" sz="4000" dirty="0">
              <a:solidFill>
                <a:srgbClr val="00673E"/>
              </a:solidFill>
              <a:latin typeface="Avenir Medium" panose="02000503020000020003" pitchFamily="2" charset="0"/>
              <a:ea typeface="+mj-ea"/>
              <a:cs typeface="+mj-cs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9E7BE18-14FD-E2D4-0E24-283F90F25561}"/>
              </a:ext>
            </a:extLst>
          </p:cNvPr>
          <p:cNvSpPr txBox="1"/>
          <p:nvPr/>
        </p:nvSpPr>
        <p:spPr>
          <a:xfrm>
            <a:off x="1495155" y="3204569"/>
            <a:ext cx="35695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dirty="0">
                <a:latin typeface="Avenir Book" panose="02000503020000020003" pitchFamily="2" charset="0"/>
              </a:rPr>
              <a:t>Linear Regression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6481427-0690-E467-8871-B19B8645E8B7}"/>
              </a:ext>
            </a:extLst>
          </p:cNvPr>
          <p:cNvGrpSpPr/>
          <p:nvPr/>
        </p:nvGrpSpPr>
        <p:grpSpPr>
          <a:xfrm>
            <a:off x="5638653" y="1903912"/>
            <a:ext cx="5320930" cy="1896111"/>
            <a:chOff x="6300052" y="1893233"/>
            <a:chExt cx="5320930" cy="1896111"/>
          </a:xfrm>
        </p:grpSpPr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D89D2631-9A83-A18D-0340-CCF4C58FE0FC}"/>
                </a:ext>
              </a:extLst>
            </p:cNvPr>
            <p:cNvSpPr txBox="1"/>
            <p:nvPr/>
          </p:nvSpPr>
          <p:spPr>
            <a:xfrm>
              <a:off x="6300052" y="3266124"/>
              <a:ext cx="356951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2800" dirty="0">
                  <a:latin typeface="Avenir Book" panose="02000503020000020003" pitchFamily="2" charset="0"/>
                </a:rPr>
                <a:t>Y = </a:t>
              </a:r>
              <a:r>
                <a:rPr lang="el-GR" sz="2800" dirty="0">
                  <a:solidFill>
                    <a:srgbClr val="C00000"/>
                  </a:solidFill>
                </a:rPr>
                <a:t>β</a:t>
              </a:r>
              <a:r>
                <a:rPr lang="en-CA" sz="2800" baseline="-25000" dirty="0">
                  <a:solidFill>
                    <a:srgbClr val="C00000"/>
                  </a:solidFill>
                  <a:latin typeface="Avenir Book" panose="02000503020000020003" pitchFamily="2" charset="0"/>
                </a:rPr>
                <a:t>1</a:t>
              </a:r>
              <a:r>
                <a:rPr lang="en-CA" sz="2800" dirty="0">
                  <a:latin typeface="Avenir Book" panose="02000503020000020003" pitchFamily="2" charset="0"/>
                </a:rPr>
                <a:t>X</a:t>
              </a:r>
              <a:r>
                <a:rPr lang="en-CA" sz="2800" baseline="-25000" dirty="0">
                  <a:latin typeface="Avenir Book" panose="02000503020000020003" pitchFamily="2" charset="0"/>
                </a:rPr>
                <a:t>1</a:t>
              </a:r>
              <a:r>
                <a:rPr lang="en-CA" sz="2800" dirty="0">
                  <a:latin typeface="Avenir Book" panose="02000503020000020003" pitchFamily="2" charset="0"/>
                </a:rPr>
                <a:t> + </a:t>
              </a:r>
              <a:r>
                <a:rPr lang="el-GR" sz="2800" dirty="0">
                  <a:solidFill>
                    <a:srgbClr val="C00000"/>
                  </a:solidFill>
                </a:rPr>
                <a:t>β</a:t>
              </a:r>
              <a:r>
                <a:rPr lang="en-CA" sz="2800" baseline="-25000" dirty="0">
                  <a:solidFill>
                    <a:srgbClr val="C00000"/>
                  </a:solidFill>
                  <a:latin typeface="Avenir Book" panose="02000503020000020003" pitchFamily="2" charset="0"/>
                </a:rPr>
                <a:t>2</a:t>
              </a:r>
              <a:r>
                <a:rPr lang="en-CA" sz="2800" dirty="0">
                  <a:latin typeface="Avenir Book" panose="02000503020000020003" pitchFamily="2" charset="0"/>
                </a:rPr>
                <a:t>X</a:t>
              </a:r>
              <a:r>
                <a:rPr lang="en-CA" sz="2800" baseline="-25000" dirty="0">
                  <a:latin typeface="Avenir Book" panose="02000503020000020003" pitchFamily="2" charset="0"/>
                </a:rPr>
                <a:t>2</a:t>
              </a:r>
              <a:r>
                <a:rPr lang="en-CA" sz="2800" dirty="0">
                  <a:latin typeface="Avenir Book" panose="02000503020000020003" pitchFamily="2" charset="0"/>
                </a:rPr>
                <a:t> + </a:t>
              </a:r>
              <a:r>
                <a:rPr lang="el-GR" sz="2800" dirty="0">
                  <a:solidFill>
                    <a:srgbClr val="C00000"/>
                  </a:solidFill>
                </a:rPr>
                <a:t>β</a:t>
              </a:r>
              <a:r>
                <a:rPr lang="en-CA" sz="2800" baseline="-25000" dirty="0">
                  <a:solidFill>
                    <a:srgbClr val="C00000"/>
                  </a:solidFill>
                  <a:latin typeface="Avenir Book" panose="02000503020000020003" pitchFamily="2" charset="0"/>
                </a:rPr>
                <a:t>0</a:t>
              </a:r>
              <a:endParaRPr lang="en-CA" sz="2800" dirty="0">
                <a:latin typeface="Avenir Book" panose="02000503020000020003" pitchFamily="2" charset="0"/>
              </a:endParaRP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50D60543-F12B-0E03-F84D-5D8E4A161D3B}"/>
                </a:ext>
              </a:extLst>
            </p:cNvPr>
            <p:cNvGrpSpPr/>
            <p:nvPr/>
          </p:nvGrpSpPr>
          <p:grpSpPr>
            <a:xfrm>
              <a:off x="7148945" y="2294175"/>
              <a:ext cx="1306286" cy="971949"/>
              <a:chOff x="7148945" y="1747910"/>
              <a:chExt cx="1306286" cy="971949"/>
            </a:xfrm>
          </p:grpSpPr>
          <p:cxnSp>
            <p:nvCxnSpPr>
              <p:cNvPr id="4" name="Straight Arrow Connector 3">
                <a:extLst>
                  <a:ext uri="{FF2B5EF4-FFF2-40B4-BE49-F238E27FC236}">
                    <a16:creationId xmlns:a16="http://schemas.microsoft.com/office/drawing/2014/main" id="{2E3895F3-18D3-5F9E-11FA-97AEC2DED890}"/>
                  </a:ext>
                </a:extLst>
              </p:cNvPr>
              <p:cNvCxnSpPr/>
              <p:nvPr/>
            </p:nvCxnSpPr>
            <p:spPr>
              <a:xfrm flipV="1">
                <a:off x="7148945" y="1747910"/>
                <a:ext cx="1306286" cy="97194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Arrow Connector 60">
                <a:extLst>
                  <a:ext uri="{FF2B5EF4-FFF2-40B4-BE49-F238E27FC236}">
                    <a16:creationId xmlns:a16="http://schemas.microsoft.com/office/drawing/2014/main" id="{5D28EC2C-F036-E6BC-2B15-29C10C101B8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288977" y="1770877"/>
                <a:ext cx="166254" cy="94898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2" name="Straight Arrow Connector 61">
              <a:extLst>
                <a:ext uri="{FF2B5EF4-FFF2-40B4-BE49-F238E27FC236}">
                  <a16:creationId xmlns:a16="http://schemas.microsoft.com/office/drawing/2014/main" id="{8EF4C556-4016-9E0A-D95E-603414CE825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89156" y="3529057"/>
              <a:ext cx="642376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1A8BCE77-52C2-275D-659A-6DEC81B3276C}"/>
                </a:ext>
              </a:extLst>
            </p:cNvPr>
            <p:cNvSpPr txBox="1"/>
            <p:nvPr/>
          </p:nvSpPr>
          <p:spPr>
            <a:xfrm>
              <a:off x="7904397" y="1893233"/>
              <a:ext cx="139972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2000" dirty="0">
                  <a:latin typeface="Avenir Book" panose="02000503020000020003" pitchFamily="2" charset="0"/>
                </a:rPr>
                <a:t>Coefficients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CBB32ADA-C84B-1236-1CE0-EE71987FAEC9}"/>
                </a:ext>
              </a:extLst>
            </p:cNvPr>
            <p:cNvSpPr txBox="1"/>
            <p:nvPr/>
          </p:nvSpPr>
          <p:spPr>
            <a:xfrm>
              <a:off x="10380826" y="3327679"/>
              <a:ext cx="124015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2000" dirty="0">
                  <a:latin typeface="Avenir Book" panose="02000503020000020003" pitchFamily="2" charset="0"/>
                </a:rPr>
                <a:t>Error Term</a:t>
              </a:r>
            </a:p>
          </p:txBody>
        </p:sp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AA45F8D9-A919-2B67-9BB2-6D73A1BE6824}"/>
              </a:ext>
            </a:extLst>
          </p:cNvPr>
          <p:cNvSpPr txBox="1"/>
          <p:nvPr/>
        </p:nvSpPr>
        <p:spPr>
          <a:xfrm>
            <a:off x="1588178" y="5755784"/>
            <a:ext cx="35695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dirty="0">
                <a:latin typeface="Avenir Book" panose="02000503020000020003" pitchFamily="2" charset="0"/>
              </a:rPr>
              <a:t>Neural Networks</a:t>
            </a:r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694FD0F9-A6DA-EA82-9E24-643B0EA844FE}"/>
              </a:ext>
            </a:extLst>
          </p:cNvPr>
          <p:cNvGrpSpPr/>
          <p:nvPr/>
        </p:nvGrpSpPr>
        <p:grpSpPr>
          <a:xfrm>
            <a:off x="5638653" y="5768187"/>
            <a:ext cx="4761716" cy="1440484"/>
            <a:chOff x="6300052" y="3266124"/>
            <a:chExt cx="4761716" cy="1440484"/>
          </a:xfrm>
        </p:grpSpPr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4D1FA1E2-E9A3-2CDE-099F-8D9C52278AD0}"/>
                </a:ext>
              </a:extLst>
            </p:cNvPr>
            <p:cNvSpPr txBox="1"/>
            <p:nvPr/>
          </p:nvSpPr>
          <p:spPr>
            <a:xfrm>
              <a:off x="6300052" y="3266124"/>
              <a:ext cx="356951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2800" dirty="0">
                  <a:latin typeface="Avenir Book" panose="02000503020000020003" pitchFamily="2" charset="0"/>
                </a:rPr>
                <a:t>Y = </a:t>
              </a:r>
              <a:r>
                <a:rPr lang="el-GR" sz="2800" dirty="0">
                  <a:solidFill>
                    <a:srgbClr val="C00000"/>
                  </a:solidFill>
                </a:rPr>
                <a:t>β</a:t>
              </a:r>
              <a:r>
                <a:rPr lang="en-CA" sz="2800" baseline="-25000" dirty="0">
                  <a:solidFill>
                    <a:srgbClr val="C00000"/>
                  </a:solidFill>
                  <a:latin typeface="Avenir Book" panose="02000503020000020003" pitchFamily="2" charset="0"/>
                </a:rPr>
                <a:t>1</a:t>
              </a:r>
              <a:r>
                <a:rPr lang="en-CA" sz="2800" dirty="0">
                  <a:latin typeface="Avenir Book" panose="02000503020000020003" pitchFamily="2" charset="0"/>
                </a:rPr>
                <a:t>X</a:t>
              </a:r>
              <a:r>
                <a:rPr lang="en-CA" sz="2800" baseline="-25000" dirty="0">
                  <a:latin typeface="Avenir Book" panose="02000503020000020003" pitchFamily="2" charset="0"/>
                </a:rPr>
                <a:t>1</a:t>
              </a:r>
              <a:r>
                <a:rPr lang="en-CA" sz="2800" dirty="0">
                  <a:latin typeface="Avenir Book" panose="02000503020000020003" pitchFamily="2" charset="0"/>
                </a:rPr>
                <a:t> + </a:t>
              </a:r>
              <a:r>
                <a:rPr lang="el-GR" sz="2800" dirty="0">
                  <a:solidFill>
                    <a:srgbClr val="C00000"/>
                  </a:solidFill>
                </a:rPr>
                <a:t>β</a:t>
              </a:r>
              <a:r>
                <a:rPr lang="en-CA" sz="2800" baseline="-25000" dirty="0">
                  <a:solidFill>
                    <a:srgbClr val="C00000"/>
                  </a:solidFill>
                  <a:latin typeface="Avenir Book" panose="02000503020000020003" pitchFamily="2" charset="0"/>
                </a:rPr>
                <a:t>2</a:t>
              </a:r>
              <a:r>
                <a:rPr lang="en-CA" sz="2800" dirty="0">
                  <a:latin typeface="Avenir Book" panose="02000503020000020003" pitchFamily="2" charset="0"/>
                </a:rPr>
                <a:t>X</a:t>
              </a:r>
              <a:r>
                <a:rPr lang="en-CA" sz="2800" baseline="-25000" dirty="0">
                  <a:latin typeface="Avenir Book" panose="02000503020000020003" pitchFamily="2" charset="0"/>
                </a:rPr>
                <a:t>2</a:t>
              </a:r>
              <a:r>
                <a:rPr lang="en-CA" sz="2800" dirty="0">
                  <a:latin typeface="Avenir Book" panose="02000503020000020003" pitchFamily="2" charset="0"/>
                </a:rPr>
                <a:t> + </a:t>
              </a:r>
              <a:r>
                <a:rPr lang="el-GR" sz="2800" dirty="0">
                  <a:solidFill>
                    <a:srgbClr val="C00000"/>
                  </a:solidFill>
                </a:rPr>
                <a:t>β</a:t>
              </a:r>
              <a:r>
                <a:rPr lang="en-CA" sz="2800" baseline="-25000" dirty="0">
                  <a:solidFill>
                    <a:srgbClr val="C00000"/>
                  </a:solidFill>
                  <a:latin typeface="Avenir Book" panose="02000503020000020003" pitchFamily="2" charset="0"/>
                </a:rPr>
                <a:t>0</a:t>
              </a:r>
              <a:endParaRPr lang="en-CA" sz="2800" dirty="0">
                <a:latin typeface="Avenir Book" panose="02000503020000020003" pitchFamily="2" charset="0"/>
              </a:endParaRPr>
            </a:p>
          </p:txBody>
        </p: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82AB2F15-4297-A7FA-35E6-6B0767F630DA}"/>
                </a:ext>
              </a:extLst>
            </p:cNvPr>
            <p:cNvGrpSpPr/>
            <p:nvPr/>
          </p:nvGrpSpPr>
          <p:grpSpPr>
            <a:xfrm>
              <a:off x="7203753" y="3895518"/>
              <a:ext cx="1053957" cy="811090"/>
              <a:chOff x="7203753" y="3349253"/>
              <a:chExt cx="1053957" cy="811090"/>
            </a:xfrm>
          </p:grpSpPr>
          <p:cxnSp>
            <p:nvCxnSpPr>
              <p:cNvPr id="72" name="Straight Arrow Connector 71">
                <a:extLst>
                  <a:ext uri="{FF2B5EF4-FFF2-40B4-BE49-F238E27FC236}">
                    <a16:creationId xmlns:a16="http://schemas.microsoft.com/office/drawing/2014/main" id="{E7FFBA16-3B51-F5F1-33EC-4C5736BBA7B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03753" y="3349253"/>
                <a:ext cx="935866" cy="81109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3947023B-8F69-ED27-DB78-CA1C3683C30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139619" y="3349253"/>
                <a:ext cx="118091" cy="79939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DFB1C1D8-CB03-549F-077C-EE247C37877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89156" y="3529057"/>
              <a:ext cx="642376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B885689A-A583-CF5B-D6D5-1055D2237D1F}"/>
                </a:ext>
              </a:extLst>
            </p:cNvPr>
            <p:cNvSpPr txBox="1"/>
            <p:nvPr/>
          </p:nvSpPr>
          <p:spPr>
            <a:xfrm>
              <a:off x="10468596" y="3327679"/>
              <a:ext cx="59317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2000" dirty="0">
                  <a:latin typeface="Avenir Book" panose="02000503020000020003" pitchFamily="2" charset="0"/>
                </a:rPr>
                <a:t>Bias</a:t>
              </a:r>
            </a:p>
          </p:txBody>
        </p:sp>
      </p:grpSp>
      <p:sp>
        <p:nvSpPr>
          <p:cNvPr id="74" name="TextBox 73">
            <a:extLst>
              <a:ext uri="{FF2B5EF4-FFF2-40B4-BE49-F238E27FC236}">
                <a16:creationId xmlns:a16="http://schemas.microsoft.com/office/drawing/2014/main" id="{8F376DC1-7C75-F1D8-AC2D-A55EAD3AFFB1}"/>
              </a:ext>
            </a:extLst>
          </p:cNvPr>
          <p:cNvSpPr txBox="1"/>
          <p:nvPr/>
        </p:nvSpPr>
        <p:spPr>
          <a:xfrm>
            <a:off x="6958634" y="7314845"/>
            <a:ext cx="13288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000" dirty="0">
                <a:latin typeface="Avenir Book" panose="02000503020000020003" pitchFamily="2" charset="0"/>
              </a:rPr>
              <a:t>Weights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0BB82B-D63D-D550-34B7-5FCA87E76670}"/>
              </a:ext>
            </a:extLst>
          </p:cNvPr>
          <p:cNvSpPr txBox="1"/>
          <p:nvPr/>
        </p:nvSpPr>
        <p:spPr>
          <a:xfrm>
            <a:off x="12597275" y="3332054"/>
            <a:ext cx="26113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>
                <a:latin typeface="Avenir Book" panose="02000503020000020003" pitchFamily="2" charset="0"/>
              </a:defRPr>
            </a:lvl1pPr>
          </a:lstStyle>
          <a:p>
            <a:r>
              <a:rPr lang="en-CA" dirty="0">
                <a:highlight>
                  <a:srgbClr val="FFFF00"/>
                </a:highlight>
              </a:rPr>
              <a:t>Minimizing the error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1D11F6-5777-F677-0AFE-2F76694D6A08}"/>
              </a:ext>
            </a:extLst>
          </p:cNvPr>
          <p:cNvSpPr txBox="1"/>
          <p:nvPr/>
        </p:nvSpPr>
        <p:spPr>
          <a:xfrm>
            <a:off x="12597275" y="5748204"/>
            <a:ext cx="238236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dirty="0">
                <a:highlight>
                  <a:srgbClr val="FFFF00"/>
                </a:highlight>
                <a:latin typeface="Avenir Book" panose="02000503020000020003" pitchFamily="2" charset="0"/>
              </a:rPr>
              <a:t>Minimizing the cost function/loss function</a:t>
            </a:r>
          </a:p>
        </p:txBody>
      </p:sp>
    </p:spTree>
    <p:extLst>
      <p:ext uri="{BB962C8B-B14F-4D97-AF65-F5344CB8AC3E}">
        <p14:creationId xmlns:p14="http://schemas.microsoft.com/office/powerpoint/2010/main" val="1537434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/>
      <p:bldP spid="74" grpId="0"/>
      <p:bldP spid="3" grpId="0"/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C83C7A-1D40-AF32-CD15-0EBB4B252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AAF287-2A8B-342A-81B0-61A22033CB15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/>
          <a:p>
            <a:fld id="{DEF3F5F5-7776-394F-A41F-3BAFC9CC9F8E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6264D7A-3404-91D7-F023-2381740F8D18}"/>
              </a:ext>
            </a:extLst>
          </p:cNvPr>
          <p:cNvSpPr/>
          <p:nvPr/>
        </p:nvSpPr>
        <p:spPr>
          <a:xfrm>
            <a:off x="491064" y="182029"/>
            <a:ext cx="6796669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4000" dirty="0">
                <a:solidFill>
                  <a:srgbClr val="00673E"/>
                </a:solidFill>
                <a:latin typeface="Avenir Medium" panose="02000503020000020003" pitchFamily="2" charset="0"/>
                <a:ea typeface="+mj-ea"/>
                <a:cs typeface="+mj-cs"/>
              </a:rPr>
              <a:t>Neural Network – Loss Function</a:t>
            </a:r>
            <a:endParaRPr lang="en-US" sz="4000" dirty="0">
              <a:solidFill>
                <a:srgbClr val="00673E"/>
              </a:solidFill>
              <a:latin typeface="Avenir Medium" panose="02000503020000020003" pitchFamily="2" charset="0"/>
              <a:ea typeface="+mj-ea"/>
              <a:cs typeface="+mj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D67582-EDE3-AA4B-F8B0-9EF92CC1F0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2615" y="991515"/>
            <a:ext cx="9396014" cy="6218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77510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8DD8A-D74B-DDC7-BC3C-8B9EDAF71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E04A23-E238-A81F-9003-A9CCFA78254B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/>
          <a:p>
            <a:fld id="{DEF3F5F5-7776-394F-A41F-3BAFC9CC9F8E}" type="slidenum">
              <a:rPr lang="en-US" smtClean="0"/>
              <a:pPr/>
              <a:t>7</a:t>
            </a:fld>
            <a:endParaRPr lang="en-US" dirty="0"/>
          </a:p>
        </p:txBody>
      </p:sp>
      <p:cxnSp>
        <p:nvCxnSpPr>
          <p:cNvPr id="3" name="Straight Connector 2"/>
          <p:cNvCxnSpPr/>
          <p:nvPr/>
        </p:nvCxnSpPr>
        <p:spPr>
          <a:xfrm flipH="1">
            <a:off x="1778136" y="2202210"/>
            <a:ext cx="31668" cy="4275118"/>
          </a:xfrm>
          <a:prstGeom prst="line">
            <a:avLst/>
          </a:prstGeom>
          <a:ln w="6350">
            <a:solidFill>
              <a:schemeClr val="tx1"/>
            </a:solidFill>
            <a:headEnd type="triangle" w="lg" len="lg"/>
            <a:tailEnd type="non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778136" y="6477328"/>
            <a:ext cx="6729351" cy="0"/>
          </a:xfrm>
          <a:prstGeom prst="line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899861" y="6762335"/>
            <a:ext cx="280801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latin typeface="Avenir Book" panose="02000503020000020003"/>
                <a:ea typeface="Century Schoolbook" charset="0"/>
                <a:cs typeface="Century Schoolbook" charset="0"/>
              </a:rPr>
              <a:t>size of house</a:t>
            </a:r>
          </a:p>
        </p:txBody>
      </p:sp>
      <p:sp>
        <p:nvSpPr>
          <p:cNvPr id="10" name="TextBox 9"/>
          <p:cNvSpPr txBox="1"/>
          <p:nvPr/>
        </p:nvSpPr>
        <p:spPr>
          <a:xfrm rot="16200000">
            <a:off x="718185" y="3743331"/>
            <a:ext cx="120577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latin typeface="Avenir Book" panose="02000503020000020003"/>
                <a:ea typeface="Century Schoolbook" charset="0"/>
                <a:cs typeface="Century Schoolbook" charset="0"/>
              </a:rPr>
              <a:t>price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6417340" y="3013528"/>
            <a:ext cx="373360" cy="373360"/>
            <a:chOff x="6412674" y="3475729"/>
            <a:chExt cx="731520" cy="731520"/>
          </a:xfrm>
        </p:grpSpPr>
        <p:cxnSp>
          <p:nvCxnSpPr>
            <p:cNvPr id="6" name="Straight Connector 5"/>
            <p:cNvCxnSpPr/>
            <p:nvPr/>
          </p:nvCxnSpPr>
          <p:spPr>
            <a:xfrm>
              <a:off x="6412674" y="3475729"/>
              <a:ext cx="731520" cy="731520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V="1">
              <a:off x="6412674" y="3475729"/>
              <a:ext cx="731520" cy="731520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/>
          <p:cNvGrpSpPr/>
          <p:nvPr/>
        </p:nvGrpSpPr>
        <p:grpSpPr>
          <a:xfrm>
            <a:off x="5279614" y="4239542"/>
            <a:ext cx="373360" cy="373360"/>
            <a:chOff x="6412674" y="3475729"/>
            <a:chExt cx="731520" cy="731520"/>
          </a:xfrm>
        </p:grpSpPr>
        <p:cxnSp>
          <p:nvCxnSpPr>
            <p:cNvPr id="18" name="Straight Connector 17"/>
            <p:cNvCxnSpPr/>
            <p:nvPr/>
          </p:nvCxnSpPr>
          <p:spPr>
            <a:xfrm>
              <a:off x="6412674" y="3475729"/>
              <a:ext cx="731520" cy="731520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V="1">
              <a:off x="6412674" y="3475729"/>
              <a:ext cx="731520" cy="731520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/>
          <p:cNvGrpSpPr/>
          <p:nvPr/>
        </p:nvGrpSpPr>
        <p:grpSpPr>
          <a:xfrm>
            <a:off x="7711893" y="2758563"/>
            <a:ext cx="373360" cy="373360"/>
            <a:chOff x="6412674" y="3475729"/>
            <a:chExt cx="731520" cy="731520"/>
          </a:xfrm>
        </p:grpSpPr>
        <p:cxnSp>
          <p:nvCxnSpPr>
            <p:cNvPr id="21" name="Straight Connector 20"/>
            <p:cNvCxnSpPr/>
            <p:nvPr/>
          </p:nvCxnSpPr>
          <p:spPr>
            <a:xfrm>
              <a:off x="6412674" y="3475729"/>
              <a:ext cx="731520" cy="731520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 flipV="1">
              <a:off x="6412674" y="3475729"/>
              <a:ext cx="731520" cy="731520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/>
          <p:cNvGrpSpPr/>
          <p:nvPr/>
        </p:nvGrpSpPr>
        <p:grpSpPr>
          <a:xfrm>
            <a:off x="6140096" y="4266616"/>
            <a:ext cx="373360" cy="373360"/>
            <a:chOff x="6412674" y="3475729"/>
            <a:chExt cx="731520" cy="731520"/>
          </a:xfrm>
        </p:grpSpPr>
        <p:cxnSp>
          <p:nvCxnSpPr>
            <p:cNvPr id="24" name="Straight Connector 23"/>
            <p:cNvCxnSpPr/>
            <p:nvPr/>
          </p:nvCxnSpPr>
          <p:spPr>
            <a:xfrm>
              <a:off x="6412674" y="3475729"/>
              <a:ext cx="731520" cy="731520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 flipV="1">
              <a:off x="6412674" y="3475729"/>
              <a:ext cx="731520" cy="731520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/>
          <p:cNvGrpSpPr/>
          <p:nvPr/>
        </p:nvGrpSpPr>
        <p:grpSpPr>
          <a:xfrm>
            <a:off x="4200808" y="4879624"/>
            <a:ext cx="373360" cy="373360"/>
            <a:chOff x="6412674" y="3475729"/>
            <a:chExt cx="731520" cy="731520"/>
          </a:xfrm>
        </p:grpSpPr>
        <p:cxnSp>
          <p:nvCxnSpPr>
            <p:cNvPr id="27" name="Straight Connector 26"/>
            <p:cNvCxnSpPr/>
            <p:nvPr/>
          </p:nvCxnSpPr>
          <p:spPr>
            <a:xfrm>
              <a:off x="6412674" y="3475729"/>
              <a:ext cx="731520" cy="731520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 flipV="1">
              <a:off x="6412674" y="3475729"/>
              <a:ext cx="731520" cy="731520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Group 28"/>
          <p:cNvGrpSpPr/>
          <p:nvPr/>
        </p:nvGrpSpPr>
        <p:grpSpPr>
          <a:xfrm>
            <a:off x="4956131" y="5358435"/>
            <a:ext cx="373360" cy="373360"/>
            <a:chOff x="6412674" y="3475729"/>
            <a:chExt cx="731520" cy="731520"/>
          </a:xfrm>
        </p:grpSpPr>
        <p:cxnSp>
          <p:nvCxnSpPr>
            <p:cNvPr id="30" name="Straight Connector 29"/>
            <p:cNvCxnSpPr/>
            <p:nvPr/>
          </p:nvCxnSpPr>
          <p:spPr>
            <a:xfrm>
              <a:off x="6412674" y="3475729"/>
              <a:ext cx="731520" cy="731520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 flipV="1">
              <a:off x="6412674" y="3475729"/>
              <a:ext cx="731520" cy="731520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90F1068-46C8-955E-0638-BA5ACE43A3BD}"/>
              </a:ext>
            </a:extLst>
          </p:cNvPr>
          <p:cNvCxnSpPr>
            <a:cxnSpLocks/>
          </p:cNvCxnSpPr>
          <p:nvPr/>
        </p:nvCxnSpPr>
        <p:spPr>
          <a:xfrm flipV="1">
            <a:off x="4021252" y="2409369"/>
            <a:ext cx="4064000" cy="352213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B481226E-0A73-B402-79AD-AB73E4484A54}"/>
              </a:ext>
            </a:extLst>
          </p:cNvPr>
          <p:cNvSpPr txBox="1"/>
          <p:nvPr/>
        </p:nvSpPr>
        <p:spPr>
          <a:xfrm>
            <a:off x="9981785" y="3184856"/>
            <a:ext cx="1045479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500" dirty="0">
                <a:latin typeface="Avenir Book" panose="02000503020000020003"/>
                <a:ea typeface="Century Schoolbook" charset="0"/>
                <a:cs typeface="Century Schoolbook" charset="0"/>
              </a:rPr>
              <a:t>size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F6990638-8212-6B40-BA9F-722C11E0C0CF}"/>
              </a:ext>
            </a:extLst>
          </p:cNvPr>
          <p:cNvCxnSpPr>
            <a:cxnSpLocks/>
            <a:stCxn id="15" idx="3"/>
          </p:cNvCxnSpPr>
          <p:nvPr/>
        </p:nvCxnSpPr>
        <p:spPr>
          <a:xfrm>
            <a:off x="11027264" y="3577271"/>
            <a:ext cx="986521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val 34">
            <a:extLst>
              <a:ext uri="{FF2B5EF4-FFF2-40B4-BE49-F238E27FC236}">
                <a16:creationId xmlns:a16="http://schemas.microsoft.com/office/drawing/2014/main" id="{B3B28B53-8566-D825-9C82-C5D953A3BE43}"/>
              </a:ext>
            </a:extLst>
          </p:cNvPr>
          <p:cNvSpPr/>
          <p:nvPr/>
        </p:nvSpPr>
        <p:spPr>
          <a:xfrm>
            <a:off x="12333102" y="3328831"/>
            <a:ext cx="677333" cy="51261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5511"/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F1077E35-2240-33AC-B651-DD066A0B57FA}"/>
              </a:ext>
            </a:extLst>
          </p:cNvPr>
          <p:cNvCxnSpPr/>
          <p:nvPr/>
        </p:nvCxnSpPr>
        <p:spPr>
          <a:xfrm>
            <a:off x="13368452" y="3585721"/>
            <a:ext cx="812800" cy="0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57C99A1D-F18D-2846-E8E4-7189D6648E32}"/>
              </a:ext>
            </a:extLst>
          </p:cNvPr>
          <p:cNvSpPr txBox="1"/>
          <p:nvPr/>
        </p:nvSpPr>
        <p:spPr>
          <a:xfrm>
            <a:off x="14427996" y="3097776"/>
            <a:ext cx="1334020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500" dirty="0">
                <a:latin typeface="Avenir Book" panose="02000503020000020003"/>
                <a:ea typeface="Century Schoolbook" charset="0"/>
                <a:cs typeface="Century Schoolbook" charset="0"/>
              </a:rPr>
              <a:t>price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A5D2318-45FF-9583-5A2F-56082ED3A704}"/>
              </a:ext>
            </a:extLst>
          </p:cNvPr>
          <p:cNvSpPr txBox="1"/>
          <p:nvPr/>
        </p:nvSpPr>
        <p:spPr>
          <a:xfrm rot="16200000">
            <a:off x="11758374" y="1769921"/>
            <a:ext cx="1702389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500" dirty="0">
                <a:latin typeface="Avenir Book" panose="02000503020000020003"/>
                <a:ea typeface="Century Schoolbook" charset="0"/>
                <a:cs typeface="Century Schoolbook" charset="0"/>
              </a:rPr>
              <a:t>neuron</a:t>
            </a:r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7919" y="192457"/>
            <a:ext cx="10656608" cy="1308795"/>
          </a:xfrm>
        </p:spPr>
        <p:txBody>
          <a:bodyPr>
            <a:normAutofit/>
          </a:bodyPr>
          <a:lstStyle/>
          <a:p>
            <a:r>
              <a:rPr lang="en-US" sz="4200" dirty="0">
                <a:solidFill>
                  <a:srgbClr val="00673E"/>
                </a:solidFill>
                <a:latin typeface="Avenir Book" panose="02000503020000020003"/>
                <a:ea typeface="Century Schoolbook" charset="0"/>
                <a:cs typeface="Century Schoolbook" charset="0"/>
              </a:rPr>
              <a:t>Housing Price Prediction</a:t>
            </a:r>
          </a:p>
        </p:txBody>
      </p:sp>
    </p:spTree>
    <p:extLst>
      <p:ext uri="{BB962C8B-B14F-4D97-AF65-F5344CB8AC3E}">
        <p14:creationId xmlns:p14="http://schemas.microsoft.com/office/powerpoint/2010/main" val="8687230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140CD1-3283-E4B8-59DA-0BC50511B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D19F18-5CB5-43E2-71FC-BFC3F3C026DC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/>
          <a:p>
            <a:fld id="{DEF3F5F5-7776-394F-A41F-3BAFC9CC9F8E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10E04D-DEA6-0A6B-99C2-D1AB24BCA34E}"/>
              </a:ext>
            </a:extLst>
          </p:cNvPr>
          <p:cNvSpPr txBox="1"/>
          <p:nvPr/>
        </p:nvSpPr>
        <p:spPr>
          <a:xfrm>
            <a:off x="1144874" y="198360"/>
            <a:ext cx="325922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 b="1" dirty="0">
                <a:solidFill>
                  <a:schemeClr val="tx2"/>
                </a:solidFill>
                <a:latin typeface="Avenir Book" panose="02000503020000020003" pitchFamily="2" charset="0"/>
              </a:rPr>
              <a:t>Neural Networks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DAC15C-6ACE-3EBB-B1FF-ECA1C862EB01}"/>
              </a:ext>
            </a:extLst>
          </p:cNvPr>
          <p:cNvSpPr/>
          <p:nvPr/>
        </p:nvSpPr>
        <p:spPr>
          <a:xfrm>
            <a:off x="2825215" y="3997533"/>
            <a:ext cx="309681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sz="1600" b="1" dirty="0">
                <a:latin typeface="Avenir Book" panose="02000503020000020003" pitchFamily="2" charset="0"/>
              </a:rPr>
              <a:t>[Shallow] 2 Layer Neural Network</a:t>
            </a:r>
            <a:endParaRPr lang="en-US" sz="1800" b="1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7C7C87C-030A-93F6-65A7-DC2F26E671FD}"/>
              </a:ext>
            </a:extLst>
          </p:cNvPr>
          <p:cNvGrpSpPr/>
          <p:nvPr/>
        </p:nvGrpSpPr>
        <p:grpSpPr>
          <a:xfrm>
            <a:off x="1658310" y="4605218"/>
            <a:ext cx="5053164" cy="3122854"/>
            <a:chOff x="1455714" y="4868207"/>
            <a:chExt cx="5053164" cy="3122854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DA3C8331-86EA-262F-8717-CC98CE58F725}"/>
                </a:ext>
              </a:extLst>
            </p:cNvPr>
            <p:cNvGrpSpPr/>
            <p:nvPr/>
          </p:nvGrpSpPr>
          <p:grpSpPr>
            <a:xfrm>
              <a:off x="1455714" y="4868207"/>
              <a:ext cx="5053164" cy="3122854"/>
              <a:chOff x="5538353" y="2364685"/>
              <a:chExt cx="5484320" cy="3389308"/>
            </a:xfrm>
          </p:grpSpPr>
          <p:pic>
            <p:nvPicPr>
              <p:cNvPr id="15" name="Picture 8" descr="Dark side of neural networks explained">
                <a:extLst>
                  <a:ext uri="{FF2B5EF4-FFF2-40B4-BE49-F238E27FC236}">
                    <a16:creationId xmlns:a16="http://schemas.microsoft.com/office/drawing/2014/main" id="{F3419A09-340E-769C-CFAF-89A5EA55FAB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538353" y="2364685"/>
                <a:ext cx="5484320" cy="338930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ACACBA40-6F72-9DE5-5E44-2BDCEDB57562}"/>
                  </a:ext>
                </a:extLst>
              </p:cNvPr>
              <p:cNvSpPr/>
              <p:nvPr/>
            </p:nvSpPr>
            <p:spPr>
              <a:xfrm>
                <a:off x="6804826" y="3368249"/>
                <a:ext cx="353735" cy="353735"/>
              </a:xfrm>
              <a:prstGeom prst="ellipse">
                <a:avLst/>
              </a:prstGeom>
              <a:solidFill>
                <a:srgbClr val="008F00">
                  <a:alpha val="55294"/>
                </a:srgbClr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FA555066-0AED-56D7-FA1F-9E881AD7BB18}"/>
                  </a:ext>
                </a:extLst>
              </p:cNvPr>
              <p:cNvSpPr/>
              <p:nvPr/>
            </p:nvSpPr>
            <p:spPr>
              <a:xfrm>
                <a:off x="6804825" y="3911155"/>
                <a:ext cx="353735" cy="353735"/>
              </a:xfrm>
              <a:prstGeom prst="ellipse">
                <a:avLst/>
              </a:prstGeom>
              <a:solidFill>
                <a:srgbClr val="008F00">
                  <a:alpha val="55294"/>
                </a:srgbClr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29F1F89A-7B7E-0BB6-B101-FF02EB7FD433}"/>
                  </a:ext>
                </a:extLst>
              </p:cNvPr>
              <p:cNvSpPr/>
              <p:nvPr/>
            </p:nvSpPr>
            <p:spPr>
              <a:xfrm>
                <a:off x="6804824" y="4478839"/>
                <a:ext cx="353735" cy="353735"/>
              </a:xfrm>
              <a:prstGeom prst="ellipse">
                <a:avLst/>
              </a:prstGeom>
              <a:solidFill>
                <a:srgbClr val="008F00">
                  <a:alpha val="55294"/>
                </a:srgbClr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3E433C8D-DE6B-0F4B-F8E7-D03C6D3DE810}"/>
                  </a:ext>
                </a:extLst>
              </p:cNvPr>
              <p:cNvSpPr/>
              <p:nvPr/>
            </p:nvSpPr>
            <p:spPr>
              <a:xfrm>
                <a:off x="6804823" y="5045103"/>
                <a:ext cx="353735" cy="353735"/>
              </a:xfrm>
              <a:prstGeom prst="ellipse">
                <a:avLst/>
              </a:prstGeom>
              <a:solidFill>
                <a:srgbClr val="008F00">
                  <a:alpha val="55294"/>
                </a:srgbClr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C44849F-4E44-D49A-F803-144E54B5ED4E}"/>
                </a:ext>
              </a:extLst>
            </p:cNvPr>
            <p:cNvSpPr/>
            <p:nvPr/>
          </p:nvSpPr>
          <p:spPr>
            <a:xfrm>
              <a:off x="1582935" y="5805989"/>
              <a:ext cx="862737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>
              <a:spAutoFit/>
            </a:bodyPr>
            <a:lstStyle/>
            <a:p>
              <a:r>
                <a:rPr lang="en-CA" sz="1400" dirty="0">
                  <a:latin typeface="Avenir Book" panose="02000503020000020003" pitchFamily="2" charset="0"/>
                </a:rPr>
                <a:t>Input X</a:t>
              </a:r>
              <a:r>
                <a:rPr lang="en-CA" sz="1400" baseline="-25000" dirty="0">
                  <a:latin typeface="Avenir Book" panose="02000503020000020003" pitchFamily="2" charset="0"/>
                </a:rPr>
                <a:t>1</a:t>
              </a:r>
              <a:endParaRPr lang="en-US" sz="1400" baseline="-25000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20F8048-2270-2447-CE71-29F7B8DD43D8}"/>
                </a:ext>
              </a:extLst>
            </p:cNvPr>
            <p:cNvSpPr/>
            <p:nvPr/>
          </p:nvSpPr>
          <p:spPr>
            <a:xfrm>
              <a:off x="1572081" y="6325909"/>
              <a:ext cx="830677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>
              <a:spAutoFit/>
            </a:bodyPr>
            <a:lstStyle/>
            <a:p>
              <a:r>
                <a:rPr lang="en-CA" sz="1400" dirty="0">
                  <a:latin typeface="Avenir Book" panose="02000503020000020003" pitchFamily="2" charset="0"/>
                </a:rPr>
                <a:t>Input X</a:t>
              </a:r>
              <a:r>
                <a:rPr lang="en-CA" sz="1400" baseline="-25000" dirty="0">
                  <a:latin typeface="Avenir Book" panose="02000503020000020003" pitchFamily="2" charset="0"/>
                </a:rPr>
                <a:t>2</a:t>
              </a:r>
              <a:endParaRPr lang="en-US" sz="1400" baseline="-25000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BDF11EF-6799-D863-77C5-00B50FF29D29}"/>
                </a:ext>
              </a:extLst>
            </p:cNvPr>
            <p:cNvSpPr/>
            <p:nvPr/>
          </p:nvSpPr>
          <p:spPr>
            <a:xfrm>
              <a:off x="1572081" y="6834304"/>
              <a:ext cx="830677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>
              <a:spAutoFit/>
            </a:bodyPr>
            <a:lstStyle/>
            <a:p>
              <a:r>
                <a:rPr lang="en-CA" sz="1400" dirty="0">
                  <a:latin typeface="Avenir Book" panose="02000503020000020003" pitchFamily="2" charset="0"/>
                </a:rPr>
                <a:t>Input X</a:t>
              </a:r>
              <a:r>
                <a:rPr lang="en-CA" sz="1400" baseline="-25000" dirty="0">
                  <a:latin typeface="Avenir Book" panose="02000503020000020003" pitchFamily="2" charset="0"/>
                </a:rPr>
                <a:t>3</a:t>
              </a:r>
              <a:endParaRPr lang="en-US" sz="1400" baseline="-25000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4C892FC-62DF-D6E7-D986-6BCB2C48E511}"/>
                </a:ext>
              </a:extLst>
            </p:cNvPr>
            <p:cNvSpPr/>
            <p:nvPr/>
          </p:nvSpPr>
          <p:spPr>
            <a:xfrm>
              <a:off x="1582934" y="7348082"/>
              <a:ext cx="830677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>
              <a:spAutoFit/>
            </a:bodyPr>
            <a:lstStyle/>
            <a:p>
              <a:r>
                <a:rPr lang="en-CA" sz="1400" dirty="0">
                  <a:latin typeface="Avenir Book" panose="02000503020000020003" pitchFamily="2" charset="0"/>
                </a:rPr>
                <a:t>Input X</a:t>
              </a:r>
              <a:r>
                <a:rPr lang="en-CA" sz="1400" baseline="-25000" dirty="0">
                  <a:latin typeface="Avenir Book" panose="02000503020000020003" pitchFamily="2" charset="0"/>
                </a:rPr>
                <a:t>4</a:t>
              </a:r>
              <a:endParaRPr lang="en-US" sz="1400" baseline="-25000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9DB5290-C1EA-DD64-B8F7-4B0F639221A9}"/>
              </a:ext>
            </a:extLst>
          </p:cNvPr>
          <p:cNvGrpSpPr/>
          <p:nvPr/>
        </p:nvGrpSpPr>
        <p:grpSpPr>
          <a:xfrm>
            <a:off x="6313012" y="506869"/>
            <a:ext cx="5197034" cy="3355248"/>
            <a:chOff x="6725988" y="1719980"/>
            <a:chExt cx="4418576" cy="2852670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FAD60B8E-8A82-19E1-7C51-3C8773094B40}"/>
                </a:ext>
              </a:extLst>
            </p:cNvPr>
            <p:cNvGrpSpPr/>
            <p:nvPr/>
          </p:nvGrpSpPr>
          <p:grpSpPr>
            <a:xfrm>
              <a:off x="6725988" y="1719980"/>
              <a:ext cx="4418576" cy="2852670"/>
              <a:chOff x="6725988" y="1397080"/>
              <a:chExt cx="4418576" cy="2852670"/>
            </a:xfrm>
          </p:grpSpPr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791418F6-FC41-701A-079D-4A682E80D10F}"/>
                  </a:ext>
                </a:extLst>
              </p:cNvPr>
              <p:cNvGrpSpPr/>
              <p:nvPr/>
            </p:nvGrpSpPr>
            <p:grpSpPr>
              <a:xfrm>
                <a:off x="6725988" y="1397080"/>
                <a:ext cx="3610687" cy="2852670"/>
                <a:chOff x="1314629" y="1594324"/>
                <a:chExt cx="4063595" cy="3210500"/>
              </a:xfrm>
            </p:grpSpPr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25592B3E-D4EA-A3B9-376F-F72E53B56AEA}"/>
                    </a:ext>
                  </a:extLst>
                </p:cNvPr>
                <p:cNvSpPr/>
                <p:nvPr/>
              </p:nvSpPr>
              <p:spPr>
                <a:xfrm>
                  <a:off x="2245496" y="2343382"/>
                  <a:ext cx="423979" cy="423979"/>
                </a:xfrm>
                <a:prstGeom prst="ellipse">
                  <a:avLst/>
                </a:prstGeom>
                <a:solidFill>
                  <a:srgbClr val="008F00">
                    <a:alpha val="55294"/>
                  </a:srgbClr>
                </a:solidFill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3" name="Oval 32">
                  <a:extLst>
                    <a:ext uri="{FF2B5EF4-FFF2-40B4-BE49-F238E27FC236}">
                      <a16:creationId xmlns:a16="http://schemas.microsoft.com/office/drawing/2014/main" id="{0EA8F530-470A-5F63-417D-17120C7461CC}"/>
                    </a:ext>
                  </a:extLst>
                </p:cNvPr>
                <p:cNvSpPr/>
                <p:nvPr/>
              </p:nvSpPr>
              <p:spPr>
                <a:xfrm>
                  <a:off x="3754582" y="3173213"/>
                  <a:ext cx="512618" cy="512618"/>
                </a:xfrm>
                <a:prstGeom prst="ellipse">
                  <a:avLst/>
                </a:prstGeom>
                <a:solidFill>
                  <a:srgbClr val="FF7E79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cxnSp>
              <p:nvCxnSpPr>
                <p:cNvPr id="34" name="Straight Arrow Connector 33">
                  <a:extLst>
                    <a:ext uri="{FF2B5EF4-FFF2-40B4-BE49-F238E27FC236}">
                      <a16:creationId xmlns:a16="http://schemas.microsoft.com/office/drawing/2014/main" id="{D9E7F739-7586-734B-0625-A0F016B69A12}"/>
                    </a:ext>
                  </a:extLst>
                </p:cNvPr>
                <p:cNvCxnSpPr>
                  <a:cxnSpLocks/>
                  <a:stCxn id="32" idx="6"/>
                  <a:endCxn id="33" idx="1"/>
                </p:cNvCxnSpPr>
                <p:nvPr/>
              </p:nvCxnSpPr>
              <p:spPr>
                <a:xfrm>
                  <a:off x="2669474" y="2555371"/>
                  <a:ext cx="1160179" cy="692912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6"/>
                </a:lnRef>
                <a:fillRef idx="0">
                  <a:schemeClr val="accent6"/>
                </a:fillRef>
                <a:effectRef idx="0">
                  <a:schemeClr val="accent6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Arrow Connector 34">
                  <a:extLst>
                    <a:ext uri="{FF2B5EF4-FFF2-40B4-BE49-F238E27FC236}">
                      <a16:creationId xmlns:a16="http://schemas.microsoft.com/office/drawing/2014/main" id="{13CFBC12-AD0A-22B1-0FD9-B2E7A5216783}"/>
                    </a:ext>
                  </a:extLst>
                </p:cNvPr>
                <p:cNvCxnSpPr>
                  <a:cxnSpLocks/>
                  <a:stCxn id="25" idx="6"/>
                </p:cNvCxnSpPr>
                <p:nvPr/>
              </p:nvCxnSpPr>
              <p:spPr>
                <a:xfrm>
                  <a:off x="2665058" y="3217532"/>
                  <a:ext cx="1089523" cy="156827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6"/>
                </a:lnRef>
                <a:fillRef idx="0">
                  <a:schemeClr val="accent6"/>
                </a:fillRef>
                <a:effectRef idx="0">
                  <a:schemeClr val="accent6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Straight Arrow Connector 35">
                  <a:extLst>
                    <a:ext uri="{FF2B5EF4-FFF2-40B4-BE49-F238E27FC236}">
                      <a16:creationId xmlns:a16="http://schemas.microsoft.com/office/drawing/2014/main" id="{021E315B-0D08-547A-878E-7136F63F0540}"/>
                    </a:ext>
                  </a:extLst>
                </p:cNvPr>
                <p:cNvCxnSpPr>
                  <a:cxnSpLocks/>
                  <a:stCxn id="26" idx="6"/>
                </p:cNvCxnSpPr>
                <p:nvPr/>
              </p:nvCxnSpPr>
              <p:spPr>
                <a:xfrm flipV="1">
                  <a:off x="2677354" y="3508845"/>
                  <a:ext cx="1077227" cy="338333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6"/>
                </a:lnRef>
                <a:fillRef idx="0">
                  <a:schemeClr val="accent6"/>
                </a:fillRef>
                <a:effectRef idx="0">
                  <a:schemeClr val="accent6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Arrow Connector 36">
                  <a:extLst>
                    <a:ext uri="{FF2B5EF4-FFF2-40B4-BE49-F238E27FC236}">
                      <a16:creationId xmlns:a16="http://schemas.microsoft.com/office/drawing/2014/main" id="{1BDF9E21-3047-2F6C-5554-2372C6A7CA78}"/>
                    </a:ext>
                  </a:extLst>
                </p:cNvPr>
                <p:cNvCxnSpPr>
                  <a:cxnSpLocks/>
                  <a:stCxn id="27" idx="6"/>
                  <a:endCxn id="33" idx="3"/>
                </p:cNvCxnSpPr>
                <p:nvPr/>
              </p:nvCxnSpPr>
              <p:spPr>
                <a:xfrm flipV="1">
                  <a:off x="2677354" y="3610760"/>
                  <a:ext cx="1152300" cy="858109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6"/>
                </a:lnRef>
                <a:fillRef idx="0">
                  <a:schemeClr val="accent6"/>
                </a:fillRef>
                <a:effectRef idx="0">
                  <a:schemeClr val="accent6"/>
                </a:effectRef>
                <a:fontRef idx="minor">
                  <a:schemeClr val="tx1"/>
                </a:fontRef>
              </p:style>
            </p:cxnSp>
            <p:sp>
              <p:nvSpPr>
                <p:cNvPr id="38" name="Rectangle 37">
                  <a:extLst>
                    <a:ext uri="{FF2B5EF4-FFF2-40B4-BE49-F238E27FC236}">
                      <a16:creationId xmlns:a16="http://schemas.microsoft.com/office/drawing/2014/main" id="{8B01CA5E-468A-32C7-B008-9E690DF17631}"/>
                    </a:ext>
                  </a:extLst>
                </p:cNvPr>
                <p:cNvSpPr/>
                <p:nvPr/>
              </p:nvSpPr>
              <p:spPr>
                <a:xfrm>
                  <a:off x="1337532" y="2299258"/>
                  <a:ext cx="970955" cy="34638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CA" sz="1400" dirty="0">
                      <a:latin typeface="Avenir Book" panose="02000503020000020003" pitchFamily="2" charset="0"/>
                    </a:rPr>
                    <a:t>Input X</a:t>
                  </a:r>
                  <a:r>
                    <a:rPr lang="en-CA" sz="1400" baseline="-25000" dirty="0">
                      <a:latin typeface="Avenir Book" panose="02000503020000020003" pitchFamily="2" charset="0"/>
                    </a:rPr>
                    <a:t>1</a:t>
                  </a:r>
                  <a:endParaRPr lang="en-US" sz="1400" baseline="-25000" dirty="0"/>
                </a:p>
              </p:txBody>
            </p:sp>
            <p:sp>
              <p:nvSpPr>
                <p:cNvPr id="39" name="Rectangle 38">
                  <a:extLst>
                    <a:ext uri="{FF2B5EF4-FFF2-40B4-BE49-F238E27FC236}">
                      <a16:creationId xmlns:a16="http://schemas.microsoft.com/office/drawing/2014/main" id="{5F954212-E8DE-C4E9-9427-07B8E846DECC}"/>
                    </a:ext>
                  </a:extLst>
                </p:cNvPr>
                <p:cNvSpPr/>
                <p:nvPr/>
              </p:nvSpPr>
              <p:spPr>
                <a:xfrm>
                  <a:off x="1314629" y="2993114"/>
                  <a:ext cx="970955" cy="34638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CA" sz="1400" dirty="0">
                      <a:latin typeface="Avenir Book" panose="02000503020000020003" pitchFamily="2" charset="0"/>
                    </a:rPr>
                    <a:t>Input X</a:t>
                  </a:r>
                  <a:r>
                    <a:rPr lang="en-CA" sz="1400" baseline="-25000" dirty="0">
                      <a:latin typeface="Avenir Book" panose="02000503020000020003" pitchFamily="2" charset="0"/>
                    </a:rPr>
                    <a:t>2</a:t>
                  </a:r>
                  <a:endParaRPr lang="en-US" sz="1400" baseline="-25000" dirty="0"/>
                </a:p>
              </p:txBody>
            </p:sp>
            <p:sp>
              <p:nvSpPr>
                <p:cNvPr id="40" name="Rectangle 39">
                  <a:extLst>
                    <a:ext uri="{FF2B5EF4-FFF2-40B4-BE49-F238E27FC236}">
                      <a16:creationId xmlns:a16="http://schemas.microsoft.com/office/drawing/2014/main" id="{F4A0244B-94A7-DA41-D4DE-7A3983333279}"/>
                    </a:ext>
                  </a:extLst>
                </p:cNvPr>
                <p:cNvSpPr/>
                <p:nvPr/>
              </p:nvSpPr>
              <p:spPr>
                <a:xfrm>
                  <a:off x="1314943" y="3724371"/>
                  <a:ext cx="970955" cy="34638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CA" sz="1400" dirty="0">
                      <a:latin typeface="Avenir Book" panose="02000503020000020003" pitchFamily="2" charset="0"/>
                    </a:rPr>
                    <a:t>Input X</a:t>
                  </a:r>
                  <a:r>
                    <a:rPr lang="en-CA" sz="1400" baseline="-25000" dirty="0">
                      <a:latin typeface="Avenir Book" panose="02000503020000020003" pitchFamily="2" charset="0"/>
                    </a:rPr>
                    <a:t>3</a:t>
                  </a:r>
                  <a:endParaRPr lang="en-US" sz="1400" baseline="-25000" dirty="0"/>
                </a:p>
              </p:txBody>
            </p:sp>
            <p:sp>
              <p:nvSpPr>
                <p:cNvPr id="41" name="Rectangle 40">
                  <a:extLst>
                    <a:ext uri="{FF2B5EF4-FFF2-40B4-BE49-F238E27FC236}">
                      <a16:creationId xmlns:a16="http://schemas.microsoft.com/office/drawing/2014/main" id="{D1DF6938-AED4-FDC7-47D5-34445C30A466}"/>
                    </a:ext>
                  </a:extLst>
                </p:cNvPr>
                <p:cNvSpPr/>
                <p:nvPr/>
              </p:nvSpPr>
              <p:spPr>
                <a:xfrm>
                  <a:off x="1314943" y="4458440"/>
                  <a:ext cx="970955" cy="34638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CA" sz="1400" dirty="0">
                      <a:latin typeface="Avenir Book" panose="02000503020000020003" pitchFamily="2" charset="0"/>
                    </a:rPr>
                    <a:t>Input X</a:t>
                  </a:r>
                  <a:r>
                    <a:rPr lang="en-CA" sz="1400" baseline="-25000" dirty="0">
                      <a:latin typeface="Avenir Book" panose="02000503020000020003" pitchFamily="2" charset="0"/>
                    </a:rPr>
                    <a:t>4</a:t>
                  </a:r>
                  <a:endParaRPr lang="en-US" sz="1400" baseline="-25000" dirty="0"/>
                </a:p>
              </p:txBody>
            </p:sp>
            <p:sp>
              <p:nvSpPr>
                <p:cNvPr id="42" name="Rectangle 41">
                  <a:extLst>
                    <a:ext uri="{FF2B5EF4-FFF2-40B4-BE49-F238E27FC236}">
                      <a16:creationId xmlns:a16="http://schemas.microsoft.com/office/drawing/2014/main" id="{9D821090-FE25-BE75-5F6C-90A68C488258}"/>
                    </a:ext>
                  </a:extLst>
                </p:cNvPr>
                <p:cNvSpPr/>
                <p:nvPr/>
              </p:nvSpPr>
              <p:spPr>
                <a:xfrm>
                  <a:off x="4618080" y="3201069"/>
                  <a:ext cx="760144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CA" sz="1400" dirty="0">
                      <a:latin typeface="Avenir Book" panose="02000503020000020003" pitchFamily="2" charset="0"/>
                    </a:rPr>
                    <a:t>Output</a:t>
                  </a:r>
                  <a:endParaRPr lang="en-US" sz="1400" dirty="0"/>
                </a:p>
              </p:txBody>
            </p:sp>
            <p:sp>
              <p:nvSpPr>
                <p:cNvPr id="43" name="Rectangle 42">
                  <a:extLst>
                    <a:ext uri="{FF2B5EF4-FFF2-40B4-BE49-F238E27FC236}">
                      <a16:creationId xmlns:a16="http://schemas.microsoft.com/office/drawing/2014/main" id="{BD0BA482-AB89-57C6-C176-2C663F28D66A}"/>
                    </a:ext>
                  </a:extLst>
                </p:cNvPr>
                <p:cNvSpPr/>
                <p:nvPr/>
              </p:nvSpPr>
              <p:spPr>
                <a:xfrm>
                  <a:off x="2061479" y="1594324"/>
                  <a:ext cx="615874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CA" sz="1400" dirty="0">
                      <a:latin typeface="Avenir Book" panose="02000503020000020003" pitchFamily="2" charset="0"/>
                    </a:rPr>
                    <a:t>Input</a:t>
                  </a:r>
                </a:p>
                <a:p>
                  <a:r>
                    <a:rPr lang="en-CA" sz="1400" dirty="0">
                      <a:latin typeface="Avenir Book" panose="02000503020000020003" pitchFamily="2" charset="0"/>
                    </a:rPr>
                    <a:t> layer</a:t>
                  </a:r>
                  <a:endParaRPr lang="en-US" sz="1400" dirty="0"/>
                </a:p>
              </p:txBody>
            </p:sp>
            <p:sp>
              <p:nvSpPr>
                <p:cNvPr id="44" name="Rectangle 43">
                  <a:extLst>
                    <a:ext uri="{FF2B5EF4-FFF2-40B4-BE49-F238E27FC236}">
                      <a16:creationId xmlns:a16="http://schemas.microsoft.com/office/drawing/2014/main" id="{449A4062-AE70-415A-442C-1DB27A171BD5}"/>
                    </a:ext>
                  </a:extLst>
                </p:cNvPr>
                <p:cNvSpPr/>
                <p:nvPr/>
              </p:nvSpPr>
              <p:spPr>
                <a:xfrm>
                  <a:off x="3573655" y="1627332"/>
                  <a:ext cx="760144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CA" sz="1400" dirty="0">
                      <a:latin typeface="Avenir Book" panose="02000503020000020003" pitchFamily="2" charset="0"/>
                    </a:rPr>
                    <a:t>Output</a:t>
                  </a:r>
                </a:p>
                <a:p>
                  <a:r>
                    <a:rPr lang="en-CA" sz="1400" dirty="0">
                      <a:latin typeface="Avenir Book" panose="02000503020000020003" pitchFamily="2" charset="0"/>
                    </a:rPr>
                    <a:t> layer</a:t>
                  </a:r>
                  <a:endParaRPr lang="en-US" sz="1400" dirty="0"/>
                </a:p>
              </p:txBody>
            </p:sp>
          </p:grp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678EBBA0-38D3-D189-DA44-8D7647E7D588}"/>
                  </a:ext>
                </a:extLst>
              </p:cNvPr>
              <p:cNvSpPr/>
              <p:nvPr/>
            </p:nvSpPr>
            <p:spPr>
              <a:xfrm>
                <a:off x="9954238" y="1929506"/>
                <a:ext cx="1190326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CA" sz="1600" b="1" dirty="0">
                    <a:latin typeface="Avenir Book" panose="02000503020000020003" pitchFamily="2" charset="0"/>
                  </a:rPr>
                  <a:t>Perceptron</a:t>
                </a:r>
                <a:endParaRPr lang="en-US" sz="1800" b="1" dirty="0"/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5ABAB2D7-5055-EFE5-F8A3-BC7DA45EDE92}"/>
                  </a:ext>
                </a:extLst>
              </p:cNvPr>
              <p:cNvSpPr/>
              <p:nvPr/>
            </p:nvSpPr>
            <p:spPr>
              <a:xfrm>
                <a:off x="7549181" y="2651010"/>
                <a:ext cx="376724" cy="376724"/>
              </a:xfrm>
              <a:prstGeom prst="ellipse">
                <a:avLst/>
              </a:prstGeom>
              <a:solidFill>
                <a:srgbClr val="008F00">
                  <a:alpha val="55294"/>
                </a:srgbClr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391285FA-530D-0FA2-8BEF-8C91A38B5A4F}"/>
                  </a:ext>
                </a:extLst>
              </p:cNvPr>
              <p:cNvSpPr/>
              <p:nvPr/>
            </p:nvSpPr>
            <p:spPr>
              <a:xfrm>
                <a:off x="7560106" y="3210478"/>
                <a:ext cx="376724" cy="376724"/>
              </a:xfrm>
              <a:prstGeom prst="ellipse">
                <a:avLst/>
              </a:prstGeom>
              <a:solidFill>
                <a:srgbClr val="008F00">
                  <a:alpha val="55294"/>
                </a:srgbClr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3C747549-DB02-420A-B536-23B9DFDF65CD}"/>
                  </a:ext>
                </a:extLst>
              </p:cNvPr>
              <p:cNvSpPr/>
              <p:nvPr/>
            </p:nvSpPr>
            <p:spPr>
              <a:xfrm>
                <a:off x="7560106" y="3762878"/>
                <a:ext cx="376724" cy="376724"/>
              </a:xfrm>
              <a:prstGeom prst="ellipse">
                <a:avLst/>
              </a:prstGeom>
              <a:solidFill>
                <a:srgbClr val="008F00">
                  <a:alpha val="55294"/>
                </a:srgbClr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CF98F263-1405-DE7F-5F1D-C067928E250C}"/>
                  </a:ext>
                </a:extLst>
              </p:cNvPr>
              <p:cNvSpPr/>
              <p:nvPr/>
            </p:nvSpPr>
            <p:spPr>
              <a:xfrm>
                <a:off x="8161795" y="2267030"/>
                <a:ext cx="407484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CA" sz="1600" dirty="0">
                    <a:latin typeface="Avenir Book" panose="02000503020000020003" pitchFamily="2" charset="0"/>
                  </a:rPr>
                  <a:t>w</a:t>
                </a:r>
                <a:r>
                  <a:rPr lang="en-CA" sz="1600" baseline="-25000" dirty="0">
                    <a:latin typeface="Avenir Book" panose="02000503020000020003" pitchFamily="2" charset="0"/>
                  </a:rPr>
                  <a:t>1</a:t>
                </a:r>
                <a:endParaRPr lang="en-US" sz="1600" baseline="-25000" dirty="0"/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B3C52706-EA83-36BF-274B-F398963706C6}"/>
                  </a:ext>
                </a:extLst>
              </p:cNvPr>
              <p:cNvSpPr/>
              <p:nvPr/>
            </p:nvSpPr>
            <p:spPr>
              <a:xfrm>
                <a:off x="8161795" y="2710349"/>
                <a:ext cx="407484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CA" sz="1600" dirty="0">
                    <a:latin typeface="Avenir Book" panose="02000503020000020003" pitchFamily="2" charset="0"/>
                  </a:rPr>
                  <a:t>w</a:t>
                </a:r>
                <a:r>
                  <a:rPr lang="en-CA" sz="1600" baseline="-25000" dirty="0">
                    <a:latin typeface="Avenir Book" panose="02000503020000020003" pitchFamily="2" charset="0"/>
                  </a:rPr>
                  <a:t>2</a:t>
                </a:r>
                <a:endParaRPr lang="en-US" sz="1600" baseline="-25000" dirty="0"/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CD03E19F-A354-2A12-32D2-CD9723D1B903}"/>
                  </a:ext>
                </a:extLst>
              </p:cNvPr>
              <p:cNvSpPr/>
              <p:nvPr/>
            </p:nvSpPr>
            <p:spPr>
              <a:xfrm>
                <a:off x="8174739" y="3085559"/>
                <a:ext cx="407484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CA" sz="1600" dirty="0">
                    <a:latin typeface="Avenir Book" panose="02000503020000020003" pitchFamily="2" charset="0"/>
                  </a:rPr>
                  <a:t>w</a:t>
                </a:r>
                <a:r>
                  <a:rPr lang="en-CA" sz="1600" baseline="-25000" dirty="0">
                    <a:latin typeface="Avenir Book" panose="02000503020000020003" pitchFamily="2" charset="0"/>
                  </a:rPr>
                  <a:t>3</a:t>
                </a:r>
                <a:endParaRPr lang="en-US" sz="1600" baseline="-25000" dirty="0"/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36FA09FD-4C9F-73B4-FB42-EB01C8EF0F43}"/>
                  </a:ext>
                </a:extLst>
              </p:cNvPr>
              <p:cNvSpPr/>
              <p:nvPr/>
            </p:nvSpPr>
            <p:spPr>
              <a:xfrm>
                <a:off x="8160662" y="3507517"/>
                <a:ext cx="407484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CA" sz="1600" dirty="0">
                    <a:latin typeface="Avenir Book" panose="02000503020000020003" pitchFamily="2" charset="0"/>
                  </a:rPr>
                  <a:t>w</a:t>
                </a:r>
                <a:r>
                  <a:rPr lang="en-CA" sz="1600" baseline="-25000" dirty="0">
                    <a:latin typeface="Avenir Book" panose="02000503020000020003" pitchFamily="2" charset="0"/>
                  </a:rPr>
                  <a:t>4</a:t>
                </a:r>
                <a:endParaRPr lang="en-US" sz="1600" baseline="-25000" dirty="0"/>
              </a:p>
            </p:txBody>
          </p:sp>
        </p:grp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49AF5373-AA61-EA44-1A8A-91F53748F264}"/>
                </a:ext>
              </a:extLst>
            </p:cNvPr>
            <p:cNvCxnSpPr>
              <a:stCxn id="33" idx="6"/>
            </p:cNvCxnSpPr>
            <p:nvPr/>
          </p:nvCxnSpPr>
          <p:spPr>
            <a:xfrm>
              <a:off x="9349480" y="3350634"/>
              <a:ext cx="31177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70364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D19238-7FEE-346E-EB11-287810F8C160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9</a:t>
            </a:fld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D4712C6-D5A5-CF2B-0620-476E28AFEF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4736941"/>
              </p:ext>
            </p:extLst>
          </p:nvPr>
        </p:nvGraphicFramePr>
        <p:xfrm>
          <a:off x="3279926" y="2118101"/>
          <a:ext cx="5555897" cy="3469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9060">
                  <a:extLst>
                    <a:ext uri="{9D8B030D-6E8A-4147-A177-3AD203B41FA5}">
                      <a16:colId xmlns:a16="http://schemas.microsoft.com/office/drawing/2014/main" val="909159175"/>
                    </a:ext>
                  </a:extLst>
                </a:gridCol>
                <a:gridCol w="1541739">
                  <a:extLst>
                    <a:ext uri="{9D8B030D-6E8A-4147-A177-3AD203B41FA5}">
                      <a16:colId xmlns:a16="http://schemas.microsoft.com/office/drawing/2014/main" val="3087242691"/>
                    </a:ext>
                  </a:extLst>
                </a:gridCol>
                <a:gridCol w="2715098">
                  <a:extLst>
                    <a:ext uri="{9D8B030D-6E8A-4147-A177-3AD203B41FA5}">
                      <a16:colId xmlns:a16="http://schemas.microsoft.com/office/drawing/2014/main" val="2772234662"/>
                    </a:ext>
                  </a:extLst>
                </a:gridCol>
              </a:tblGrid>
              <a:tr h="808533">
                <a:tc>
                  <a:txBody>
                    <a:bodyPr/>
                    <a:lstStyle/>
                    <a:p>
                      <a:r>
                        <a:rPr lang="en-CA" sz="1800" b="0" i="0" dirty="0">
                          <a:latin typeface="Avenir Book" panose="02000503020000020003" pitchFamily="2" charset="0"/>
                        </a:rPr>
                        <a:t># Apples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r>
                        <a:rPr lang="en-CA" sz="1800" b="0" i="0" dirty="0">
                          <a:latin typeface="Avenir Book" panose="02000503020000020003" pitchFamily="2" charset="0"/>
                        </a:rPr>
                        <a:t># Oranges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r>
                        <a:rPr lang="en-CA" sz="1800" b="0" i="0" dirty="0">
                          <a:latin typeface="Avenir Book" panose="02000503020000020003" pitchFamily="2" charset="0"/>
                        </a:rPr>
                        <a:t>Total Cart Value</a:t>
                      </a:r>
                    </a:p>
                    <a:p>
                      <a:r>
                        <a:rPr lang="en-CA" sz="1800" b="0" i="0" dirty="0">
                          <a:latin typeface="Avenir Book" panose="02000503020000020003" pitchFamily="2" charset="0"/>
                        </a:rPr>
                        <a:t>(Target Variable Y)</a:t>
                      </a:r>
                    </a:p>
                  </a:txBody>
                  <a:tcPr marL="121920" marR="121920" marT="60960" marB="60960" anchor="ctr"/>
                </a:tc>
                <a:extLst>
                  <a:ext uri="{0D108BD9-81ED-4DB2-BD59-A6C34878D82A}">
                    <a16:rowId xmlns:a16="http://schemas.microsoft.com/office/drawing/2014/main" val="1117479884"/>
                  </a:ext>
                </a:extLst>
              </a:tr>
              <a:tr h="543921">
                <a:tc>
                  <a:txBody>
                    <a:bodyPr/>
                    <a:lstStyle/>
                    <a:p>
                      <a:pPr algn="l"/>
                      <a:r>
                        <a:rPr lang="en-CA" sz="2400" b="0" i="0" dirty="0">
                          <a:latin typeface="Avenir Book" panose="02000503020000020003" pitchFamily="2" charset="0"/>
                        </a:rPr>
                        <a:t>2</a:t>
                      </a:r>
                      <a:r>
                        <a:rPr lang="en-CA" sz="2000" b="0" i="0" dirty="0">
                          <a:solidFill>
                            <a:srgbClr val="C00000"/>
                          </a:solidFill>
                          <a:latin typeface="Avenir Book" panose="02000503020000020003" pitchFamily="2" charset="0"/>
                        </a:rPr>
                        <a:t>w</a:t>
                      </a:r>
                      <a:r>
                        <a:rPr lang="en-CA" sz="2000" b="0" i="0" baseline="-25000" dirty="0">
                          <a:solidFill>
                            <a:srgbClr val="C00000"/>
                          </a:solidFill>
                          <a:latin typeface="Avenir Book" panose="02000503020000020003" pitchFamily="2" charset="0"/>
                        </a:rPr>
                        <a:t>1</a:t>
                      </a:r>
                      <a:endParaRPr lang="en-CA" sz="2400" b="0" i="0" dirty="0">
                        <a:solidFill>
                          <a:srgbClr val="FF0000"/>
                        </a:solidFill>
                        <a:latin typeface="Avenir Book" panose="02000503020000020003" pitchFamily="2" charset="0"/>
                      </a:endParaRP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CA" sz="2400" b="0" i="0" dirty="0">
                          <a:latin typeface="Avenir Book" panose="02000503020000020003" pitchFamily="2" charset="0"/>
                        </a:rPr>
                        <a:t>6</a:t>
                      </a:r>
                      <a:r>
                        <a:rPr lang="en-CA" sz="2000" b="0" i="0" dirty="0">
                          <a:solidFill>
                            <a:srgbClr val="C00000"/>
                          </a:solidFill>
                          <a:latin typeface="Avenir Book" panose="02000503020000020003" pitchFamily="2" charset="0"/>
                        </a:rPr>
                        <a:t>w</a:t>
                      </a:r>
                      <a:r>
                        <a:rPr lang="en-CA" sz="2000" b="0" i="0" baseline="-25000" dirty="0">
                          <a:solidFill>
                            <a:srgbClr val="C00000"/>
                          </a:solidFill>
                          <a:latin typeface="Avenir Book" panose="02000503020000020003" pitchFamily="2" charset="0"/>
                        </a:rPr>
                        <a:t>2</a:t>
                      </a:r>
                      <a:endParaRPr lang="en-CA" sz="2000" b="0" i="0" kern="1200" dirty="0">
                        <a:solidFill>
                          <a:srgbClr val="FF0000"/>
                        </a:solidFill>
                        <a:latin typeface="Avenir Book" panose="02000503020000020003" pitchFamily="2" charset="0"/>
                        <a:ea typeface="+mn-ea"/>
                        <a:cs typeface="+mn-cs"/>
                      </a:endParaRP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CA" sz="2400" b="0" i="0" dirty="0">
                          <a:latin typeface="Avenir Book" panose="02000503020000020003" pitchFamily="2" charset="0"/>
                        </a:rPr>
                        <a:t>$15</a:t>
                      </a:r>
                    </a:p>
                  </a:txBody>
                  <a:tcPr marL="121920" marR="121920" marT="60960" marB="60960" anchor="ctr"/>
                </a:tc>
                <a:extLst>
                  <a:ext uri="{0D108BD9-81ED-4DB2-BD59-A6C34878D82A}">
                    <a16:rowId xmlns:a16="http://schemas.microsoft.com/office/drawing/2014/main" val="1856107051"/>
                  </a:ext>
                </a:extLst>
              </a:tr>
              <a:tr h="543921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CA" sz="2400" b="0" i="0" dirty="0">
                          <a:latin typeface="Avenir Book" panose="02000503020000020003" pitchFamily="2" charset="0"/>
                        </a:rPr>
                        <a:t>3</a:t>
                      </a:r>
                      <a:r>
                        <a:rPr lang="en-CA" sz="2000" b="0" i="0" dirty="0">
                          <a:solidFill>
                            <a:srgbClr val="C00000"/>
                          </a:solidFill>
                          <a:latin typeface="Avenir Book" panose="02000503020000020003" pitchFamily="2" charset="0"/>
                        </a:rPr>
                        <a:t>w</a:t>
                      </a:r>
                      <a:r>
                        <a:rPr lang="en-CA" sz="2000" b="0" i="0" baseline="-25000" dirty="0">
                          <a:solidFill>
                            <a:srgbClr val="C00000"/>
                          </a:solidFill>
                          <a:latin typeface="Avenir Book" panose="02000503020000020003" pitchFamily="2" charset="0"/>
                        </a:rPr>
                        <a:t>1</a:t>
                      </a:r>
                      <a:endParaRPr lang="en-CA" sz="2400" b="0" i="0" kern="1200" dirty="0">
                        <a:solidFill>
                          <a:srgbClr val="C00000"/>
                        </a:solidFill>
                        <a:latin typeface="Avenir Book" panose="02000503020000020003" pitchFamily="2" charset="0"/>
                        <a:ea typeface="+mn-ea"/>
                        <a:cs typeface="+mn-cs"/>
                      </a:endParaRP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2400" b="0" i="0" dirty="0">
                          <a:latin typeface="Avenir Book" panose="02000503020000020003" pitchFamily="2" charset="0"/>
                        </a:rPr>
                        <a:t>5</a:t>
                      </a:r>
                      <a:r>
                        <a:rPr lang="en-CA" sz="2000" b="0" i="0" dirty="0">
                          <a:solidFill>
                            <a:srgbClr val="C00000"/>
                          </a:solidFill>
                          <a:latin typeface="Avenir Book" panose="02000503020000020003" pitchFamily="2" charset="0"/>
                        </a:rPr>
                        <a:t>w</a:t>
                      </a:r>
                      <a:r>
                        <a:rPr lang="en-CA" sz="2000" b="0" i="0" baseline="-25000" dirty="0">
                          <a:solidFill>
                            <a:srgbClr val="C00000"/>
                          </a:solidFill>
                          <a:latin typeface="Avenir Book" panose="02000503020000020003" pitchFamily="2" charset="0"/>
                        </a:rPr>
                        <a:t>2</a:t>
                      </a:r>
                      <a:endParaRPr lang="en-CA" sz="2400" b="0" i="0" kern="1200" dirty="0">
                        <a:solidFill>
                          <a:srgbClr val="FF0000"/>
                        </a:solidFill>
                        <a:latin typeface="Avenir Book" panose="02000503020000020003" pitchFamily="2" charset="0"/>
                        <a:ea typeface="+mn-ea"/>
                        <a:cs typeface="+mn-cs"/>
                      </a:endParaRP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CA" sz="2400" b="0" i="0" dirty="0">
                          <a:latin typeface="Avenir Book" panose="02000503020000020003" pitchFamily="2" charset="0"/>
                        </a:rPr>
                        <a:t>$13</a:t>
                      </a:r>
                    </a:p>
                  </a:txBody>
                  <a:tcPr marL="121920" marR="121920" marT="60960" marB="60960" anchor="ctr"/>
                </a:tc>
                <a:extLst>
                  <a:ext uri="{0D108BD9-81ED-4DB2-BD59-A6C34878D82A}">
                    <a16:rowId xmlns:a16="http://schemas.microsoft.com/office/drawing/2014/main" val="4148409839"/>
                  </a:ext>
                </a:extLst>
              </a:tr>
              <a:tr h="543921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CA" sz="2400" b="0" i="0" dirty="0">
                          <a:latin typeface="Avenir Book" panose="02000503020000020003" pitchFamily="2" charset="0"/>
                        </a:rPr>
                        <a:t>5</a:t>
                      </a:r>
                      <a:r>
                        <a:rPr lang="en-CA" sz="2000" b="0" i="0" dirty="0">
                          <a:solidFill>
                            <a:srgbClr val="C00000"/>
                          </a:solidFill>
                          <a:latin typeface="Avenir Book" panose="02000503020000020003" pitchFamily="2" charset="0"/>
                        </a:rPr>
                        <a:t>w</a:t>
                      </a:r>
                      <a:r>
                        <a:rPr lang="en-CA" sz="2000" b="0" i="0" baseline="-25000" dirty="0">
                          <a:solidFill>
                            <a:srgbClr val="C00000"/>
                          </a:solidFill>
                          <a:latin typeface="Avenir Book" panose="02000503020000020003" pitchFamily="2" charset="0"/>
                        </a:rPr>
                        <a:t>1</a:t>
                      </a:r>
                      <a:endParaRPr lang="en-CA" sz="2400" b="0" i="0" kern="1200" dirty="0">
                        <a:solidFill>
                          <a:srgbClr val="C00000"/>
                        </a:solidFill>
                        <a:latin typeface="Avenir Book" panose="02000503020000020003" pitchFamily="2" charset="0"/>
                        <a:ea typeface="+mn-ea"/>
                        <a:cs typeface="+mn-cs"/>
                      </a:endParaRPr>
                    </a:p>
                  </a:txBody>
                  <a:tcPr marL="121920" marR="121920" marT="60960" marB="60960" anchor="ctr"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2400" b="0" i="0" dirty="0">
                          <a:latin typeface="Avenir Book" panose="02000503020000020003" pitchFamily="2" charset="0"/>
                        </a:rPr>
                        <a:t>1</a:t>
                      </a:r>
                      <a:r>
                        <a:rPr lang="en-CA" sz="2000" b="0" i="0" dirty="0">
                          <a:solidFill>
                            <a:srgbClr val="C00000"/>
                          </a:solidFill>
                          <a:latin typeface="Avenir Book" panose="02000503020000020003" pitchFamily="2" charset="0"/>
                        </a:rPr>
                        <a:t>w</a:t>
                      </a:r>
                      <a:r>
                        <a:rPr lang="en-CA" sz="2000" b="0" i="0" baseline="-25000" dirty="0">
                          <a:solidFill>
                            <a:srgbClr val="C00000"/>
                          </a:solidFill>
                          <a:latin typeface="Avenir Book" panose="02000503020000020003" pitchFamily="2" charset="0"/>
                        </a:rPr>
                        <a:t>2</a:t>
                      </a:r>
                      <a:endParaRPr lang="en-CA" sz="2400" b="0" i="0" kern="1200" dirty="0">
                        <a:solidFill>
                          <a:srgbClr val="FF0000"/>
                        </a:solidFill>
                        <a:latin typeface="Avenir Book" panose="02000503020000020003" pitchFamily="2" charset="0"/>
                        <a:ea typeface="+mn-ea"/>
                        <a:cs typeface="+mn-cs"/>
                      </a:endParaRPr>
                    </a:p>
                  </a:txBody>
                  <a:tcPr marL="121920" marR="121920" marT="60960" marB="60960" anchor="ctr"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CA" sz="2400" b="0" i="0" dirty="0">
                          <a:latin typeface="Avenir Book" panose="02000503020000020003" pitchFamily="2" charset="0"/>
                        </a:rPr>
                        <a:t>$14</a:t>
                      </a:r>
                    </a:p>
                  </a:txBody>
                  <a:tcPr marL="121920" marR="121920" marT="60960" marB="60960" anchor="ctr">
                    <a:lnB w="12700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7742894"/>
                  </a:ext>
                </a:extLst>
              </a:tr>
              <a:tr h="514520">
                <a:tc>
                  <a:txBody>
                    <a:bodyPr/>
                    <a:lstStyle/>
                    <a:p>
                      <a:pPr algn="l"/>
                      <a:endParaRPr lang="en-CA" sz="2400" b="0" i="0" dirty="0">
                        <a:latin typeface="Avenir Book" panose="02000503020000020003" pitchFamily="2" charset="0"/>
                      </a:endParaRPr>
                    </a:p>
                  </a:txBody>
                  <a:tcPr marL="121920" marR="121920" marT="60960" marB="6096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CA" sz="2400" b="0" i="0" dirty="0">
                        <a:latin typeface="Avenir Book" panose="02000503020000020003" pitchFamily="2" charset="0"/>
                      </a:endParaRPr>
                    </a:p>
                  </a:txBody>
                  <a:tcPr marL="121920" marR="121920" marT="60960" marB="6096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CA" sz="2400" b="0" i="0" dirty="0">
                        <a:latin typeface="Avenir Book" panose="02000503020000020003" pitchFamily="2" charset="0"/>
                      </a:endParaRPr>
                    </a:p>
                  </a:txBody>
                  <a:tcPr marL="121920" marR="121920" marT="60960" marB="6096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3379696"/>
                  </a:ext>
                </a:extLst>
              </a:tr>
              <a:tr h="514520">
                <a:tc>
                  <a:txBody>
                    <a:bodyPr/>
                    <a:lstStyle/>
                    <a:p>
                      <a:pPr algn="l"/>
                      <a:r>
                        <a:rPr lang="en-CA" sz="2400" b="0" i="0" dirty="0">
                          <a:latin typeface="Avenir Book" panose="02000503020000020003" pitchFamily="2" charset="0"/>
                        </a:rPr>
                        <a:t>5</a:t>
                      </a:r>
                      <a:endParaRPr lang="en-CA" sz="2400" b="0" i="0" dirty="0">
                        <a:solidFill>
                          <a:srgbClr val="C00000"/>
                        </a:solidFill>
                        <a:latin typeface="Avenir Book" panose="02000503020000020003" pitchFamily="2" charset="0"/>
                      </a:endParaRPr>
                    </a:p>
                  </a:txBody>
                  <a:tcPr marL="121920" marR="121920" marT="60960" marB="60960" anchor="ctr"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CA" sz="2400" b="0" i="0" dirty="0">
                          <a:latin typeface="Avenir Book" panose="02000503020000020003" pitchFamily="2" charset="0"/>
                        </a:rPr>
                        <a:t>5</a:t>
                      </a:r>
                      <a:endParaRPr lang="en-CA" sz="2400" b="0" i="0" dirty="0">
                        <a:solidFill>
                          <a:srgbClr val="C00000"/>
                        </a:solidFill>
                        <a:latin typeface="Avenir Book" panose="02000503020000020003" pitchFamily="2" charset="0"/>
                      </a:endParaRPr>
                    </a:p>
                  </a:txBody>
                  <a:tcPr marL="121920" marR="121920" marT="60960" marB="60960" anchor="ctr"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CA" sz="2400" b="0" i="0" dirty="0">
                          <a:solidFill>
                            <a:srgbClr val="C00000"/>
                          </a:solidFill>
                          <a:latin typeface="Avenir Book" panose="02000503020000020003" pitchFamily="2" charset="0"/>
                        </a:rPr>
                        <a:t>??</a:t>
                      </a:r>
                    </a:p>
                  </a:txBody>
                  <a:tcPr marL="121920" marR="121920" marT="60960" marB="60960" anchor="ctr">
                    <a:lnT w="12700" cmpd="sng"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324846802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899B9186-E02B-9268-D377-1114F9AB851C}"/>
              </a:ext>
            </a:extLst>
          </p:cNvPr>
          <p:cNvSpPr/>
          <p:nvPr/>
        </p:nvSpPr>
        <p:spPr>
          <a:xfrm>
            <a:off x="3074032" y="3007030"/>
            <a:ext cx="5876668" cy="1574157"/>
          </a:xfrm>
          <a:prstGeom prst="rect">
            <a:avLst/>
          </a:prstGeom>
          <a:solidFill>
            <a:srgbClr val="FFFF00">
              <a:alpha val="10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320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00D1D7F-B6B8-D293-148C-377F0BF05BB9}"/>
              </a:ext>
            </a:extLst>
          </p:cNvPr>
          <p:cNvGrpSpPr/>
          <p:nvPr/>
        </p:nvGrpSpPr>
        <p:grpSpPr>
          <a:xfrm>
            <a:off x="9056074" y="3007030"/>
            <a:ext cx="5278811" cy="2787671"/>
            <a:chOff x="5832165" y="2416721"/>
            <a:chExt cx="4504026" cy="2787671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B6A395D-2A97-0AA8-B06D-92C2BC435754}"/>
                </a:ext>
              </a:extLst>
            </p:cNvPr>
            <p:cNvSpPr txBox="1"/>
            <p:nvPr/>
          </p:nvSpPr>
          <p:spPr>
            <a:xfrm>
              <a:off x="5891513" y="2416721"/>
              <a:ext cx="275477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2400" dirty="0"/>
                <a:t>Training data gives </a:t>
              </a:r>
            </a:p>
            <a:p>
              <a:r>
                <a:rPr lang="en-CA" sz="2400" dirty="0">
                  <a:solidFill>
                    <a:srgbClr val="C00000"/>
                  </a:solidFill>
                </a:rPr>
                <a:t>w</a:t>
              </a:r>
              <a:r>
                <a:rPr lang="en-CA" sz="2400" baseline="-25000" dirty="0">
                  <a:solidFill>
                    <a:srgbClr val="C00000"/>
                  </a:solidFill>
                </a:rPr>
                <a:t>1</a:t>
              </a:r>
              <a:r>
                <a:rPr lang="en-CA" sz="2400" dirty="0"/>
                <a:t> = 2 , </a:t>
              </a:r>
              <a:r>
                <a:rPr lang="en-CA" sz="2400" dirty="0">
                  <a:solidFill>
                    <a:srgbClr val="C00000"/>
                  </a:solidFill>
                </a:rPr>
                <a:t>w</a:t>
              </a:r>
              <a:r>
                <a:rPr lang="en-CA" sz="2400" baseline="-25000" dirty="0">
                  <a:solidFill>
                    <a:srgbClr val="C00000"/>
                  </a:solidFill>
                </a:rPr>
                <a:t>2</a:t>
              </a:r>
              <a:r>
                <a:rPr lang="en-CA" sz="2400" dirty="0"/>
                <a:t> = 1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23ED3CD-C90D-C2C0-5289-9F19DEA65FC2}"/>
                </a:ext>
              </a:extLst>
            </p:cNvPr>
            <p:cNvSpPr txBox="1"/>
            <p:nvPr/>
          </p:nvSpPr>
          <p:spPr>
            <a:xfrm>
              <a:off x="5868362" y="3288213"/>
              <a:ext cx="4467829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2400" b="1" dirty="0"/>
                <a:t>Model </a:t>
              </a:r>
            </a:p>
            <a:p>
              <a:r>
                <a:rPr lang="en-CA" sz="2400" dirty="0"/>
                <a:t>Y = w</a:t>
              </a:r>
              <a:r>
                <a:rPr lang="en-CA" sz="2400" baseline="-25000" dirty="0"/>
                <a:t>1</a:t>
              </a:r>
              <a:r>
                <a:rPr lang="en-CA" sz="2400" dirty="0"/>
                <a:t>x</a:t>
              </a:r>
              <a:r>
                <a:rPr lang="en-CA" sz="2400" baseline="-25000" dirty="0"/>
                <a:t>1</a:t>
              </a:r>
              <a:r>
                <a:rPr lang="en-CA" sz="2400" dirty="0"/>
                <a:t> + w</a:t>
              </a:r>
              <a:r>
                <a:rPr lang="en-CA" sz="2400" baseline="-25000" dirty="0"/>
                <a:t>2</a:t>
              </a:r>
              <a:r>
                <a:rPr lang="en-CA" sz="2400" dirty="0"/>
                <a:t>x</a:t>
              </a:r>
              <a:r>
                <a:rPr lang="en-CA" sz="2400" baseline="-25000" dirty="0"/>
                <a:t>2</a:t>
              </a:r>
              <a:r>
                <a:rPr lang="en-CA" sz="2400" dirty="0"/>
                <a:t> + some error 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4E24EFE-5C96-4449-38CD-0A432258DED8}"/>
                </a:ext>
              </a:extLst>
            </p:cNvPr>
            <p:cNvSpPr txBox="1"/>
            <p:nvPr/>
          </p:nvSpPr>
          <p:spPr>
            <a:xfrm>
              <a:off x="5832165" y="4373395"/>
              <a:ext cx="4467829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2400" dirty="0"/>
                <a:t>Y = 2*5 + 1*5 </a:t>
              </a:r>
              <a:r>
                <a:rPr lang="en-CA" sz="2400" dirty="0">
                  <a:solidFill>
                    <a:schemeClr val="accent6">
                      <a:lumMod val="40000"/>
                      <a:lumOff val="60000"/>
                    </a:schemeClr>
                  </a:solidFill>
                </a:rPr>
                <a:t>+ some error</a:t>
              </a:r>
            </a:p>
            <a:p>
              <a:r>
                <a:rPr lang="en-CA" sz="2400" dirty="0"/>
                <a:t>Cart value is $15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546927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D19238-7FEE-346E-EB11-287810F8C160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EACC9F32-751A-4641-9314-B8EB2DEA796F}"/>
              </a:ext>
            </a:extLst>
          </p:cNvPr>
          <p:cNvSpPr>
            <a:spLocks noGrp="1"/>
          </p:cNvSpPr>
          <p:nvPr/>
        </p:nvSpPr>
        <p:spPr>
          <a:xfrm>
            <a:off x="3721043" y="2948234"/>
            <a:ext cx="1738636" cy="53898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800" b="1" dirty="0">
                <a:solidFill>
                  <a:schemeClr val="tx1">
                    <a:lumMod val="50000"/>
                  </a:schemeClr>
                </a:solidFill>
                <a:latin typeface="Segoe UI"/>
                <a:cs typeface="Segoe UI"/>
              </a:rPr>
              <a:t>Number of Apples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703D066C-0EE4-478E-9395-F51DA8636C8E}"/>
              </a:ext>
            </a:extLst>
          </p:cNvPr>
          <p:cNvSpPr/>
          <p:nvPr/>
        </p:nvSpPr>
        <p:spPr>
          <a:xfrm>
            <a:off x="7811707" y="3779961"/>
            <a:ext cx="2102094" cy="2052190"/>
          </a:xfrm>
          <a:prstGeom prst="ellipse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DDC90E1-856B-4C4C-BD29-5D3BC7F10FA2}"/>
              </a:ext>
            </a:extLst>
          </p:cNvPr>
          <p:cNvSpPr/>
          <p:nvPr/>
        </p:nvSpPr>
        <p:spPr>
          <a:xfrm>
            <a:off x="3721043" y="2310060"/>
            <a:ext cx="1738636" cy="1676400"/>
          </a:xfrm>
          <a:prstGeom prst="ellipse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4F3EB51-41F7-4202-AB13-022442750061}"/>
              </a:ext>
            </a:extLst>
          </p:cNvPr>
          <p:cNvCxnSpPr>
            <a:cxnSpLocks/>
            <a:stCxn id="4" idx="6"/>
          </p:cNvCxnSpPr>
          <p:nvPr/>
        </p:nvCxnSpPr>
        <p:spPr>
          <a:xfrm>
            <a:off x="5459679" y="3148260"/>
            <a:ext cx="2352028" cy="1470167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B778C895-37C4-4D7E-B741-51A93EFC9191}"/>
              </a:ext>
            </a:extLst>
          </p:cNvPr>
          <p:cNvSpPr/>
          <p:nvPr/>
        </p:nvSpPr>
        <p:spPr>
          <a:xfrm>
            <a:off x="6229464" y="3138504"/>
            <a:ext cx="588623" cy="40011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sz="2000" dirty="0">
                <a:solidFill>
                  <a:srgbClr val="C00000"/>
                </a:solidFill>
              </a:rPr>
              <a:t>w</a:t>
            </a:r>
            <a:r>
              <a:rPr lang="en-CA" sz="2000" baseline="-25000" dirty="0">
                <a:solidFill>
                  <a:srgbClr val="C00000"/>
                </a:solidFill>
              </a:rPr>
              <a:t>1</a:t>
            </a:r>
            <a:endParaRPr lang="en-IN" sz="2000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9221591-0325-462E-8299-DBB5C5613D92}"/>
              </a:ext>
            </a:extLst>
          </p:cNvPr>
          <p:cNvCxnSpPr>
            <a:cxnSpLocks/>
          </p:cNvCxnSpPr>
          <p:nvPr/>
        </p:nvCxnSpPr>
        <p:spPr>
          <a:xfrm>
            <a:off x="9925875" y="4789249"/>
            <a:ext cx="1119511" cy="1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1FF7A101-08BD-47FE-B7BD-ED0CF3DF2043}"/>
              </a:ext>
            </a:extLst>
          </p:cNvPr>
          <p:cNvSpPr/>
          <p:nvPr/>
        </p:nvSpPr>
        <p:spPr>
          <a:xfrm>
            <a:off x="11170099" y="4575476"/>
            <a:ext cx="1756263" cy="36933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b="1" dirty="0">
                <a:solidFill>
                  <a:schemeClr val="tx1">
                    <a:lumMod val="50000"/>
                  </a:schemeClr>
                </a:solidFill>
                <a:latin typeface="Times New Roman"/>
                <a:cs typeface="Times New Roman"/>
              </a:rPr>
              <a:t>Cart value (Y)</a:t>
            </a:r>
            <a:endParaRPr lang="en-IN" b="1">
              <a:solidFill>
                <a:schemeClr val="tx1">
                  <a:lumMod val="50000"/>
                </a:schemeClr>
              </a:solidFill>
              <a:latin typeface="Times New Roman"/>
              <a:cs typeface="Times New Roman"/>
            </a:endParaRPr>
          </a:p>
        </p:txBody>
      </p:sp>
      <p:sp>
        <p:nvSpPr>
          <p:cNvPr id="20" name="Subtitle 2">
            <a:extLst>
              <a:ext uri="{FF2B5EF4-FFF2-40B4-BE49-F238E27FC236}">
                <a16:creationId xmlns:a16="http://schemas.microsoft.com/office/drawing/2014/main" id="{4F623E25-91C7-4424-9E3F-24FF8D8F7864}"/>
              </a:ext>
            </a:extLst>
          </p:cNvPr>
          <p:cNvSpPr txBox="1">
            <a:spLocks/>
          </p:cNvSpPr>
          <p:nvPr/>
        </p:nvSpPr>
        <p:spPr>
          <a:xfrm>
            <a:off x="7377965" y="3967856"/>
            <a:ext cx="662164" cy="403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8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Bias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D52D9439-AEC6-44C0-9EB4-75032B9F649A}"/>
              </a:ext>
            </a:extLst>
          </p:cNvPr>
          <p:cNvSpPr/>
          <p:nvPr/>
        </p:nvSpPr>
        <p:spPr>
          <a:xfrm>
            <a:off x="3721043" y="4935347"/>
            <a:ext cx="1738636" cy="1676400"/>
          </a:xfrm>
          <a:prstGeom prst="ellipse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330271F-0716-4F13-B1BA-4814D3951C08}"/>
              </a:ext>
            </a:extLst>
          </p:cNvPr>
          <p:cNvCxnSpPr>
            <a:cxnSpLocks/>
            <a:stCxn id="21" idx="6"/>
            <a:endCxn id="3" idx="2"/>
          </p:cNvCxnSpPr>
          <p:nvPr/>
        </p:nvCxnSpPr>
        <p:spPr>
          <a:xfrm flipV="1">
            <a:off x="5459679" y="4806056"/>
            <a:ext cx="2352028" cy="967491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E5E8CBA9-FF70-4521-AEA3-256CD0A5261E}"/>
              </a:ext>
            </a:extLst>
          </p:cNvPr>
          <p:cNvSpPr/>
          <p:nvPr/>
        </p:nvSpPr>
        <p:spPr>
          <a:xfrm>
            <a:off x="6211946" y="5572264"/>
            <a:ext cx="544868" cy="40011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sz="2000">
                <a:solidFill>
                  <a:srgbClr val="C00000"/>
                </a:solidFill>
              </a:rPr>
              <a:t>w</a:t>
            </a:r>
            <a:r>
              <a:rPr lang="en-CA" sz="2000" baseline="-25000">
                <a:solidFill>
                  <a:srgbClr val="C00000"/>
                </a:solidFill>
              </a:rPr>
              <a:t>2</a:t>
            </a:r>
            <a:endParaRPr lang="en-IN" sz="2000" dirty="0"/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6311F74B-C382-408B-8865-B3669B7D76E3}"/>
              </a:ext>
            </a:extLst>
          </p:cNvPr>
          <p:cNvSpPr txBox="1">
            <a:spLocks/>
          </p:cNvSpPr>
          <p:nvPr/>
        </p:nvSpPr>
        <p:spPr>
          <a:xfrm>
            <a:off x="7744857" y="4459598"/>
            <a:ext cx="2181018" cy="65274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CA" dirty="0">
                <a:solidFill>
                  <a:schemeClr val="tx1">
                    <a:lumMod val="50000"/>
                  </a:schemeClr>
                </a:solidFill>
              </a:rPr>
              <a:t>w</a:t>
            </a:r>
            <a:r>
              <a:rPr lang="en-CA" baseline="-25000" dirty="0">
                <a:solidFill>
                  <a:schemeClr val="tx1">
                    <a:lumMod val="50000"/>
                  </a:schemeClr>
                </a:solidFill>
              </a:rPr>
              <a:t>1</a:t>
            </a:r>
            <a:r>
              <a:rPr lang="en-CA" dirty="0">
                <a:solidFill>
                  <a:schemeClr val="tx1">
                    <a:lumMod val="50000"/>
                  </a:schemeClr>
                </a:solidFill>
              </a:rPr>
              <a:t>x</a:t>
            </a:r>
            <a:r>
              <a:rPr lang="en-CA" baseline="-25000" dirty="0">
                <a:solidFill>
                  <a:schemeClr val="tx1">
                    <a:lumMod val="50000"/>
                  </a:schemeClr>
                </a:solidFill>
              </a:rPr>
              <a:t>1</a:t>
            </a:r>
            <a:r>
              <a:rPr lang="en-CA" dirty="0">
                <a:solidFill>
                  <a:schemeClr val="tx1">
                    <a:lumMod val="50000"/>
                  </a:schemeClr>
                </a:solidFill>
              </a:rPr>
              <a:t> + w</a:t>
            </a:r>
            <a:r>
              <a:rPr lang="en-CA" baseline="-25000" dirty="0">
                <a:solidFill>
                  <a:schemeClr val="tx1">
                    <a:lumMod val="50000"/>
                  </a:schemeClr>
                </a:solidFill>
              </a:rPr>
              <a:t>2</a:t>
            </a:r>
            <a:r>
              <a:rPr lang="en-CA" dirty="0">
                <a:solidFill>
                  <a:schemeClr val="tx1">
                    <a:lumMod val="50000"/>
                  </a:schemeClr>
                </a:solidFill>
              </a:rPr>
              <a:t>x</a:t>
            </a:r>
            <a:r>
              <a:rPr lang="en-CA" baseline="-25000" dirty="0">
                <a:solidFill>
                  <a:schemeClr val="tx1">
                    <a:lumMod val="50000"/>
                  </a:schemeClr>
                </a:solidFill>
              </a:rPr>
              <a:t>2</a:t>
            </a:r>
            <a:r>
              <a:rPr lang="en-CA" dirty="0">
                <a:solidFill>
                  <a:schemeClr val="tx1">
                    <a:lumMod val="50000"/>
                  </a:schemeClr>
                </a:solidFill>
              </a:rPr>
              <a:t> </a:t>
            </a:r>
          </a:p>
          <a:p>
            <a:pPr algn="ctr"/>
            <a:r>
              <a:rPr lang="en-CA" dirty="0">
                <a:solidFill>
                  <a:schemeClr val="tx1">
                    <a:lumMod val="50000"/>
                  </a:schemeClr>
                </a:solidFill>
              </a:rPr>
              <a:t>+ some bias </a:t>
            </a: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E2AF836E-9834-4A0A-8A82-4FC9B65C1B04}"/>
              </a:ext>
            </a:extLst>
          </p:cNvPr>
          <p:cNvSpPr>
            <a:spLocks noGrp="1"/>
          </p:cNvSpPr>
          <p:nvPr/>
        </p:nvSpPr>
        <p:spPr>
          <a:xfrm>
            <a:off x="2988618" y="435843"/>
            <a:ext cx="10783962" cy="86302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600" b="1" dirty="0">
                <a:solidFill>
                  <a:srgbClr val="211F1F"/>
                </a:solidFill>
                <a:latin typeface="Segoe UI"/>
                <a:cs typeface="Times New Roman"/>
              </a:rPr>
              <a:t>Perceptron: Building Block of Neural Networks</a:t>
            </a:r>
          </a:p>
        </p:txBody>
      </p:sp>
      <p:sp>
        <p:nvSpPr>
          <p:cNvPr id="27" name="Subtitle 2">
            <a:extLst>
              <a:ext uri="{FF2B5EF4-FFF2-40B4-BE49-F238E27FC236}">
                <a16:creationId xmlns:a16="http://schemas.microsoft.com/office/drawing/2014/main" id="{D75377D1-9029-BC78-7785-E6DE80CFF792}"/>
              </a:ext>
            </a:extLst>
          </p:cNvPr>
          <p:cNvSpPr>
            <a:spLocks noGrp="1"/>
          </p:cNvSpPr>
          <p:nvPr/>
        </p:nvSpPr>
        <p:spPr>
          <a:xfrm>
            <a:off x="3721043" y="5504054"/>
            <a:ext cx="1738636" cy="53898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800" b="1" dirty="0">
                <a:solidFill>
                  <a:schemeClr val="tx1">
                    <a:lumMod val="50000"/>
                  </a:schemeClr>
                </a:solidFill>
                <a:latin typeface="Segoe UI"/>
                <a:cs typeface="Segoe UI"/>
              </a:rPr>
              <a:t>Number of Oranges</a:t>
            </a: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272ED1B5-D405-4B6F-763D-BB34506863A7}"/>
              </a:ext>
            </a:extLst>
          </p:cNvPr>
          <p:cNvSpPr txBox="1">
            <a:spLocks/>
          </p:cNvSpPr>
          <p:nvPr/>
        </p:nvSpPr>
        <p:spPr>
          <a:xfrm>
            <a:off x="8053042" y="5894080"/>
            <a:ext cx="1863777" cy="3910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>
                <a:solidFill>
                  <a:srgbClr val="0070C0"/>
                </a:solidFill>
                <a:latin typeface="Segoe UI"/>
                <a:cs typeface="Segoe UI"/>
              </a:rPr>
              <a:t>Output Neuron</a:t>
            </a:r>
          </a:p>
        </p:txBody>
      </p:sp>
      <p:sp>
        <p:nvSpPr>
          <p:cNvPr id="33" name="Subtitle 2">
            <a:extLst>
              <a:ext uri="{FF2B5EF4-FFF2-40B4-BE49-F238E27FC236}">
                <a16:creationId xmlns:a16="http://schemas.microsoft.com/office/drawing/2014/main" id="{EBC27798-C791-0D47-F28C-FF2B8A568778}"/>
              </a:ext>
            </a:extLst>
          </p:cNvPr>
          <p:cNvSpPr txBox="1">
            <a:spLocks/>
          </p:cNvSpPr>
          <p:nvPr/>
        </p:nvSpPr>
        <p:spPr>
          <a:xfrm>
            <a:off x="3721043" y="6918147"/>
            <a:ext cx="1747559" cy="403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>
                <a:solidFill>
                  <a:srgbClr val="0070C0"/>
                </a:solidFill>
                <a:latin typeface="Segoe UI"/>
                <a:cs typeface="Segoe UI"/>
              </a:rPr>
              <a:t>Input Neurons</a:t>
            </a:r>
          </a:p>
        </p:txBody>
      </p:sp>
    </p:spTree>
    <p:extLst>
      <p:ext uri="{BB962C8B-B14F-4D97-AF65-F5344CB8AC3E}">
        <p14:creationId xmlns:p14="http://schemas.microsoft.com/office/powerpoint/2010/main" val="622797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D19238-7FEE-346E-EB11-287810F8C160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11</a:t>
            </a:fld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D4712C6-D5A5-CF2B-0620-476E28AFEF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7257691"/>
              </p:ext>
            </p:extLst>
          </p:nvPr>
        </p:nvGraphicFramePr>
        <p:xfrm>
          <a:off x="3148314" y="2375052"/>
          <a:ext cx="6099859" cy="33786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8248">
                  <a:extLst>
                    <a:ext uri="{9D8B030D-6E8A-4147-A177-3AD203B41FA5}">
                      <a16:colId xmlns:a16="http://schemas.microsoft.com/office/drawing/2014/main" val="909159175"/>
                    </a:ext>
                  </a:extLst>
                </a:gridCol>
                <a:gridCol w="1759352">
                  <a:extLst>
                    <a:ext uri="{9D8B030D-6E8A-4147-A177-3AD203B41FA5}">
                      <a16:colId xmlns:a16="http://schemas.microsoft.com/office/drawing/2014/main" val="3087242691"/>
                    </a:ext>
                  </a:extLst>
                </a:gridCol>
                <a:gridCol w="2442259">
                  <a:extLst>
                    <a:ext uri="{9D8B030D-6E8A-4147-A177-3AD203B41FA5}">
                      <a16:colId xmlns:a16="http://schemas.microsoft.com/office/drawing/2014/main" val="2772234662"/>
                    </a:ext>
                  </a:extLst>
                </a:gridCol>
              </a:tblGrid>
              <a:tr h="704873">
                <a:tc>
                  <a:txBody>
                    <a:bodyPr/>
                    <a:lstStyle/>
                    <a:p>
                      <a:r>
                        <a:rPr lang="en-CA" sz="1800" b="0" i="0" dirty="0">
                          <a:latin typeface="Avenir Book" panose="02000503020000020003" pitchFamily="2" charset="0"/>
                        </a:rPr>
                        <a:t>Applicant Income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r>
                        <a:rPr lang="en-CA" sz="1800" b="0" i="0" dirty="0">
                          <a:latin typeface="Avenir Book" panose="02000503020000020003" pitchFamily="2" charset="0"/>
                        </a:rPr>
                        <a:t>Credit History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r>
                        <a:rPr lang="en-CA" sz="1800" b="0" i="0" dirty="0">
                          <a:latin typeface="Avenir Book" panose="02000503020000020003" pitchFamily="2" charset="0"/>
                        </a:rPr>
                        <a:t>Loan Eligibility</a:t>
                      </a:r>
                    </a:p>
                    <a:p>
                      <a:r>
                        <a:rPr lang="en-CA" sz="1800" b="0" i="0" dirty="0">
                          <a:latin typeface="Avenir Book" panose="02000503020000020003" pitchFamily="2" charset="0"/>
                        </a:rPr>
                        <a:t>(Target Variable Y)</a:t>
                      </a:r>
                    </a:p>
                  </a:txBody>
                  <a:tcPr marL="121920" marR="121920" marT="60960" marB="60960" anchor="ctr"/>
                </a:tc>
                <a:extLst>
                  <a:ext uri="{0D108BD9-81ED-4DB2-BD59-A6C34878D82A}">
                    <a16:rowId xmlns:a16="http://schemas.microsoft.com/office/drawing/2014/main" val="1117479884"/>
                  </a:ext>
                </a:extLst>
              </a:tr>
              <a:tr h="723027">
                <a:tc>
                  <a:txBody>
                    <a:bodyPr/>
                    <a:lstStyle/>
                    <a:p>
                      <a:pPr algn="l"/>
                      <a:r>
                        <a:rPr lang="en-CA" sz="2400" b="0" i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Avenir Book" panose="02000503020000020003" pitchFamily="2" charset="0"/>
                        </a:rPr>
                        <a:t>5846</a:t>
                      </a:r>
                      <a:r>
                        <a:rPr lang="en-CA" sz="2000" b="0" i="0" dirty="0">
                          <a:solidFill>
                            <a:srgbClr val="C00000"/>
                          </a:solidFill>
                          <a:latin typeface="Avenir Book" panose="02000503020000020003" pitchFamily="2" charset="0"/>
                        </a:rPr>
                        <a:t>w</a:t>
                      </a:r>
                      <a:r>
                        <a:rPr lang="en-CA" sz="2000" b="0" i="0" baseline="-25000" dirty="0">
                          <a:solidFill>
                            <a:srgbClr val="C00000"/>
                          </a:solidFill>
                          <a:latin typeface="Avenir Book" panose="02000503020000020003" pitchFamily="2" charset="0"/>
                        </a:rPr>
                        <a:t>1</a:t>
                      </a:r>
                      <a:endParaRPr lang="en-CA" sz="2400" b="0" i="0" dirty="0">
                        <a:solidFill>
                          <a:srgbClr val="FF0000"/>
                        </a:solidFill>
                        <a:latin typeface="Avenir Book" panose="02000503020000020003" pitchFamily="2" charset="0"/>
                      </a:endParaRP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CA" sz="2400" b="0" i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Avenir Book" panose="02000503020000020003" pitchFamily="2" charset="0"/>
                        </a:rPr>
                        <a:t>1</a:t>
                      </a:r>
                      <a:r>
                        <a:rPr lang="en-CA" sz="2000" b="0" i="0" dirty="0">
                          <a:solidFill>
                            <a:srgbClr val="C00000"/>
                          </a:solidFill>
                          <a:latin typeface="Avenir Book" panose="02000503020000020003" pitchFamily="2" charset="0"/>
                        </a:rPr>
                        <a:t>w</a:t>
                      </a:r>
                      <a:r>
                        <a:rPr lang="en-CA" sz="2000" b="0" i="0" baseline="-25000" dirty="0">
                          <a:solidFill>
                            <a:srgbClr val="C00000"/>
                          </a:solidFill>
                          <a:latin typeface="Avenir Book" panose="02000503020000020003" pitchFamily="2" charset="0"/>
                        </a:rPr>
                        <a:t>2</a:t>
                      </a:r>
                      <a:endParaRPr lang="en-CA" sz="2000" b="0" i="0" kern="1200" dirty="0">
                        <a:solidFill>
                          <a:srgbClr val="FF0000"/>
                        </a:solidFill>
                        <a:latin typeface="Avenir Book" panose="02000503020000020003" pitchFamily="2" charset="0"/>
                        <a:ea typeface="+mn-ea"/>
                        <a:cs typeface="+mn-cs"/>
                      </a:endParaRP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CA" sz="2400" b="0" i="0" dirty="0">
                          <a:latin typeface="Avenir Book" panose="02000503020000020003" pitchFamily="2" charset="0"/>
                        </a:rPr>
                        <a:t>1</a:t>
                      </a:r>
                    </a:p>
                  </a:txBody>
                  <a:tcPr marL="121920" marR="121920" marT="60960" marB="60960" anchor="ctr"/>
                </a:tc>
                <a:extLst>
                  <a:ext uri="{0D108BD9-81ED-4DB2-BD59-A6C34878D82A}">
                    <a16:rowId xmlns:a16="http://schemas.microsoft.com/office/drawing/2014/main" val="1856107051"/>
                  </a:ext>
                </a:extLst>
              </a:tr>
              <a:tr h="4449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CA" sz="2400" b="0" i="0" dirty="0">
                          <a:latin typeface="Avenir Book" panose="02000503020000020003" pitchFamily="2" charset="0"/>
                        </a:rPr>
                        <a:t>3255</a:t>
                      </a:r>
                      <a:r>
                        <a:rPr lang="en-CA" sz="2000" b="0" i="0" dirty="0">
                          <a:solidFill>
                            <a:srgbClr val="C00000"/>
                          </a:solidFill>
                          <a:latin typeface="Avenir Book" panose="02000503020000020003" pitchFamily="2" charset="0"/>
                        </a:rPr>
                        <a:t>w</a:t>
                      </a:r>
                      <a:r>
                        <a:rPr lang="en-CA" sz="2000" b="0" i="0" baseline="-25000" dirty="0">
                          <a:solidFill>
                            <a:srgbClr val="C00000"/>
                          </a:solidFill>
                          <a:latin typeface="Avenir Book" panose="02000503020000020003" pitchFamily="2" charset="0"/>
                        </a:rPr>
                        <a:t>1</a:t>
                      </a:r>
                      <a:endParaRPr lang="en-CA" sz="2400" b="0" i="0" kern="1200" dirty="0">
                        <a:solidFill>
                          <a:srgbClr val="C00000"/>
                        </a:solidFill>
                        <a:latin typeface="Avenir Book" panose="02000503020000020003" pitchFamily="2" charset="0"/>
                        <a:ea typeface="+mn-ea"/>
                        <a:cs typeface="+mn-cs"/>
                      </a:endParaRP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2400" b="0" i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Avenir Book" panose="02000503020000020003" pitchFamily="2" charset="0"/>
                        </a:rPr>
                        <a:t>0</a:t>
                      </a:r>
                      <a:r>
                        <a:rPr lang="en-CA" sz="2000" b="0" i="0" dirty="0">
                          <a:solidFill>
                            <a:srgbClr val="C00000"/>
                          </a:solidFill>
                          <a:latin typeface="Avenir Book" panose="02000503020000020003" pitchFamily="2" charset="0"/>
                        </a:rPr>
                        <a:t>w</a:t>
                      </a:r>
                      <a:r>
                        <a:rPr lang="en-CA" sz="2000" b="0" i="0" baseline="-25000" dirty="0">
                          <a:solidFill>
                            <a:srgbClr val="C00000"/>
                          </a:solidFill>
                          <a:latin typeface="Avenir Book" panose="02000503020000020003" pitchFamily="2" charset="0"/>
                        </a:rPr>
                        <a:t>2</a:t>
                      </a:r>
                      <a:endParaRPr lang="en-CA" sz="2400" b="0" i="0" kern="1200" dirty="0">
                        <a:solidFill>
                          <a:srgbClr val="FF0000"/>
                        </a:solidFill>
                        <a:latin typeface="Avenir Book" panose="02000503020000020003" pitchFamily="2" charset="0"/>
                        <a:ea typeface="+mn-ea"/>
                        <a:cs typeface="+mn-cs"/>
                      </a:endParaRP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CA" sz="2400" b="0" i="0" dirty="0">
                          <a:latin typeface="Avenir Book" panose="02000503020000020003" pitchFamily="2" charset="0"/>
                        </a:rPr>
                        <a:t>0</a:t>
                      </a:r>
                    </a:p>
                  </a:txBody>
                  <a:tcPr marL="121920" marR="121920" marT="60960" marB="60960" anchor="ctr"/>
                </a:tc>
                <a:extLst>
                  <a:ext uri="{0D108BD9-81ED-4DB2-BD59-A6C34878D82A}">
                    <a16:rowId xmlns:a16="http://schemas.microsoft.com/office/drawing/2014/main" val="4148409839"/>
                  </a:ext>
                </a:extLst>
              </a:tr>
              <a:tr h="4449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CA" sz="2400" b="0" i="0" dirty="0">
                          <a:latin typeface="Avenir Book" panose="02000503020000020003" pitchFamily="2" charset="0"/>
                        </a:rPr>
                        <a:t>5988</a:t>
                      </a:r>
                      <a:r>
                        <a:rPr lang="en-CA" sz="2000" b="0" i="0" dirty="0">
                          <a:solidFill>
                            <a:srgbClr val="C00000"/>
                          </a:solidFill>
                          <a:latin typeface="Avenir Book" panose="02000503020000020003" pitchFamily="2" charset="0"/>
                        </a:rPr>
                        <a:t>w</a:t>
                      </a:r>
                      <a:r>
                        <a:rPr lang="en-CA" sz="2000" b="0" i="0" baseline="-25000" dirty="0">
                          <a:solidFill>
                            <a:srgbClr val="C00000"/>
                          </a:solidFill>
                          <a:latin typeface="Avenir Book" panose="02000503020000020003" pitchFamily="2" charset="0"/>
                        </a:rPr>
                        <a:t>1</a:t>
                      </a:r>
                      <a:endParaRPr lang="en-CA" sz="2400" b="0" i="0" kern="1200" dirty="0">
                        <a:solidFill>
                          <a:srgbClr val="C00000"/>
                        </a:solidFill>
                        <a:latin typeface="Avenir Book" panose="02000503020000020003" pitchFamily="2" charset="0"/>
                        <a:ea typeface="+mn-ea"/>
                        <a:cs typeface="+mn-cs"/>
                      </a:endParaRPr>
                    </a:p>
                  </a:txBody>
                  <a:tcPr marL="121920" marR="121920" marT="60960" marB="60960" anchor="ctr"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2400" b="0" i="0" dirty="0">
                          <a:latin typeface="Avenir Book" panose="02000503020000020003" pitchFamily="2" charset="0"/>
                        </a:rPr>
                        <a:t>1</a:t>
                      </a:r>
                      <a:r>
                        <a:rPr lang="en-CA" sz="2000" b="0" i="0" dirty="0">
                          <a:solidFill>
                            <a:srgbClr val="C00000"/>
                          </a:solidFill>
                          <a:latin typeface="Avenir Book" panose="02000503020000020003" pitchFamily="2" charset="0"/>
                        </a:rPr>
                        <a:t>w</a:t>
                      </a:r>
                      <a:r>
                        <a:rPr lang="en-CA" sz="2000" b="0" i="0" baseline="-25000" dirty="0">
                          <a:solidFill>
                            <a:srgbClr val="C00000"/>
                          </a:solidFill>
                          <a:latin typeface="Avenir Book" panose="02000503020000020003" pitchFamily="2" charset="0"/>
                        </a:rPr>
                        <a:t>2</a:t>
                      </a:r>
                      <a:endParaRPr lang="en-CA" sz="2400" b="0" i="0" kern="1200" dirty="0">
                        <a:solidFill>
                          <a:srgbClr val="FF0000"/>
                        </a:solidFill>
                        <a:latin typeface="Avenir Book" panose="02000503020000020003" pitchFamily="2" charset="0"/>
                        <a:ea typeface="+mn-ea"/>
                        <a:cs typeface="+mn-cs"/>
                      </a:endParaRPr>
                    </a:p>
                  </a:txBody>
                  <a:tcPr marL="121920" marR="121920" marT="60960" marB="60960" anchor="ctr"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CA" sz="2400" b="0" i="0" dirty="0">
                          <a:latin typeface="Avenir Book" panose="02000503020000020003" pitchFamily="2" charset="0"/>
                        </a:rPr>
                        <a:t>1</a:t>
                      </a:r>
                    </a:p>
                  </a:txBody>
                  <a:tcPr marL="121920" marR="121920" marT="60960" marB="60960" anchor="ctr">
                    <a:lnB w="12700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7742894"/>
                  </a:ext>
                </a:extLst>
              </a:tr>
              <a:tr h="444940">
                <a:tc>
                  <a:txBody>
                    <a:bodyPr/>
                    <a:lstStyle/>
                    <a:p>
                      <a:pPr algn="l"/>
                      <a:endParaRPr lang="en-CA" sz="2400" b="0" i="0" dirty="0">
                        <a:latin typeface="Avenir Book" panose="02000503020000020003" pitchFamily="2" charset="0"/>
                      </a:endParaRPr>
                    </a:p>
                  </a:txBody>
                  <a:tcPr marL="121920" marR="121920" marT="60960" marB="6096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CA" sz="2400" b="0" i="0" dirty="0">
                        <a:latin typeface="Avenir Book" panose="02000503020000020003" pitchFamily="2" charset="0"/>
                      </a:endParaRPr>
                    </a:p>
                  </a:txBody>
                  <a:tcPr marL="121920" marR="121920" marT="60960" marB="6096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CA" sz="2400" b="0" i="0" dirty="0">
                        <a:latin typeface="Avenir Book" panose="02000503020000020003" pitchFamily="2" charset="0"/>
                      </a:endParaRPr>
                    </a:p>
                  </a:txBody>
                  <a:tcPr marL="121920" marR="121920" marT="60960" marB="6096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3379696"/>
                  </a:ext>
                </a:extLst>
              </a:tr>
              <a:tr h="444940">
                <a:tc>
                  <a:txBody>
                    <a:bodyPr/>
                    <a:lstStyle/>
                    <a:p>
                      <a:pPr algn="l"/>
                      <a:r>
                        <a:rPr lang="en-CA" sz="2400" b="0" i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Avenir Book" panose="02000503020000020003" pitchFamily="2" charset="0"/>
                        </a:rPr>
                        <a:t>4588</a:t>
                      </a:r>
                    </a:p>
                  </a:txBody>
                  <a:tcPr marL="121920" marR="121920" marT="60960" marB="60960" anchor="ctr"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CA" sz="2400" b="0" i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Avenir Book" panose="02000503020000020003" pitchFamily="2" charset="0"/>
                        </a:rPr>
                        <a:t>1</a:t>
                      </a:r>
                    </a:p>
                  </a:txBody>
                  <a:tcPr marL="121920" marR="121920" marT="60960" marB="60960" anchor="ctr"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CA" sz="2400" b="0" i="0" dirty="0">
                          <a:solidFill>
                            <a:srgbClr val="C00000"/>
                          </a:solidFill>
                          <a:latin typeface="Avenir Book" panose="02000503020000020003" pitchFamily="2" charset="0"/>
                        </a:rPr>
                        <a:t>??</a:t>
                      </a:r>
                    </a:p>
                  </a:txBody>
                  <a:tcPr marL="121920" marR="121920" marT="60960" marB="60960" anchor="ctr">
                    <a:lnT w="12700" cmpd="sng"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324846802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899B9186-E02B-9268-D377-1114F9AB851C}"/>
              </a:ext>
            </a:extLst>
          </p:cNvPr>
          <p:cNvSpPr/>
          <p:nvPr/>
        </p:nvSpPr>
        <p:spPr>
          <a:xfrm>
            <a:off x="2953020" y="3091443"/>
            <a:ext cx="6490445" cy="1688901"/>
          </a:xfrm>
          <a:prstGeom prst="rect">
            <a:avLst/>
          </a:prstGeom>
          <a:solidFill>
            <a:srgbClr val="FFFF00">
              <a:alpha val="10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00D1D7F-B6B8-D293-148C-377F0BF05BB9}"/>
              </a:ext>
            </a:extLst>
          </p:cNvPr>
          <p:cNvGrpSpPr/>
          <p:nvPr/>
        </p:nvGrpSpPr>
        <p:grpSpPr>
          <a:xfrm>
            <a:off x="9873202" y="3007030"/>
            <a:ext cx="4467829" cy="1579378"/>
            <a:chOff x="5868362" y="2416721"/>
            <a:chExt cx="4467829" cy="1579378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B6A395D-2A97-0AA8-B06D-92C2BC435754}"/>
                </a:ext>
              </a:extLst>
            </p:cNvPr>
            <p:cNvSpPr txBox="1"/>
            <p:nvPr/>
          </p:nvSpPr>
          <p:spPr>
            <a:xfrm>
              <a:off x="5891513" y="2416721"/>
              <a:ext cx="2754774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2000" dirty="0"/>
                <a:t>Training data gives </a:t>
              </a:r>
            </a:p>
            <a:p>
              <a:r>
                <a:rPr lang="en-CA" sz="2000" dirty="0">
                  <a:solidFill>
                    <a:srgbClr val="C00000"/>
                  </a:solidFill>
                </a:rPr>
                <a:t>w</a:t>
              </a:r>
              <a:r>
                <a:rPr lang="en-CA" sz="2000" baseline="-25000" dirty="0">
                  <a:solidFill>
                    <a:srgbClr val="C00000"/>
                  </a:solidFill>
                </a:rPr>
                <a:t>1</a:t>
              </a:r>
              <a:r>
                <a:rPr lang="en-CA" sz="2000" dirty="0"/>
                <a:t> = 3 , </a:t>
              </a:r>
              <a:r>
                <a:rPr lang="en-CA" sz="2000" dirty="0">
                  <a:solidFill>
                    <a:srgbClr val="C00000"/>
                  </a:solidFill>
                </a:rPr>
                <a:t>w</a:t>
              </a:r>
              <a:r>
                <a:rPr lang="en-CA" sz="2000" baseline="-25000" dirty="0">
                  <a:solidFill>
                    <a:srgbClr val="C00000"/>
                  </a:solidFill>
                </a:rPr>
                <a:t>2</a:t>
              </a:r>
              <a:r>
                <a:rPr lang="en-CA" sz="2000" dirty="0"/>
                <a:t> = 2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23ED3CD-C90D-C2C0-5289-9F19DEA65FC2}"/>
                </a:ext>
              </a:extLst>
            </p:cNvPr>
            <p:cNvSpPr txBox="1"/>
            <p:nvPr/>
          </p:nvSpPr>
          <p:spPr>
            <a:xfrm>
              <a:off x="5868362" y="3288213"/>
              <a:ext cx="446782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2000" b="1" dirty="0"/>
                <a:t>Model </a:t>
              </a:r>
            </a:p>
            <a:p>
              <a:r>
                <a:rPr lang="en-CA" sz="2000" dirty="0"/>
                <a:t>Y = w</a:t>
              </a:r>
              <a:r>
                <a:rPr lang="en-CA" sz="2000" baseline="-25000" dirty="0"/>
                <a:t>1</a:t>
              </a:r>
              <a:r>
                <a:rPr lang="en-CA" sz="2000" dirty="0"/>
                <a:t>x</a:t>
              </a:r>
              <a:r>
                <a:rPr lang="en-CA" sz="2000" baseline="-25000" dirty="0"/>
                <a:t>1</a:t>
              </a:r>
              <a:r>
                <a:rPr lang="en-CA" sz="2000" dirty="0"/>
                <a:t> + w</a:t>
              </a:r>
              <a:r>
                <a:rPr lang="en-CA" sz="2000" baseline="-25000" dirty="0"/>
                <a:t>2</a:t>
              </a:r>
              <a:r>
                <a:rPr lang="en-CA" sz="2000" dirty="0"/>
                <a:t>x</a:t>
              </a:r>
              <a:r>
                <a:rPr lang="en-CA" sz="2000" baseline="-25000" dirty="0"/>
                <a:t>2</a:t>
              </a:r>
              <a:r>
                <a:rPr lang="en-CA" sz="2000" dirty="0"/>
                <a:t> + some error 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F17DF7AC-D07A-6E1E-8DFC-1A20134CAF55}"/>
              </a:ext>
            </a:extLst>
          </p:cNvPr>
          <p:cNvSpPr txBox="1"/>
          <p:nvPr/>
        </p:nvSpPr>
        <p:spPr>
          <a:xfrm>
            <a:off x="7066817" y="1538273"/>
            <a:ext cx="160598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CA" sz="2400" b="0" i="0" dirty="0">
                <a:latin typeface="Avenir Book" panose="02000503020000020003" pitchFamily="2" charset="0"/>
              </a:rPr>
              <a:t>1 = Yes</a:t>
            </a:r>
          </a:p>
          <a:p>
            <a:pPr algn="l"/>
            <a:r>
              <a:rPr lang="en-CA" sz="2400" dirty="0">
                <a:latin typeface="Avenir Book" panose="02000503020000020003" pitchFamily="2" charset="0"/>
              </a:rPr>
              <a:t>0 = No</a:t>
            </a:r>
            <a:endParaRPr lang="en-CA" sz="2400" b="0" i="0" dirty="0">
              <a:latin typeface="Avenir Book" panose="02000503020000020003" pitchFamily="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341366-85F5-C2B3-52A5-5C799301E5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9785" y="4772320"/>
            <a:ext cx="2036373" cy="95935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EE38819-9A1B-5E5F-E839-3BEFC94451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6353" y="5612582"/>
            <a:ext cx="3219450" cy="66675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F75EEA9-17D5-ED86-6032-B8576BE8E0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91268" y="6500677"/>
            <a:ext cx="1304925" cy="51435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77CB5B86-8DF4-7208-F8BD-E4A8BC3FABBA}"/>
              </a:ext>
            </a:extLst>
          </p:cNvPr>
          <p:cNvSpPr txBox="1"/>
          <p:nvPr/>
        </p:nvSpPr>
        <p:spPr>
          <a:xfrm>
            <a:off x="9248173" y="7360164"/>
            <a:ext cx="634390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400" dirty="0"/>
              <a:t>Now based on your threshold (decision boundary) the model decides whether the output value is 1 or 0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54213F-43B0-22E6-17FC-27970975BADD}"/>
              </a:ext>
            </a:extLst>
          </p:cNvPr>
          <p:cNvSpPr>
            <a:spLocks noGrp="1"/>
          </p:cNvSpPr>
          <p:nvPr/>
        </p:nvSpPr>
        <p:spPr>
          <a:xfrm>
            <a:off x="2233876" y="189102"/>
            <a:ext cx="10783962" cy="86302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600" b="1" dirty="0">
                <a:solidFill>
                  <a:srgbClr val="211F1F"/>
                </a:solidFill>
                <a:latin typeface="Segoe UI"/>
                <a:cs typeface="Times New Roman"/>
              </a:rPr>
              <a:t>Perceptron: Logistic Regression</a:t>
            </a:r>
          </a:p>
        </p:txBody>
      </p:sp>
    </p:spTree>
    <p:extLst>
      <p:ext uri="{BB962C8B-B14F-4D97-AF65-F5344CB8AC3E}">
        <p14:creationId xmlns:p14="http://schemas.microsoft.com/office/powerpoint/2010/main" val="4201913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D19238-7FEE-346E-EB11-287810F8C160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EACC9F32-751A-4641-9314-B8EB2DEA796F}"/>
              </a:ext>
            </a:extLst>
          </p:cNvPr>
          <p:cNvSpPr>
            <a:spLocks noGrp="1"/>
          </p:cNvSpPr>
          <p:nvPr/>
        </p:nvSpPr>
        <p:spPr>
          <a:xfrm>
            <a:off x="2107185" y="3059899"/>
            <a:ext cx="1738636" cy="53898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800" dirty="0">
                <a:solidFill>
                  <a:schemeClr val="tx1">
                    <a:lumMod val="50000"/>
                  </a:schemeClr>
                </a:solidFill>
                <a:latin typeface="Segoe UI"/>
                <a:cs typeface="Segoe UI"/>
              </a:rPr>
              <a:t>Applicant Income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703D066C-0EE4-478E-9395-F51DA8636C8E}"/>
              </a:ext>
            </a:extLst>
          </p:cNvPr>
          <p:cNvSpPr/>
          <p:nvPr/>
        </p:nvSpPr>
        <p:spPr>
          <a:xfrm>
            <a:off x="6144884" y="2899559"/>
            <a:ext cx="4399346" cy="4294905"/>
          </a:xfrm>
          <a:prstGeom prst="ellipse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DDC90E1-856B-4C4C-BD29-5D3BC7F10FA2}"/>
              </a:ext>
            </a:extLst>
          </p:cNvPr>
          <p:cNvSpPr/>
          <p:nvPr/>
        </p:nvSpPr>
        <p:spPr>
          <a:xfrm>
            <a:off x="2107185" y="2421725"/>
            <a:ext cx="1738636" cy="1676400"/>
          </a:xfrm>
          <a:prstGeom prst="ellipse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4F3EB51-41F7-4202-AB13-022442750061}"/>
              </a:ext>
            </a:extLst>
          </p:cNvPr>
          <p:cNvCxnSpPr>
            <a:cxnSpLocks/>
            <a:stCxn id="4" idx="6"/>
          </p:cNvCxnSpPr>
          <p:nvPr/>
        </p:nvCxnSpPr>
        <p:spPr>
          <a:xfrm>
            <a:off x="3845821" y="3259925"/>
            <a:ext cx="2352028" cy="1470167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B778C895-37C4-4D7E-B741-51A93EFC9191}"/>
              </a:ext>
            </a:extLst>
          </p:cNvPr>
          <p:cNvSpPr/>
          <p:nvPr/>
        </p:nvSpPr>
        <p:spPr>
          <a:xfrm>
            <a:off x="4615606" y="3250169"/>
            <a:ext cx="588623" cy="40011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sz="2000" dirty="0">
                <a:solidFill>
                  <a:srgbClr val="C00000"/>
                </a:solidFill>
              </a:rPr>
              <a:t>w</a:t>
            </a:r>
            <a:r>
              <a:rPr lang="en-CA" sz="2000" baseline="-25000" dirty="0">
                <a:solidFill>
                  <a:srgbClr val="C00000"/>
                </a:solidFill>
              </a:rPr>
              <a:t>1</a:t>
            </a:r>
            <a:endParaRPr lang="en-IN" sz="2000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9221591-0325-462E-8299-DBB5C5613D92}"/>
              </a:ext>
            </a:extLst>
          </p:cNvPr>
          <p:cNvCxnSpPr>
            <a:cxnSpLocks/>
          </p:cNvCxnSpPr>
          <p:nvPr/>
        </p:nvCxnSpPr>
        <p:spPr>
          <a:xfrm>
            <a:off x="10544230" y="4972311"/>
            <a:ext cx="1119511" cy="1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1FF7A101-08BD-47FE-B7BD-ED0CF3DF2043}"/>
              </a:ext>
            </a:extLst>
          </p:cNvPr>
          <p:cNvSpPr/>
          <p:nvPr/>
        </p:nvSpPr>
        <p:spPr>
          <a:xfrm>
            <a:off x="11611114" y="4787646"/>
            <a:ext cx="1601306" cy="36933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dirty="0">
                <a:solidFill>
                  <a:schemeClr val="tx1">
                    <a:lumMod val="50000"/>
                  </a:schemeClr>
                </a:solidFill>
                <a:latin typeface="Segoe UI"/>
                <a:cs typeface="Segoe UI"/>
              </a:rPr>
              <a:t>Eligible (Y)</a:t>
            </a:r>
          </a:p>
        </p:txBody>
      </p:sp>
      <p:sp>
        <p:nvSpPr>
          <p:cNvPr id="20" name="Subtitle 2">
            <a:extLst>
              <a:ext uri="{FF2B5EF4-FFF2-40B4-BE49-F238E27FC236}">
                <a16:creationId xmlns:a16="http://schemas.microsoft.com/office/drawing/2014/main" id="{4F623E25-91C7-4424-9E3F-24FF8D8F7864}"/>
              </a:ext>
            </a:extLst>
          </p:cNvPr>
          <p:cNvSpPr txBox="1">
            <a:spLocks/>
          </p:cNvSpPr>
          <p:nvPr/>
        </p:nvSpPr>
        <p:spPr>
          <a:xfrm>
            <a:off x="5699138" y="3995008"/>
            <a:ext cx="662164" cy="403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8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Bias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D52D9439-AEC6-44C0-9EB4-75032B9F649A}"/>
              </a:ext>
            </a:extLst>
          </p:cNvPr>
          <p:cNvSpPr/>
          <p:nvPr/>
        </p:nvSpPr>
        <p:spPr>
          <a:xfrm>
            <a:off x="2107185" y="5047012"/>
            <a:ext cx="1738636" cy="1676400"/>
          </a:xfrm>
          <a:prstGeom prst="ellipse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330271F-0716-4F13-B1BA-4814D3951C08}"/>
              </a:ext>
            </a:extLst>
          </p:cNvPr>
          <p:cNvCxnSpPr>
            <a:cxnSpLocks/>
            <a:stCxn id="21" idx="6"/>
            <a:endCxn id="3" idx="2"/>
          </p:cNvCxnSpPr>
          <p:nvPr/>
        </p:nvCxnSpPr>
        <p:spPr>
          <a:xfrm flipV="1">
            <a:off x="3845821" y="5047012"/>
            <a:ext cx="2299063" cy="838200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E5E8CBA9-FF70-4521-AEA3-256CD0A5261E}"/>
              </a:ext>
            </a:extLst>
          </p:cNvPr>
          <p:cNvSpPr/>
          <p:nvPr/>
        </p:nvSpPr>
        <p:spPr>
          <a:xfrm>
            <a:off x="4598088" y="5683929"/>
            <a:ext cx="544868" cy="40011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sz="2000">
                <a:solidFill>
                  <a:srgbClr val="C00000"/>
                </a:solidFill>
              </a:rPr>
              <a:t>w</a:t>
            </a:r>
            <a:r>
              <a:rPr lang="en-CA" sz="2000" baseline="-25000">
                <a:solidFill>
                  <a:srgbClr val="C00000"/>
                </a:solidFill>
              </a:rPr>
              <a:t>2</a:t>
            </a:r>
            <a:endParaRPr lang="en-IN" sz="2000" dirty="0"/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6311F74B-C382-408B-8865-B3669B7D76E3}"/>
              </a:ext>
            </a:extLst>
          </p:cNvPr>
          <p:cNvSpPr txBox="1">
            <a:spLocks/>
          </p:cNvSpPr>
          <p:nvPr/>
        </p:nvSpPr>
        <p:spPr>
          <a:xfrm>
            <a:off x="6361302" y="4807699"/>
            <a:ext cx="1805486" cy="65274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CA" sz="2000" dirty="0">
                <a:solidFill>
                  <a:schemeClr val="tx1">
                    <a:lumMod val="50000"/>
                  </a:schemeClr>
                </a:solidFill>
              </a:rPr>
              <a:t>w</a:t>
            </a:r>
            <a:r>
              <a:rPr lang="en-CA" sz="2000" baseline="-25000" dirty="0">
                <a:solidFill>
                  <a:schemeClr val="tx1">
                    <a:lumMod val="50000"/>
                  </a:schemeClr>
                </a:solidFill>
              </a:rPr>
              <a:t>1</a:t>
            </a:r>
            <a:r>
              <a:rPr lang="en-CA" sz="2000" dirty="0">
                <a:solidFill>
                  <a:schemeClr val="tx1">
                    <a:lumMod val="50000"/>
                  </a:schemeClr>
                </a:solidFill>
              </a:rPr>
              <a:t>x</a:t>
            </a:r>
            <a:r>
              <a:rPr lang="en-CA" sz="2000" baseline="-25000" dirty="0">
                <a:solidFill>
                  <a:schemeClr val="tx1">
                    <a:lumMod val="50000"/>
                  </a:schemeClr>
                </a:solidFill>
              </a:rPr>
              <a:t>1</a:t>
            </a:r>
            <a:r>
              <a:rPr lang="en-CA" sz="2000" dirty="0">
                <a:solidFill>
                  <a:schemeClr val="tx1">
                    <a:lumMod val="50000"/>
                  </a:schemeClr>
                </a:solidFill>
              </a:rPr>
              <a:t> + w</a:t>
            </a:r>
            <a:r>
              <a:rPr lang="en-CA" sz="2000" baseline="-25000" dirty="0">
                <a:solidFill>
                  <a:schemeClr val="tx1">
                    <a:lumMod val="50000"/>
                  </a:schemeClr>
                </a:solidFill>
              </a:rPr>
              <a:t>2</a:t>
            </a:r>
            <a:r>
              <a:rPr lang="en-CA" sz="2000" dirty="0">
                <a:solidFill>
                  <a:schemeClr val="tx1">
                    <a:lumMod val="50000"/>
                  </a:schemeClr>
                </a:solidFill>
              </a:rPr>
              <a:t>x</a:t>
            </a:r>
            <a:r>
              <a:rPr lang="en-CA" sz="2000" baseline="-25000" dirty="0">
                <a:solidFill>
                  <a:schemeClr val="tx1">
                    <a:lumMod val="50000"/>
                  </a:schemeClr>
                </a:solidFill>
              </a:rPr>
              <a:t>2</a:t>
            </a:r>
            <a:r>
              <a:rPr lang="en-CA" sz="2000" dirty="0">
                <a:solidFill>
                  <a:schemeClr val="tx1">
                    <a:lumMod val="50000"/>
                  </a:schemeClr>
                </a:solidFill>
              </a:rPr>
              <a:t> </a:t>
            </a:r>
          </a:p>
          <a:p>
            <a:pPr algn="ctr"/>
            <a:r>
              <a:rPr lang="en-CA" sz="2000" dirty="0">
                <a:solidFill>
                  <a:schemeClr val="tx1">
                    <a:lumMod val="50000"/>
                  </a:schemeClr>
                </a:solidFill>
              </a:rPr>
              <a:t>+ some bias </a:t>
            </a: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E2AF836E-9834-4A0A-8A82-4FC9B65C1B04}"/>
              </a:ext>
            </a:extLst>
          </p:cNvPr>
          <p:cNvSpPr>
            <a:spLocks noGrp="1"/>
          </p:cNvSpPr>
          <p:nvPr/>
        </p:nvSpPr>
        <p:spPr>
          <a:xfrm>
            <a:off x="1713480" y="251955"/>
            <a:ext cx="9144000" cy="75970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Perceptron: Building Block of Neural Networks</a:t>
            </a:r>
          </a:p>
        </p:txBody>
      </p:sp>
      <p:sp>
        <p:nvSpPr>
          <p:cNvPr id="27" name="Subtitle 2">
            <a:extLst>
              <a:ext uri="{FF2B5EF4-FFF2-40B4-BE49-F238E27FC236}">
                <a16:creationId xmlns:a16="http://schemas.microsoft.com/office/drawing/2014/main" id="{D75377D1-9029-BC78-7785-E6DE80CFF792}"/>
              </a:ext>
            </a:extLst>
          </p:cNvPr>
          <p:cNvSpPr>
            <a:spLocks noGrp="1"/>
          </p:cNvSpPr>
          <p:nvPr/>
        </p:nvSpPr>
        <p:spPr>
          <a:xfrm>
            <a:off x="2196109" y="5720876"/>
            <a:ext cx="1539393" cy="40011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800" dirty="0">
                <a:solidFill>
                  <a:schemeClr val="tx1">
                    <a:lumMod val="50000"/>
                  </a:schemeClr>
                </a:solidFill>
                <a:latin typeface="Segoe UI"/>
                <a:cs typeface="Segoe UI"/>
              </a:rPr>
              <a:t>Credit History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16E04DC-4B30-EDA7-5692-E47A9789FC09}"/>
              </a:ext>
            </a:extLst>
          </p:cNvPr>
          <p:cNvSpPr txBox="1">
            <a:spLocks/>
          </p:cNvSpPr>
          <p:nvPr/>
        </p:nvSpPr>
        <p:spPr>
          <a:xfrm>
            <a:off x="8437692" y="5682726"/>
            <a:ext cx="1837951" cy="403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400" dirty="0">
                <a:solidFill>
                  <a:schemeClr val="tx1">
                    <a:lumMod val="50000"/>
                  </a:schemeClr>
                </a:solidFill>
                <a:latin typeface="Segoe UI"/>
                <a:cs typeface="Segoe UI"/>
              </a:rPr>
              <a:t>Activation function</a:t>
            </a:r>
          </a:p>
        </p:txBody>
      </p:sp>
      <p:pic>
        <p:nvPicPr>
          <p:cNvPr id="1026" name="Picture 2" descr="AI | Neural Networks | Sigmoid Activation Function | Codecademy">
            <a:extLst>
              <a:ext uri="{FF2B5EF4-FFF2-40B4-BE49-F238E27FC236}">
                <a16:creationId xmlns:a16="http://schemas.microsoft.com/office/drawing/2014/main" id="{79AF4674-C7CE-F95B-943E-34F8D0AEF51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62" t="6873" r="7423" b="10551"/>
          <a:stretch/>
        </p:blipFill>
        <p:spPr bwMode="auto">
          <a:xfrm>
            <a:off x="8443947" y="4281512"/>
            <a:ext cx="1773377" cy="1237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AI | Neural Networks | Sigmoid Activation Function | Codecademy">
            <a:extLst>
              <a:ext uri="{FF2B5EF4-FFF2-40B4-BE49-F238E27FC236}">
                <a16:creationId xmlns:a16="http://schemas.microsoft.com/office/drawing/2014/main" id="{1535800C-929A-0D6D-7B5A-CD5D4188C23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62" t="6873" r="7423" b="10551"/>
          <a:stretch/>
        </p:blipFill>
        <p:spPr bwMode="auto">
          <a:xfrm>
            <a:off x="11855592" y="1142286"/>
            <a:ext cx="4059599" cy="2832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B76EBBF-E101-7E09-1EC2-E8D26C216A27}"/>
              </a:ext>
            </a:extLst>
          </p:cNvPr>
          <p:cNvCxnSpPr>
            <a:stCxn id="3" idx="0"/>
            <a:endCxn id="3" idx="4"/>
          </p:cNvCxnSpPr>
          <p:nvPr/>
        </p:nvCxnSpPr>
        <p:spPr>
          <a:xfrm>
            <a:off x="8344557" y="2899559"/>
            <a:ext cx="0" cy="429490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ubtitle 2">
            <a:extLst>
              <a:ext uri="{FF2B5EF4-FFF2-40B4-BE49-F238E27FC236}">
                <a16:creationId xmlns:a16="http://schemas.microsoft.com/office/drawing/2014/main" id="{F482B81F-1130-742F-A842-65FADDC08D38}"/>
              </a:ext>
            </a:extLst>
          </p:cNvPr>
          <p:cNvSpPr txBox="1">
            <a:spLocks/>
          </p:cNvSpPr>
          <p:nvPr/>
        </p:nvSpPr>
        <p:spPr>
          <a:xfrm>
            <a:off x="7515973" y="7207322"/>
            <a:ext cx="1657168" cy="403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 Neuron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7DEB95CA-15C8-FACA-4F38-8264DE8B0C26}"/>
              </a:ext>
            </a:extLst>
          </p:cNvPr>
          <p:cNvSpPr txBox="1">
            <a:spLocks/>
          </p:cNvSpPr>
          <p:nvPr/>
        </p:nvSpPr>
        <p:spPr>
          <a:xfrm>
            <a:off x="2250323" y="6928517"/>
            <a:ext cx="1657168" cy="403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 Neurons</a:t>
            </a: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13A91E12-2340-ED18-7434-7BFDF6ED1462}"/>
              </a:ext>
            </a:extLst>
          </p:cNvPr>
          <p:cNvSpPr txBox="1">
            <a:spLocks/>
          </p:cNvSpPr>
          <p:nvPr/>
        </p:nvSpPr>
        <p:spPr>
          <a:xfrm>
            <a:off x="4518214" y="8029529"/>
            <a:ext cx="9624841" cy="403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4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Note: Activation function in the output layer has a different role than the activation functions in the hidden layers.</a:t>
            </a:r>
          </a:p>
        </p:txBody>
      </p:sp>
    </p:spTree>
    <p:extLst>
      <p:ext uri="{BB962C8B-B14F-4D97-AF65-F5344CB8AC3E}">
        <p14:creationId xmlns:p14="http://schemas.microsoft.com/office/powerpoint/2010/main" val="35825404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D8470A-FFE7-D057-B1C7-1EE005FE2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B4DF2-C165-41A7-A83A-20ADB0BB1B22}" type="slidenum">
              <a:rPr lang="en-CA" smtClean="0"/>
              <a:t>13</a:t>
            </a:fld>
            <a:endParaRPr lang="en-CA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A5DE0B5-EF10-DCA1-DF0F-9FDCE1125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3823" y="654200"/>
            <a:ext cx="11125075" cy="707738"/>
          </a:xfrm>
        </p:spPr>
        <p:txBody>
          <a:bodyPr/>
          <a:lstStyle/>
          <a:p>
            <a:pPr algn="l"/>
            <a:r>
              <a:rPr lang="en-CA" sz="4000" b="1" i="0" dirty="0">
                <a:solidFill>
                  <a:schemeClr val="accent3">
                    <a:lumMod val="50000"/>
                  </a:schemeClr>
                </a:solidFill>
                <a:effectLst/>
              </a:rPr>
              <a:t>Non-technical explanation of deep learning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2B03CE0-2989-6DD7-3ECA-693DC5CAA1A7}"/>
              </a:ext>
            </a:extLst>
          </p:cNvPr>
          <p:cNvGrpSpPr/>
          <p:nvPr/>
        </p:nvGrpSpPr>
        <p:grpSpPr>
          <a:xfrm>
            <a:off x="1467457" y="1911529"/>
            <a:ext cx="13992402" cy="6147300"/>
            <a:chOff x="2342668" y="1584745"/>
            <a:chExt cx="13992402" cy="614730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FE12FFD-3823-E752-781D-1EBA5C010EEF}"/>
                </a:ext>
              </a:extLst>
            </p:cNvPr>
            <p:cNvSpPr txBox="1"/>
            <p:nvPr/>
          </p:nvSpPr>
          <p:spPr>
            <a:xfrm>
              <a:off x="2442541" y="7137078"/>
              <a:ext cx="1845755" cy="5693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b="1" i="0" dirty="0">
                  <a:effectLst/>
                  <a:highlight>
                    <a:srgbClr val="C0C0C0"/>
                  </a:highlight>
                  <a:latin typeface="Söhne"/>
                </a:rPr>
                <a:t>Research</a:t>
              </a:r>
              <a:endParaRPr lang="en-CA" b="1" dirty="0">
                <a:highlight>
                  <a:srgbClr val="C0C0C0"/>
                </a:highlight>
              </a:endParaRP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DA4B987B-2209-D939-D300-B23BD918B454}"/>
                </a:ext>
              </a:extLst>
            </p:cNvPr>
            <p:cNvGrpSpPr/>
            <p:nvPr/>
          </p:nvGrpSpPr>
          <p:grpSpPr>
            <a:xfrm>
              <a:off x="2505377" y="3497647"/>
              <a:ext cx="1635550" cy="1396828"/>
              <a:chOff x="2505377" y="3497647"/>
              <a:chExt cx="1635550" cy="1396828"/>
            </a:xfrm>
          </p:grpSpPr>
          <p:pic>
            <p:nvPicPr>
              <p:cNvPr id="32" name="Picture 31">
                <a:extLst>
                  <a:ext uri="{FF2B5EF4-FFF2-40B4-BE49-F238E27FC236}">
                    <a16:creationId xmlns:a16="http://schemas.microsoft.com/office/drawing/2014/main" id="{F7F8C633-96F1-DB9D-A2A2-FF601428D45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5538" r="37387"/>
              <a:stretch/>
            </p:blipFill>
            <p:spPr>
              <a:xfrm>
                <a:off x="2860769" y="3497647"/>
                <a:ext cx="853498" cy="1025298"/>
              </a:xfrm>
              <a:prstGeom prst="rect">
                <a:avLst/>
              </a:prstGeom>
            </p:spPr>
          </p:pic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68E3E64-9D88-9F3F-2A01-426D01B2ED0F}"/>
                  </a:ext>
                </a:extLst>
              </p:cNvPr>
              <p:cNvSpPr txBox="1"/>
              <p:nvPr/>
            </p:nvSpPr>
            <p:spPr>
              <a:xfrm>
                <a:off x="2505377" y="4586698"/>
                <a:ext cx="1635550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CA" sz="1400" dirty="0">
                    <a:solidFill>
                      <a:srgbClr val="37415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Industry Analysis</a:t>
                </a: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EACE212A-58AE-B115-BD43-21E3749175B4}"/>
                </a:ext>
              </a:extLst>
            </p:cNvPr>
            <p:cNvGrpSpPr/>
            <p:nvPr/>
          </p:nvGrpSpPr>
          <p:grpSpPr>
            <a:xfrm>
              <a:off x="2342668" y="5163821"/>
              <a:ext cx="2072579" cy="1530127"/>
              <a:chOff x="2342668" y="5163821"/>
              <a:chExt cx="2072579" cy="1530127"/>
            </a:xfrm>
          </p:grpSpPr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3D8C73A-66CE-DFE7-5DF8-21F61EA04739}"/>
                  </a:ext>
                </a:extLst>
              </p:cNvPr>
              <p:cNvSpPr txBox="1"/>
              <p:nvPr/>
            </p:nvSpPr>
            <p:spPr>
              <a:xfrm>
                <a:off x="2342668" y="6386171"/>
                <a:ext cx="2072579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CA" sz="1400" b="0" i="0" dirty="0">
                    <a:solidFill>
                      <a:srgbClr val="37415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Analyze market trends</a:t>
                </a:r>
                <a:endParaRPr lang="en-CA" sz="1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31" name="Picture 2" descr="Keys to implementing a good marketing strategy - CRONUTS.DIGITAL">
                <a:extLst>
                  <a:ext uri="{FF2B5EF4-FFF2-40B4-BE49-F238E27FC236}">
                    <a16:creationId xmlns:a16="http://schemas.microsoft.com/office/drawing/2014/main" id="{BDDAB9D4-568B-3BE4-CD4D-9C4EAF5FC2F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1046" t="13286" r="11029" b="13429"/>
              <a:stretch/>
            </p:blipFill>
            <p:spPr bwMode="auto">
              <a:xfrm>
                <a:off x="2675877" y="5163821"/>
                <a:ext cx="1250088" cy="117565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10" name="AutoShape 4" descr="Product Owner vs. Product Manager | Productboard">
              <a:extLst>
                <a:ext uri="{FF2B5EF4-FFF2-40B4-BE49-F238E27FC236}">
                  <a16:creationId xmlns:a16="http://schemas.microsoft.com/office/drawing/2014/main" id="{933E755D-017E-546A-FB15-5A16345AB73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7318833" y="3262290"/>
              <a:ext cx="304800" cy="304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964C462E-9668-C690-70D1-578945457A43}"/>
                </a:ext>
              </a:extLst>
            </p:cNvPr>
            <p:cNvGrpSpPr/>
            <p:nvPr/>
          </p:nvGrpSpPr>
          <p:grpSpPr>
            <a:xfrm>
              <a:off x="2427686" y="1584745"/>
              <a:ext cx="1700178" cy="1512043"/>
              <a:chOff x="2427686" y="1584745"/>
              <a:chExt cx="1700178" cy="1512043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14F0D37-9F1D-CE85-3B85-A87E485DF632}"/>
                  </a:ext>
                </a:extLst>
              </p:cNvPr>
              <p:cNvSpPr txBox="1"/>
              <p:nvPr/>
            </p:nvSpPr>
            <p:spPr>
              <a:xfrm>
                <a:off x="2492314" y="2789011"/>
                <a:ext cx="1635550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CA" sz="1400" dirty="0">
                    <a:solidFill>
                      <a:srgbClr val="37415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Product Research</a:t>
                </a:r>
              </a:p>
            </p:txBody>
          </p:sp>
          <p:pic>
            <p:nvPicPr>
              <p:cNvPr id="29" name="Picture 28">
                <a:extLst>
                  <a:ext uri="{FF2B5EF4-FFF2-40B4-BE49-F238E27FC236}">
                    <a16:creationId xmlns:a16="http://schemas.microsoft.com/office/drawing/2014/main" id="{AF7F6C4A-7566-E35C-01EB-F8264B3FEF6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427686" y="1584745"/>
                <a:ext cx="1635550" cy="1081573"/>
              </a:xfrm>
              <a:prstGeom prst="rect">
                <a:avLst/>
              </a:prstGeom>
            </p:spPr>
          </p:pic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82BEB7A-B726-4F17-6243-85DA09552AAC}"/>
                </a:ext>
              </a:extLst>
            </p:cNvPr>
            <p:cNvGrpSpPr/>
            <p:nvPr/>
          </p:nvGrpSpPr>
          <p:grpSpPr>
            <a:xfrm>
              <a:off x="5864104" y="4378504"/>
              <a:ext cx="2374177" cy="1658219"/>
              <a:chOff x="6054849" y="2566362"/>
              <a:chExt cx="2374177" cy="1658219"/>
            </a:xfrm>
          </p:grpSpPr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A7576D7-7B2D-F001-999F-2EB14AEBDA43}"/>
                  </a:ext>
                </a:extLst>
              </p:cNvPr>
              <p:cNvSpPr txBox="1"/>
              <p:nvPr/>
            </p:nvSpPr>
            <p:spPr>
              <a:xfrm>
                <a:off x="6054849" y="3916804"/>
                <a:ext cx="2374177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CA" sz="1400" dirty="0">
                    <a:solidFill>
                      <a:srgbClr val="37415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Analyze customer behavior</a:t>
                </a:r>
              </a:p>
            </p:txBody>
          </p:sp>
          <p:pic>
            <p:nvPicPr>
              <p:cNvPr id="27" name="Picture 26">
                <a:extLst>
                  <a:ext uri="{FF2B5EF4-FFF2-40B4-BE49-F238E27FC236}">
                    <a16:creationId xmlns:a16="http://schemas.microsoft.com/office/drawing/2014/main" id="{FAC6816D-96B5-A6D8-72F7-BA0BBAB0872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679479" y="2566362"/>
                <a:ext cx="791754" cy="1269536"/>
              </a:xfrm>
              <a:prstGeom prst="rect">
                <a:avLst/>
              </a:prstGeom>
            </p:spPr>
          </p:pic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28E1FDA1-8628-2624-6D53-16B03163EDAB}"/>
                </a:ext>
              </a:extLst>
            </p:cNvPr>
            <p:cNvGrpSpPr/>
            <p:nvPr/>
          </p:nvGrpSpPr>
          <p:grpSpPr>
            <a:xfrm>
              <a:off x="6185148" y="2576236"/>
              <a:ext cx="1635550" cy="1352663"/>
              <a:chOff x="6224192" y="1584745"/>
              <a:chExt cx="1635550" cy="1352663"/>
            </a:xfrm>
          </p:grpSpPr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2FE4206-2448-D98D-4179-B5A14EB8323D}"/>
                  </a:ext>
                </a:extLst>
              </p:cNvPr>
              <p:cNvSpPr txBox="1"/>
              <p:nvPr/>
            </p:nvSpPr>
            <p:spPr>
              <a:xfrm>
                <a:off x="6224192" y="2629631"/>
                <a:ext cx="1635550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CA" sz="1400" dirty="0">
                    <a:solidFill>
                      <a:srgbClr val="37415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Content Creation</a:t>
                </a:r>
              </a:p>
            </p:txBody>
          </p:sp>
          <p:pic>
            <p:nvPicPr>
              <p:cNvPr id="25" name="Picture 6" descr="10 Tips On How To Choose A Content Creator For Your Brand">
                <a:extLst>
                  <a:ext uri="{FF2B5EF4-FFF2-40B4-BE49-F238E27FC236}">
                    <a16:creationId xmlns:a16="http://schemas.microsoft.com/office/drawing/2014/main" id="{B8D5AAE0-F709-40CF-AE86-07A329CFF53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9517" t="13143" r="11283" b="8000"/>
              <a:stretch/>
            </p:blipFill>
            <p:spPr bwMode="auto">
              <a:xfrm>
                <a:off x="6274269" y="1584745"/>
                <a:ext cx="1535395" cy="101916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8AEADAA-A879-629E-AF49-56ADE45D7502}"/>
                </a:ext>
              </a:extLst>
            </p:cNvPr>
            <p:cNvSpPr txBox="1"/>
            <p:nvPr/>
          </p:nvSpPr>
          <p:spPr>
            <a:xfrm>
              <a:off x="6069186" y="7137077"/>
              <a:ext cx="2118969" cy="5693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b="1" i="0" dirty="0">
                  <a:effectLst/>
                  <a:highlight>
                    <a:srgbClr val="C0C0C0"/>
                  </a:highlight>
                  <a:latin typeface="Söhne"/>
                </a:rPr>
                <a:t>Marketing</a:t>
              </a:r>
              <a:endParaRPr lang="en-CA" b="1" dirty="0">
                <a:highlight>
                  <a:srgbClr val="C0C0C0"/>
                </a:highlight>
              </a:endParaRP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82E92225-6B2B-664E-C139-08045C1F76A9}"/>
                </a:ext>
              </a:extLst>
            </p:cNvPr>
            <p:cNvGrpSpPr/>
            <p:nvPr/>
          </p:nvGrpSpPr>
          <p:grpSpPr>
            <a:xfrm>
              <a:off x="9606502" y="2350795"/>
              <a:ext cx="1370151" cy="1578104"/>
              <a:chOff x="9656580" y="2562818"/>
              <a:chExt cx="1370151" cy="1578104"/>
            </a:xfrm>
          </p:grpSpPr>
          <p:pic>
            <p:nvPicPr>
              <p:cNvPr id="22" name="Picture 21">
                <a:extLst>
                  <a:ext uri="{FF2B5EF4-FFF2-40B4-BE49-F238E27FC236}">
                    <a16:creationId xmlns:a16="http://schemas.microsoft.com/office/drawing/2014/main" id="{ACE0D4B2-17B7-AECB-BB85-C323243838F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BEBA8EAE-BF5A-486C-A8C5-ECC9F3942E4B}">
                    <a14:imgProps xmlns:a14="http://schemas.microsoft.com/office/drawing/2010/main">
                      <a14:imgLayer r:embed="rId8">
                        <a14:imgEffect>
                          <a14:brightnessContrast bright="5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9656580" y="2562818"/>
                <a:ext cx="1370151" cy="1248360"/>
              </a:xfrm>
              <a:prstGeom prst="rect">
                <a:avLst/>
              </a:prstGeom>
            </p:spPr>
          </p:pic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FEA2BEC-8B1B-C798-C3DD-7BC2AE0A7AF4}"/>
                  </a:ext>
                </a:extLst>
              </p:cNvPr>
              <p:cNvSpPr txBox="1"/>
              <p:nvPr/>
            </p:nvSpPr>
            <p:spPr>
              <a:xfrm>
                <a:off x="9800193" y="3833145"/>
                <a:ext cx="1137013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CA" sz="1400" dirty="0">
                    <a:solidFill>
                      <a:srgbClr val="37415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Budgeting</a:t>
                </a: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03241F7A-7F11-0ABC-EB53-341510E30759}"/>
                </a:ext>
              </a:extLst>
            </p:cNvPr>
            <p:cNvGrpSpPr/>
            <p:nvPr/>
          </p:nvGrpSpPr>
          <p:grpSpPr>
            <a:xfrm>
              <a:off x="9353657" y="4584075"/>
              <a:ext cx="1727731" cy="1508892"/>
              <a:chOff x="9353657" y="4584075"/>
              <a:chExt cx="1727731" cy="1508892"/>
            </a:xfrm>
          </p:grpSpPr>
          <p:pic>
            <p:nvPicPr>
              <p:cNvPr id="20" name="Picture 14" descr="Risk Management | gradmalaysia">
                <a:extLst>
                  <a:ext uri="{FF2B5EF4-FFF2-40B4-BE49-F238E27FC236}">
                    <a16:creationId xmlns:a16="http://schemas.microsoft.com/office/drawing/2014/main" id="{AA3E4993-3B31-104C-B847-DFD997B4368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0891" t="10415" r="17596" b="18846"/>
              <a:stretch/>
            </p:blipFill>
            <p:spPr bwMode="auto">
              <a:xfrm>
                <a:off x="9435863" y="4584075"/>
                <a:ext cx="1645525" cy="106396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EC1BD80-C49E-D294-2A8B-3319FC5004B9}"/>
                  </a:ext>
                </a:extLst>
              </p:cNvPr>
              <p:cNvSpPr txBox="1"/>
              <p:nvPr/>
            </p:nvSpPr>
            <p:spPr>
              <a:xfrm>
                <a:off x="9353657" y="5785190"/>
                <a:ext cx="1645526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CA" sz="1400" dirty="0">
                    <a:solidFill>
                      <a:srgbClr val="37415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Risk Management</a:t>
                </a:r>
              </a:p>
            </p:txBody>
          </p:sp>
        </p:grp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CF43590-4901-591D-F8EA-EFE51AA27955}"/>
                </a:ext>
              </a:extLst>
            </p:cNvPr>
            <p:cNvSpPr txBox="1"/>
            <p:nvPr/>
          </p:nvSpPr>
          <p:spPr>
            <a:xfrm>
              <a:off x="9571419" y="7162658"/>
              <a:ext cx="1675187" cy="5693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b="1" i="0" dirty="0">
                  <a:effectLst/>
                  <a:highlight>
                    <a:srgbClr val="C0C0C0"/>
                  </a:highlight>
                  <a:latin typeface="Söhne"/>
                </a:rPr>
                <a:t>Finance</a:t>
              </a:r>
              <a:endParaRPr lang="en-CA" b="1" dirty="0">
                <a:highlight>
                  <a:srgbClr val="C0C0C0"/>
                </a:highlight>
              </a:endParaRPr>
            </a:p>
          </p:txBody>
        </p:sp>
        <p:pic>
          <p:nvPicPr>
            <p:cNvPr id="18" name="Picture 16" descr="Ceo Clipart PNG, Vector, PSD, and Clipart With Transparent Background for  Free Download | Pngtree">
              <a:extLst>
                <a:ext uri="{FF2B5EF4-FFF2-40B4-BE49-F238E27FC236}">
                  <a16:creationId xmlns:a16="http://schemas.microsoft.com/office/drawing/2014/main" id="{FD908899-6EA2-062E-0209-F5C2C2750A7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06070" y="2453834"/>
              <a:ext cx="3429000" cy="3429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EE5238B-14DB-308F-B807-75B14D1DB911}"/>
                </a:ext>
              </a:extLst>
            </p:cNvPr>
            <p:cNvSpPr txBox="1"/>
            <p:nvPr/>
          </p:nvSpPr>
          <p:spPr>
            <a:xfrm>
              <a:off x="14052664" y="6092967"/>
              <a:ext cx="1612678" cy="5693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b="1" i="0" dirty="0">
                  <a:effectLst/>
                  <a:highlight>
                    <a:srgbClr val="C0C0C0"/>
                  </a:highlight>
                  <a:latin typeface="Söhne"/>
                </a:rPr>
                <a:t>The CEO</a:t>
              </a:r>
              <a:endParaRPr lang="en-CA" dirty="0"/>
            </a:p>
          </p:txBody>
        </p:sp>
      </p:grpSp>
      <p:pic>
        <p:nvPicPr>
          <p:cNvPr id="34" name="Picture 33">
            <a:extLst>
              <a:ext uri="{FF2B5EF4-FFF2-40B4-BE49-F238E27FC236}">
                <a16:creationId xmlns:a16="http://schemas.microsoft.com/office/drawing/2014/main" id="{ADC20C32-E4E2-5125-9CDC-E86FC376657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69452" y="4292329"/>
            <a:ext cx="559342" cy="559342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68A57599-58DD-D878-BAE6-F22E9255DEE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072514" y="4294271"/>
            <a:ext cx="555458" cy="555458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795AAEA9-0ADA-D28B-9EA3-6FAF2DB6E61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070274" y="4294271"/>
            <a:ext cx="555458" cy="555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03879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633B3E-D563-CB46-7478-93E7E6584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F0C66C-1D85-BF2F-48E3-139086BE387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/>
          <a:p>
            <a:fld id="{DEF3F5F5-7776-394F-A41F-3BAFC9CC9F8E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6D73102-D65D-77D1-0739-C6AF42DBDE62}"/>
              </a:ext>
            </a:extLst>
          </p:cNvPr>
          <p:cNvSpPr/>
          <p:nvPr/>
        </p:nvSpPr>
        <p:spPr>
          <a:xfrm>
            <a:off x="8941594" y="1862667"/>
            <a:ext cx="948267" cy="6773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5511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BEFD8BE-816D-A5F5-E3E7-203B57F8CDE8}"/>
              </a:ext>
            </a:extLst>
          </p:cNvPr>
          <p:cNvSpPr/>
          <p:nvPr/>
        </p:nvSpPr>
        <p:spPr>
          <a:xfrm>
            <a:off x="8941594" y="5113867"/>
            <a:ext cx="948267" cy="6773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5511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4073D4F-9FF2-BCA2-02C3-5B2A73F984BD}"/>
              </a:ext>
            </a:extLst>
          </p:cNvPr>
          <p:cNvSpPr/>
          <p:nvPr/>
        </p:nvSpPr>
        <p:spPr>
          <a:xfrm>
            <a:off x="7045061" y="6604000"/>
            <a:ext cx="3115733" cy="6773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5511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22D148F-937D-E2F3-1900-DB95C358B47E}"/>
              </a:ext>
            </a:extLst>
          </p:cNvPr>
          <p:cNvSpPr/>
          <p:nvPr/>
        </p:nvSpPr>
        <p:spPr>
          <a:xfrm>
            <a:off x="8806128" y="3217334"/>
            <a:ext cx="1083733" cy="6773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551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8B41D7-9D31-5988-486B-10463E696110}"/>
              </a:ext>
            </a:extLst>
          </p:cNvPr>
          <p:cNvSpPr txBox="1"/>
          <p:nvPr/>
        </p:nvSpPr>
        <p:spPr>
          <a:xfrm>
            <a:off x="1698923" y="3475343"/>
            <a:ext cx="3227404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267" dirty="0">
                <a:latin typeface="Century Schoolbook" charset="0"/>
                <a:ea typeface="Century Schoolbook" charset="0"/>
                <a:cs typeface="Century Schoolbook" charset="0"/>
              </a:rPr>
              <a:t>#bedrooms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944E6A-04A9-3589-4CD3-2F3D5467927E}"/>
              </a:ext>
            </a:extLst>
          </p:cNvPr>
          <p:cNvSpPr txBox="1"/>
          <p:nvPr/>
        </p:nvSpPr>
        <p:spPr>
          <a:xfrm>
            <a:off x="2155173" y="5088019"/>
            <a:ext cx="2761179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267" dirty="0">
                <a:latin typeface="Century Schoolbook" charset="0"/>
                <a:ea typeface="Century Schoolbook" charset="0"/>
                <a:cs typeface="Century Schoolbook" charset="0"/>
              </a:rPr>
              <a:t>zip code</a:t>
            </a:r>
            <a:endParaRPr lang="en-US" sz="2133" dirty="0">
              <a:latin typeface="Century Schoolbook" charset="0"/>
              <a:ea typeface="Century Schoolbook" charset="0"/>
              <a:cs typeface="Century Schoolbook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74C097-C88D-F417-D409-12A3FB4107C1}"/>
              </a:ext>
            </a:extLst>
          </p:cNvPr>
          <p:cNvSpPr txBox="1"/>
          <p:nvPr/>
        </p:nvSpPr>
        <p:spPr>
          <a:xfrm>
            <a:off x="1756164" y="6700693"/>
            <a:ext cx="3170164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267" dirty="0">
                <a:latin typeface="Century Schoolbook" charset="0"/>
                <a:ea typeface="Century Schoolbook" charset="0"/>
                <a:cs typeface="Century Schoolbook" charset="0"/>
              </a:rPr>
              <a:t>wealth</a:t>
            </a:r>
            <a:endParaRPr lang="en-US" sz="2133" dirty="0">
              <a:latin typeface="Century Schoolbook" charset="0"/>
              <a:ea typeface="Century Schoolbook" charset="0"/>
              <a:cs typeface="Century Schoolbook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71790D-3DB6-2C4D-0A3E-95A8B6163467}"/>
              </a:ext>
            </a:extLst>
          </p:cNvPr>
          <p:cNvSpPr txBox="1"/>
          <p:nvPr/>
        </p:nvSpPr>
        <p:spPr>
          <a:xfrm>
            <a:off x="3101925" y="1862668"/>
            <a:ext cx="1824402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267" dirty="0">
                <a:latin typeface="Century Schoolbook" charset="0"/>
                <a:ea typeface="Century Schoolbook" charset="0"/>
                <a:cs typeface="Century Schoolbook" charset="0"/>
              </a:rPr>
              <a:t>size</a:t>
            </a:r>
            <a:endParaRPr lang="en-US" sz="5511" dirty="0">
              <a:latin typeface="Century Schoolbook" charset="0"/>
              <a:ea typeface="Century Schoolbook" charset="0"/>
              <a:cs typeface="Century Schoolbook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787BAFB-6E4D-A8C0-637B-1A03E6E677B9}"/>
                  </a:ext>
                </a:extLst>
              </p:cNvPr>
              <p:cNvSpPr txBox="1"/>
              <p:nvPr/>
            </p:nvSpPr>
            <p:spPr>
              <a:xfrm>
                <a:off x="5560934" y="1916058"/>
                <a:ext cx="679610" cy="6566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267" i="1">
                              <a:latin typeface="Cambria Math" panose="02040503050406030204" pitchFamily="18" charset="0"/>
                              <a:ea typeface="Century Schoolbook" charset="0"/>
                              <a:cs typeface="Century Schoolbook" charset="0"/>
                            </a:rPr>
                          </m:ctrlPr>
                        </m:sSubPr>
                        <m:e>
                          <m:r>
                            <a:rPr lang="en-US" sz="4267" i="1">
                              <a:latin typeface="Cambria Math" charset="0"/>
                              <a:ea typeface="Century Schoolbook" charset="0"/>
                              <a:cs typeface="Century Schoolbook" charset="0"/>
                            </a:rPr>
                            <m:t>𝑥</m:t>
                          </m:r>
                        </m:e>
                        <m:sub>
                          <m:r>
                            <a:rPr lang="en-US" sz="4267" i="1">
                              <a:latin typeface="Cambria Math" charset="0"/>
                              <a:ea typeface="Century Schoolbook" charset="0"/>
                              <a:cs typeface="Century Schoolbook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4978" dirty="0">
                  <a:latin typeface="Century Schoolbook" charset="0"/>
                  <a:ea typeface="Century Schoolbook" charset="0"/>
                  <a:cs typeface="Century Schoolbook" charset="0"/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787BAFB-6E4D-A8C0-637B-1A03E6E677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0934" y="1916058"/>
                <a:ext cx="679610" cy="65665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9D03EDD-AED0-6070-6551-5ED02C341E42}"/>
                  </a:ext>
                </a:extLst>
              </p:cNvPr>
              <p:cNvSpPr txBox="1"/>
              <p:nvPr/>
            </p:nvSpPr>
            <p:spPr>
              <a:xfrm>
                <a:off x="5570910" y="3597131"/>
                <a:ext cx="692241" cy="6566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267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267" i="1">
                              <a:latin typeface="Cambria Math" charset="0"/>
                            </a:rPr>
                            <m:t>𝑥</m:t>
                          </m:r>
                        </m:e>
                        <m:sub>
                          <m:r>
                            <a:rPr lang="en-US" sz="4267" i="1">
                              <a:latin typeface="Cambria Math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5511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9D03EDD-AED0-6070-6551-5ED02C341E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0910" y="3597131"/>
                <a:ext cx="692241" cy="65665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5208760-9F73-7353-126F-CD490C04A3C9}"/>
                  </a:ext>
                </a:extLst>
              </p:cNvPr>
              <p:cNvSpPr txBox="1"/>
              <p:nvPr/>
            </p:nvSpPr>
            <p:spPr>
              <a:xfrm>
                <a:off x="5560935" y="5192006"/>
                <a:ext cx="692241" cy="6566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267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267" i="1">
                              <a:latin typeface="Cambria Math" charset="0"/>
                            </a:rPr>
                            <m:t>𝑥</m:t>
                          </m:r>
                        </m:e>
                        <m:sub>
                          <m:r>
                            <a:rPr lang="en-US" sz="4267" i="1">
                              <a:latin typeface="Cambria Math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5511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5208760-9F73-7353-126F-CD490C04A3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0935" y="5192006"/>
                <a:ext cx="692241" cy="65665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8A512FC-ADAA-3BEF-81EC-9A341AA631AC}"/>
                  </a:ext>
                </a:extLst>
              </p:cNvPr>
              <p:cNvSpPr txBox="1"/>
              <p:nvPr/>
            </p:nvSpPr>
            <p:spPr>
              <a:xfrm>
                <a:off x="5570910" y="6786881"/>
                <a:ext cx="692241" cy="6566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267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267" i="1">
                              <a:latin typeface="Cambria Math" charset="0"/>
                            </a:rPr>
                            <m:t>𝑥</m:t>
                          </m:r>
                        </m:e>
                        <m:sub>
                          <m:r>
                            <a:rPr lang="en-US" sz="4267" i="1">
                              <a:latin typeface="Cambria Math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5511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8A512FC-ADAA-3BEF-81EC-9A341AA631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0910" y="6786881"/>
                <a:ext cx="692241" cy="65665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Oval 16">
            <a:extLst>
              <a:ext uri="{FF2B5EF4-FFF2-40B4-BE49-F238E27FC236}">
                <a16:creationId xmlns:a16="http://schemas.microsoft.com/office/drawing/2014/main" id="{D9473F67-23F3-AD12-D249-CB89A0578A76}"/>
              </a:ext>
            </a:extLst>
          </p:cNvPr>
          <p:cNvSpPr/>
          <p:nvPr/>
        </p:nvSpPr>
        <p:spPr>
          <a:xfrm>
            <a:off x="9509606" y="6213012"/>
            <a:ext cx="975360" cy="97536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5511">
              <a:solidFill>
                <a:schemeClr val="tx1"/>
              </a:solidFill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43DF100-5916-E289-E848-86F141072F6F}"/>
              </a:ext>
            </a:extLst>
          </p:cNvPr>
          <p:cNvSpPr/>
          <p:nvPr/>
        </p:nvSpPr>
        <p:spPr>
          <a:xfrm>
            <a:off x="9512021" y="2614775"/>
            <a:ext cx="975360" cy="97536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5511">
              <a:solidFill>
                <a:schemeClr val="tx1"/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9E8F535-3238-624F-6B11-F35F402147DA}"/>
              </a:ext>
            </a:extLst>
          </p:cNvPr>
          <p:cNvSpPr/>
          <p:nvPr/>
        </p:nvSpPr>
        <p:spPr>
          <a:xfrm>
            <a:off x="9499135" y="4413893"/>
            <a:ext cx="975360" cy="97536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5511">
              <a:solidFill>
                <a:schemeClr val="tx1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F86F715-342D-E8ED-1175-3E7AEAF6BC60}"/>
              </a:ext>
            </a:extLst>
          </p:cNvPr>
          <p:cNvSpPr/>
          <p:nvPr/>
        </p:nvSpPr>
        <p:spPr>
          <a:xfrm>
            <a:off x="12134728" y="4413893"/>
            <a:ext cx="975360" cy="97536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5511">
              <a:solidFill>
                <a:schemeClr val="tx1"/>
              </a:solidFill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6295EC8-ACB5-C98E-E35D-D3A34C1AB94B}"/>
              </a:ext>
            </a:extLst>
          </p:cNvPr>
          <p:cNvCxnSpPr>
            <a:cxnSpLocks/>
            <a:stCxn id="16" idx="3"/>
            <a:endCxn id="17" idx="2"/>
          </p:cNvCxnSpPr>
          <p:nvPr/>
        </p:nvCxnSpPr>
        <p:spPr>
          <a:xfrm flipV="1">
            <a:off x="6263151" y="6700692"/>
            <a:ext cx="3246455" cy="414517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332501B-C837-40B0-9CF2-3D8D1546CF12}"/>
              </a:ext>
            </a:extLst>
          </p:cNvPr>
          <p:cNvCxnSpPr>
            <a:cxnSpLocks/>
            <a:stCxn id="16" idx="3"/>
            <a:endCxn id="19" idx="3"/>
          </p:cNvCxnSpPr>
          <p:nvPr/>
        </p:nvCxnSpPr>
        <p:spPr>
          <a:xfrm flipV="1">
            <a:off x="6263151" y="5246415"/>
            <a:ext cx="3378822" cy="1868794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0E023B6-8D4B-C198-84AA-9D8130222E82}"/>
              </a:ext>
            </a:extLst>
          </p:cNvPr>
          <p:cNvCxnSpPr>
            <a:cxnSpLocks/>
            <a:stCxn id="16" idx="3"/>
            <a:endCxn id="18" idx="3"/>
          </p:cNvCxnSpPr>
          <p:nvPr/>
        </p:nvCxnSpPr>
        <p:spPr>
          <a:xfrm flipV="1">
            <a:off x="6263151" y="3447297"/>
            <a:ext cx="3391708" cy="3667912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EB70B5F-15D0-E843-9C7D-F721FF145EF4}"/>
              </a:ext>
            </a:extLst>
          </p:cNvPr>
          <p:cNvCxnSpPr>
            <a:cxnSpLocks/>
            <a:stCxn id="10" idx="3"/>
            <a:endCxn id="18" idx="2"/>
          </p:cNvCxnSpPr>
          <p:nvPr/>
        </p:nvCxnSpPr>
        <p:spPr>
          <a:xfrm>
            <a:off x="6240544" y="2244386"/>
            <a:ext cx="3271477" cy="858069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62148D6-40E4-A0DF-4DE9-0347A58AA949}"/>
              </a:ext>
            </a:extLst>
          </p:cNvPr>
          <p:cNvCxnSpPr>
            <a:cxnSpLocks/>
            <a:stCxn id="10" idx="3"/>
            <a:endCxn id="19" idx="1"/>
          </p:cNvCxnSpPr>
          <p:nvPr/>
        </p:nvCxnSpPr>
        <p:spPr>
          <a:xfrm>
            <a:off x="6240544" y="2244386"/>
            <a:ext cx="3401429" cy="2312345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8EA868F-647C-D835-D2DB-7DDB975418CE}"/>
              </a:ext>
            </a:extLst>
          </p:cNvPr>
          <p:cNvCxnSpPr>
            <a:cxnSpLocks/>
            <a:stCxn id="10" idx="3"/>
            <a:endCxn id="17" idx="1"/>
          </p:cNvCxnSpPr>
          <p:nvPr/>
        </p:nvCxnSpPr>
        <p:spPr>
          <a:xfrm>
            <a:off x="6240544" y="2244386"/>
            <a:ext cx="3411900" cy="4111464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E534556-E605-B2EB-065C-5AAB41296EBE}"/>
              </a:ext>
            </a:extLst>
          </p:cNvPr>
          <p:cNvCxnSpPr>
            <a:cxnSpLocks/>
            <a:stCxn id="11" idx="3"/>
            <a:endCxn id="19" idx="2"/>
          </p:cNvCxnSpPr>
          <p:nvPr/>
        </p:nvCxnSpPr>
        <p:spPr>
          <a:xfrm>
            <a:off x="6263151" y="3925459"/>
            <a:ext cx="3235984" cy="976114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F765297-BE9E-425C-8637-98A4513CB2F5}"/>
              </a:ext>
            </a:extLst>
          </p:cNvPr>
          <p:cNvCxnSpPr>
            <a:cxnSpLocks/>
            <a:stCxn id="11" idx="3"/>
            <a:endCxn id="17" idx="2"/>
          </p:cNvCxnSpPr>
          <p:nvPr/>
        </p:nvCxnSpPr>
        <p:spPr>
          <a:xfrm>
            <a:off x="6263151" y="3925459"/>
            <a:ext cx="3246455" cy="2775233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22F518D7-A420-3A50-223D-B7DA7D757B6C}"/>
              </a:ext>
            </a:extLst>
          </p:cNvPr>
          <p:cNvCxnSpPr>
            <a:cxnSpLocks/>
            <a:stCxn id="11" idx="3"/>
            <a:endCxn id="18" idx="2"/>
          </p:cNvCxnSpPr>
          <p:nvPr/>
        </p:nvCxnSpPr>
        <p:spPr>
          <a:xfrm flipV="1">
            <a:off x="6263151" y="3102455"/>
            <a:ext cx="3248870" cy="823004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F5CE382C-B57D-6E3D-0A13-FB616CDD1E6D}"/>
              </a:ext>
            </a:extLst>
          </p:cNvPr>
          <p:cNvCxnSpPr>
            <a:cxnSpLocks/>
            <a:stCxn id="18" idx="6"/>
            <a:endCxn id="20" idx="1"/>
          </p:cNvCxnSpPr>
          <p:nvPr/>
        </p:nvCxnSpPr>
        <p:spPr>
          <a:xfrm>
            <a:off x="10487382" y="3102455"/>
            <a:ext cx="1790185" cy="1454276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BF6CF6D-F221-4155-64BC-F9A0D03F5E57}"/>
              </a:ext>
            </a:extLst>
          </p:cNvPr>
          <p:cNvCxnSpPr>
            <a:cxnSpLocks/>
            <a:stCxn id="17" idx="7"/>
            <a:endCxn id="20" idx="3"/>
          </p:cNvCxnSpPr>
          <p:nvPr/>
        </p:nvCxnSpPr>
        <p:spPr>
          <a:xfrm flipV="1">
            <a:off x="10342130" y="5246416"/>
            <a:ext cx="1935436" cy="1109433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72F76D80-C5A7-18BD-0851-A7D80F48C93F}"/>
              </a:ext>
            </a:extLst>
          </p:cNvPr>
          <p:cNvCxnSpPr>
            <a:cxnSpLocks/>
            <a:stCxn id="19" idx="6"/>
            <a:endCxn id="20" idx="2"/>
          </p:cNvCxnSpPr>
          <p:nvPr/>
        </p:nvCxnSpPr>
        <p:spPr>
          <a:xfrm>
            <a:off x="10474496" y="4901573"/>
            <a:ext cx="1660233" cy="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30F2E91-CC63-3685-9547-E058B4714478}"/>
              </a:ext>
            </a:extLst>
          </p:cNvPr>
          <p:cNvCxnSpPr>
            <a:cxnSpLocks/>
            <a:stCxn id="20" idx="6"/>
          </p:cNvCxnSpPr>
          <p:nvPr/>
        </p:nvCxnSpPr>
        <p:spPr>
          <a:xfrm>
            <a:off x="13110088" y="4901573"/>
            <a:ext cx="1114706" cy="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CAD7C66B-49F7-6FAF-9A72-14EEE7EE71EE}"/>
              </a:ext>
            </a:extLst>
          </p:cNvPr>
          <p:cNvSpPr txBox="1"/>
          <p:nvPr/>
        </p:nvSpPr>
        <p:spPr>
          <a:xfrm>
            <a:off x="14269757" y="4425678"/>
            <a:ext cx="563977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267" dirty="0">
                <a:latin typeface="Century Schoolbook" charset="0"/>
                <a:ea typeface="Century Schoolbook" charset="0"/>
                <a:cs typeface="Century Schoolbook" charset="0"/>
              </a:rPr>
              <a:t>y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2434CA6-17CA-7438-6544-627427BCF367}"/>
              </a:ext>
            </a:extLst>
          </p:cNvPr>
          <p:cNvCxnSpPr>
            <a:cxnSpLocks/>
            <a:stCxn id="15" idx="3"/>
            <a:endCxn id="19" idx="2"/>
          </p:cNvCxnSpPr>
          <p:nvPr/>
        </p:nvCxnSpPr>
        <p:spPr>
          <a:xfrm flipV="1">
            <a:off x="6253176" y="4901573"/>
            <a:ext cx="3245959" cy="618761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610AA346-16DE-9E2A-8C79-E17343A71AE8}"/>
              </a:ext>
            </a:extLst>
          </p:cNvPr>
          <p:cNvCxnSpPr>
            <a:cxnSpLocks/>
            <a:stCxn id="15" idx="3"/>
            <a:endCxn id="18" idx="2"/>
          </p:cNvCxnSpPr>
          <p:nvPr/>
        </p:nvCxnSpPr>
        <p:spPr>
          <a:xfrm flipV="1">
            <a:off x="6253176" y="3102455"/>
            <a:ext cx="3258845" cy="2417879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5933F7F6-A0B9-8A45-8CA0-D82B848590CD}"/>
              </a:ext>
            </a:extLst>
          </p:cNvPr>
          <p:cNvCxnSpPr>
            <a:cxnSpLocks/>
            <a:stCxn id="15" idx="3"/>
            <a:endCxn id="17" idx="2"/>
          </p:cNvCxnSpPr>
          <p:nvPr/>
        </p:nvCxnSpPr>
        <p:spPr>
          <a:xfrm>
            <a:off x="6253176" y="5520334"/>
            <a:ext cx="3256430" cy="1180358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itle 1">
            <a:extLst>
              <a:ext uri="{FF2B5EF4-FFF2-40B4-BE49-F238E27FC236}">
                <a16:creationId xmlns:a16="http://schemas.microsoft.com/office/drawing/2014/main" id="{35FDFAAB-DEB4-C931-9571-7C088F6D9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918" y="192457"/>
            <a:ext cx="12910367" cy="1308795"/>
          </a:xfrm>
        </p:spPr>
        <p:txBody>
          <a:bodyPr>
            <a:normAutofit/>
          </a:bodyPr>
          <a:lstStyle/>
          <a:p>
            <a:r>
              <a:rPr lang="en-US" sz="4200" dirty="0">
                <a:solidFill>
                  <a:srgbClr val="00673E"/>
                </a:solidFill>
                <a:latin typeface="Avenir Book" panose="02000503020000020003"/>
                <a:ea typeface="Century Schoolbook" charset="0"/>
                <a:cs typeface="Century Schoolbook" charset="0"/>
              </a:rPr>
              <a:t>Housing Price Prediction – 2 Layer Neural Network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43A53D3-5EC1-B096-3444-0CCE04CDCC88}"/>
              </a:ext>
            </a:extLst>
          </p:cNvPr>
          <p:cNvSpPr/>
          <p:nvPr/>
        </p:nvSpPr>
        <p:spPr>
          <a:xfrm>
            <a:off x="7750693" y="2190626"/>
            <a:ext cx="588623" cy="40011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sz="2000" dirty="0">
                <a:solidFill>
                  <a:srgbClr val="C00000"/>
                </a:solidFill>
              </a:rPr>
              <a:t>w</a:t>
            </a:r>
            <a:r>
              <a:rPr lang="en-CA" sz="2000" baseline="-25000" dirty="0">
                <a:solidFill>
                  <a:srgbClr val="C00000"/>
                </a:solidFill>
              </a:rPr>
              <a:t>11</a:t>
            </a:r>
            <a:endParaRPr lang="en-IN" sz="2000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015464B-A662-79D9-D35C-E3EF5A1D4B1A}"/>
              </a:ext>
            </a:extLst>
          </p:cNvPr>
          <p:cNvSpPr/>
          <p:nvPr/>
        </p:nvSpPr>
        <p:spPr>
          <a:xfrm>
            <a:off x="7801495" y="2923598"/>
            <a:ext cx="588623" cy="40011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sz="2000" dirty="0">
                <a:solidFill>
                  <a:srgbClr val="C00000"/>
                </a:solidFill>
              </a:rPr>
              <a:t>w</a:t>
            </a:r>
            <a:r>
              <a:rPr lang="en-CA" sz="2000" baseline="-25000" dirty="0">
                <a:solidFill>
                  <a:srgbClr val="C00000"/>
                </a:solidFill>
              </a:rPr>
              <a:t>12</a:t>
            </a:r>
            <a:endParaRPr lang="en-IN" sz="2000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4FABC1F-D19F-2172-5B06-D24AC431C42D}"/>
              </a:ext>
            </a:extLst>
          </p:cNvPr>
          <p:cNvSpPr/>
          <p:nvPr/>
        </p:nvSpPr>
        <p:spPr>
          <a:xfrm>
            <a:off x="7714410" y="3678340"/>
            <a:ext cx="588623" cy="40011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sz="2000" dirty="0">
                <a:solidFill>
                  <a:srgbClr val="C00000"/>
                </a:solidFill>
              </a:rPr>
              <a:t>w</a:t>
            </a:r>
            <a:r>
              <a:rPr lang="en-CA" sz="2000" baseline="-25000" dirty="0">
                <a:solidFill>
                  <a:srgbClr val="C00000"/>
                </a:solidFill>
              </a:rPr>
              <a:t>13</a:t>
            </a:r>
            <a:endParaRPr lang="en-IN" sz="2000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1B5BC4C-3EE8-82CF-84BC-59815B97DBE3}"/>
              </a:ext>
            </a:extLst>
          </p:cNvPr>
          <p:cNvSpPr/>
          <p:nvPr/>
        </p:nvSpPr>
        <p:spPr>
          <a:xfrm>
            <a:off x="8730408" y="2851022"/>
            <a:ext cx="588623" cy="40011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sz="2000" dirty="0">
                <a:solidFill>
                  <a:srgbClr val="C00000"/>
                </a:solidFill>
              </a:rPr>
              <a:t>b</a:t>
            </a:r>
            <a:r>
              <a:rPr lang="en-CA" sz="2000" baseline="-25000" dirty="0">
                <a:solidFill>
                  <a:srgbClr val="C00000"/>
                </a:solidFill>
              </a:rPr>
              <a:t>1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489894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7" grpId="0"/>
      <p:bldP spid="9" grpId="0"/>
      <p:bldP spid="10" grpId="0"/>
      <p:bldP spid="11" grpId="0"/>
      <p:bldP spid="15" grpId="0"/>
      <p:bldP spid="16" grpId="0"/>
      <p:bldP spid="17" grpId="0" animBg="1"/>
      <p:bldP spid="18" grpId="0" animBg="1"/>
      <p:bldP spid="19" grpId="0" animBg="1"/>
      <p:bldP spid="20" grpId="0" animBg="1"/>
      <p:bldP spid="34" grpId="0"/>
      <p:bldP spid="39" grpId="0"/>
      <p:bldP spid="40" grpId="0"/>
      <p:bldP spid="41" grpId="0"/>
      <p:bldP spid="4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30710-3960-8B93-81D0-D0719309C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3F58A2-4F23-CE13-B8E4-35DFBE76C835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/>
          <a:p>
            <a:fld id="{DEF3F5F5-7776-394F-A41F-3BAFC9CC9F8E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82F25E3-8E6E-DD0C-9C0F-6D370AD8FAFE}"/>
              </a:ext>
            </a:extLst>
          </p:cNvPr>
          <p:cNvSpPr/>
          <p:nvPr/>
        </p:nvSpPr>
        <p:spPr>
          <a:xfrm>
            <a:off x="491064" y="182029"/>
            <a:ext cx="904247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4000" dirty="0">
                <a:solidFill>
                  <a:srgbClr val="00673E"/>
                </a:solidFill>
                <a:latin typeface="Avenir Medium" panose="02000503020000020003" pitchFamily="2" charset="0"/>
                <a:ea typeface="+mj-ea"/>
                <a:cs typeface="+mj-cs"/>
              </a:rPr>
              <a:t>Neural Network – One Layer / One Neuron</a:t>
            </a:r>
            <a:endParaRPr lang="en-US" sz="4000" dirty="0">
              <a:solidFill>
                <a:srgbClr val="00673E"/>
              </a:solidFill>
              <a:latin typeface="Avenir Medium" panose="02000503020000020003" pitchFamily="2" charset="0"/>
              <a:ea typeface="+mj-ea"/>
              <a:cs typeface="+mj-cs"/>
            </a:endParaRP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A6B717AD-325F-76C1-789C-96A1429A0905}"/>
              </a:ext>
            </a:extLst>
          </p:cNvPr>
          <p:cNvGrpSpPr/>
          <p:nvPr/>
        </p:nvGrpSpPr>
        <p:grpSpPr>
          <a:xfrm>
            <a:off x="287087" y="642174"/>
            <a:ext cx="4285571" cy="2358529"/>
            <a:chOff x="2010" y="1190818"/>
            <a:chExt cx="3214178" cy="1768897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CC072CA0-928D-4A42-49E3-CE2ADDB3BEF8}"/>
                    </a:ext>
                  </a:extLst>
                </p:cNvPr>
                <p:cNvSpPr txBox="1"/>
                <p:nvPr/>
              </p:nvSpPr>
              <p:spPr>
                <a:xfrm>
                  <a:off x="2035" y="1190818"/>
                  <a:ext cx="584006" cy="50009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733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733" i="1">
                                <a:latin typeface="Cambria Math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3733" i="1">
                                <a:latin typeface="Cambria Math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3733" dirty="0"/>
                </a:p>
              </p:txBody>
            </p:sp>
          </mc:Choice>
          <mc:Fallback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CC072CA0-928D-4A42-49E3-CE2ADDB3BE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35" y="1190818"/>
                  <a:ext cx="584006" cy="50009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8E4D4E29-061C-6DD8-F674-E0BA2C38C9C9}"/>
                    </a:ext>
                  </a:extLst>
                </p:cNvPr>
                <p:cNvSpPr txBox="1"/>
                <p:nvPr/>
              </p:nvSpPr>
              <p:spPr>
                <a:xfrm>
                  <a:off x="2010" y="1825221"/>
                  <a:ext cx="592325" cy="50009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733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733" i="1">
                                <a:latin typeface="Cambria Math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3733" i="1">
                                <a:latin typeface="Cambria Math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3733" dirty="0"/>
                </a:p>
              </p:txBody>
            </p:sp>
          </mc:Choice>
          <mc:Fallback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8E4D4E29-061C-6DD8-F674-E0BA2C38C9C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10" y="1825221"/>
                  <a:ext cx="592325" cy="50009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1704915C-91DD-1258-B929-F3F7E3994F82}"/>
                    </a:ext>
                  </a:extLst>
                </p:cNvPr>
                <p:cNvSpPr txBox="1"/>
                <p:nvPr/>
              </p:nvSpPr>
              <p:spPr>
                <a:xfrm>
                  <a:off x="2010" y="2459625"/>
                  <a:ext cx="592325" cy="50009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733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733" i="1">
                                <a:latin typeface="Cambria Math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3733" i="1">
                                <a:latin typeface="Cambria Math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3733" dirty="0"/>
                </a:p>
              </p:txBody>
            </p:sp>
          </mc:Choice>
          <mc:Fallback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1704915C-91DD-1258-B929-F3F7E3994F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10" y="2459625"/>
                  <a:ext cx="592325" cy="50009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5E16DE31-972C-B9C1-B7EA-7910DF39F1CF}"/>
                </a:ext>
              </a:extLst>
            </p:cNvPr>
            <p:cNvCxnSpPr>
              <a:stCxn id="53" idx="3"/>
              <a:endCxn id="61" idx="1"/>
            </p:cNvCxnSpPr>
            <p:nvPr/>
          </p:nvCxnSpPr>
          <p:spPr>
            <a:xfrm>
              <a:off x="586041" y="1440863"/>
              <a:ext cx="1214133" cy="540284"/>
            </a:xfrm>
            <a:prstGeom prst="straightConnector1">
              <a:avLst/>
            </a:prstGeom>
            <a:ln>
              <a:solidFill>
                <a:schemeClr val="tx1"/>
              </a:solidFill>
              <a:headEnd w="lg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A788C07E-FACE-D036-89BE-7C44EDFC77C4}"/>
                </a:ext>
              </a:extLst>
            </p:cNvPr>
            <p:cNvCxnSpPr>
              <a:stCxn id="54" idx="3"/>
              <a:endCxn id="61" idx="2"/>
            </p:cNvCxnSpPr>
            <p:nvPr/>
          </p:nvCxnSpPr>
          <p:spPr>
            <a:xfrm>
              <a:off x="594335" y="2075267"/>
              <a:ext cx="1166790" cy="2868"/>
            </a:xfrm>
            <a:prstGeom prst="straightConnector1">
              <a:avLst/>
            </a:prstGeom>
            <a:ln>
              <a:solidFill>
                <a:schemeClr val="tx1"/>
              </a:solidFill>
              <a:headEnd w="lg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0FB6A977-1835-AB69-71E2-4729D9FD3739}"/>
                </a:ext>
              </a:extLst>
            </p:cNvPr>
            <p:cNvCxnSpPr>
              <a:stCxn id="55" idx="3"/>
              <a:endCxn id="61" idx="3"/>
            </p:cNvCxnSpPr>
            <p:nvPr/>
          </p:nvCxnSpPr>
          <p:spPr>
            <a:xfrm flipV="1">
              <a:off x="594335" y="2175122"/>
              <a:ext cx="1205839" cy="534548"/>
            </a:xfrm>
            <a:prstGeom prst="straightConnector1">
              <a:avLst/>
            </a:prstGeom>
            <a:ln>
              <a:solidFill>
                <a:schemeClr val="tx1"/>
              </a:solidFill>
              <a:headEnd w="lg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86193E93-4EB7-1427-5DC5-18346C669942}"/>
                </a:ext>
              </a:extLst>
            </p:cNvPr>
            <p:cNvCxnSpPr>
              <a:cxnSpLocks/>
              <a:stCxn id="61" idx="6"/>
            </p:cNvCxnSpPr>
            <p:nvPr/>
          </p:nvCxnSpPr>
          <p:spPr>
            <a:xfrm>
              <a:off x="2027765" y="2078135"/>
              <a:ext cx="810619" cy="1"/>
            </a:xfrm>
            <a:prstGeom prst="straightConnector1">
              <a:avLst/>
            </a:prstGeom>
            <a:ln>
              <a:solidFill>
                <a:schemeClr val="tx1"/>
              </a:solidFill>
              <a:headEnd w="lg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754DD968-844E-BEE4-4958-C2E8BFDB0085}"/>
                    </a:ext>
                  </a:extLst>
                </p:cNvPr>
                <p:cNvSpPr txBox="1"/>
                <p:nvPr/>
              </p:nvSpPr>
              <p:spPr>
                <a:xfrm>
                  <a:off x="2909470" y="1815583"/>
                  <a:ext cx="306718" cy="43084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US" sz="3733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3733" i="1">
                                <a:latin typeface="Cambria Math" charset="0"/>
                              </a:rPr>
                              <m:t>𝑦</m:t>
                            </m:r>
                          </m:e>
                        </m:acc>
                      </m:oMath>
                    </m:oMathPara>
                  </a14:m>
                  <a:endParaRPr lang="en-US" sz="3733" dirty="0"/>
                </a:p>
              </p:txBody>
            </p:sp>
          </mc:Choice>
          <mc:Fallback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754DD968-844E-BEE4-4958-C2E8BFDB00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09470" y="1815583"/>
                  <a:ext cx="306718" cy="43084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DD66FDF1-8CB8-4C19-815F-F20F0B490BA8}"/>
                </a:ext>
              </a:extLst>
            </p:cNvPr>
            <p:cNvSpPr/>
            <p:nvPr/>
          </p:nvSpPr>
          <p:spPr>
            <a:xfrm>
              <a:off x="1761125" y="1940975"/>
              <a:ext cx="266640" cy="2743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F2FCA4BE-5D16-3733-3C2D-2545E2585695}"/>
              </a:ext>
            </a:extLst>
          </p:cNvPr>
          <p:cNvGrpSpPr/>
          <p:nvPr/>
        </p:nvGrpSpPr>
        <p:grpSpPr>
          <a:xfrm>
            <a:off x="765305" y="3956710"/>
            <a:ext cx="8982752" cy="2127296"/>
            <a:chOff x="5638999" y="1337808"/>
            <a:chExt cx="2767859" cy="1595473"/>
          </a:xfrm>
        </p:grpSpPr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DFA71952-A828-ED6C-2F27-C357EDA7DA8B}"/>
                </a:ext>
              </a:extLst>
            </p:cNvPr>
            <p:cNvSpPr txBox="1"/>
            <p:nvPr/>
          </p:nvSpPr>
          <p:spPr>
            <a:xfrm>
              <a:off x="5657858" y="1337808"/>
              <a:ext cx="364579" cy="4501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300" i="1" dirty="0">
                  <a:latin typeface="Century Schoolbook" charset="0"/>
                  <a:ea typeface="Century Schoolbook" charset="0"/>
                  <a:cs typeface="Century Schoolbook" charset="0"/>
                </a:rPr>
                <a:t>x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FEBBFD42-4549-4C80-F21E-ABA87754378E}"/>
                </a:ext>
              </a:extLst>
            </p:cNvPr>
            <p:cNvSpPr txBox="1"/>
            <p:nvPr/>
          </p:nvSpPr>
          <p:spPr>
            <a:xfrm>
              <a:off x="5638999" y="1910483"/>
              <a:ext cx="158158" cy="45012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300" i="1" dirty="0">
                  <a:latin typeface="Century Schoolbook" charset="0"/>
                  <a:ea typeface="Century Schoolbook" charset="0"/>
                  <a:cs typeface="Century Schoolbook" charset="0"/>
                </a:rPr>
                <a:t>w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26179ABA-5BB7-4508-8C81-B91E86B0DFDA}"/>
                </a:ext>
              </a:extLst>
            </p:cNvPr>
            <p:cNvSpPr txBox="1"/>
            <p:nvPr/>
          </p:nvSpPr>
          <p:spPr>
            <a:xfrm>
              <a:off x="5687700" y="2483158"/>
              <a:ext cx="334736" cy="4501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300" i="1" dirty="0">
                  <a:latin typeface="Century Schoolbook" charset="0"/>
                  <a:ea typeface="Century Schoolbook" charset="0"/>
                  <a:cs typeface="Century Schoolbook" charset="0"/>
                </a:rPr>
                <a:t>b</a:t>
              </a:r>
            </a:p>
          </p:txBody>
        </p: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FF49D5E8-9A11-2FCE-D3B6-6B5C1EBE22A7}"/>
                </a:ext>
              </a:extLst>
            </p:cNvPr>
            <p:cNvCxnSpPr>
              <a:cxnSpLocks/>
              <a:stCxn id="63" idx="3"/>
              <a:endCxn id="69" idx="1"/>
            </p:cNvCxnSpPr>
            <p:nvPr/>
          </p:nvCxnSpPr>
          <p:spPr>
            <a:xfrm>
              <a:off x="6022437" y="1562870"/>
              <a:ext cx="634506" cy="592870"/>
            </a:xfrm>
            <a:prstGeom prst="straightConnector1">
              <a:avLst/>
            </a:prstGeom>
            <a:ln>
              <a:solidFill>
                <a:schemeClr val="tx1"/>
              </a:solidFill>
              <a:headEnd w="lg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13C6053A-A176-C096-2A93-45DE5310B6A7}"/>
                </a:ext>
              </a:extLst>
            </p:cNvPr>
            <p:cNvCxnSpPr>
              <a:cxnSpLocks/>
              <a:stCxn id="65" idx="3"/>
              <a:endCxn id="69" idx="1"/>
            </p:cNvCxnSpPr>
            <p:nvPr/>
          </p:nvCxnSpPr>
          <p:spPr>
            <a:xfrm flipV="1">
              <a:off x="6022436" y="2155740"/>
              <a:ext cx="634507" cy="552480"/>
            </a:xfrm>
            <a:prstGeom prst="straightConnector1">
              <a:avLst/>
            </a:prstGeom>
            <a:ln>
              <a:solidFill>
                <a:schemeClr val="tx1"/>
              </a:solidFill>
              <a:headEnd w="lg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F709E6F7-5F8A-816E-5241-12883BCE8414}"/>
                </a:ext>
              </a:extLst>
            </p:cNvPr>
            <p:cNvCxnSpPr>
              <a:cxnSpLocks/>
              <a:stCxn id="64" idx="3"/>
              <a:endCxn id="69" idx="1"/>
            </p:cNvCxnSpPr>
            <p:nvPr/>
          </p:nvCxnSpPr>
          <p:spPr>
            <a:xfrm>
              <a:off x="5797157" y="2135545"/>
              <a:ext cx="859786" cy="20195"/>
            </a:xfrm>
            <a:prstGeom prst="straightConnector1">
              <a:avLst/>
            </a:prstGeom>
            <a:ln>
              <a:solidFill>
                <a:schemeClr val="tx1"/>
              </a:solidFill>
              <a:headEnd w="lg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8B5C00D6-398C-5B16-3AF0-A9813039B5C2}"/>
                    </a:ext>
                  </a:extLst>
                </p:cNvPr>
                <p:cNvSpPr txBox="1"/>
                <p:nvPr/>
              </p:nvSpPr>
              <p:spPr>
                <a:xfrm>
                  <a:off x="6656943" y="1935054"/>
                  <a:ext cx="1749915" cy="441371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 xmlns:m="http://schemas.openxmlformats.org/officeDocument/2006/math">
                      <m:r>
                        <a:rPr lang="en-US" sz="3300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3300" i="1">
                          <a:latin typeface="Cambria Math" charset="0"/>
                        </a:rPr>
                        <m:t>=</m:t>
                      </m:r>
                      <m:r>
                        <a:rPr lang="en-CA" sz="3300" i="1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CA" sz="3300" i="1" baseline="-2500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3300" i="1">
                          <a:latin typeface="Cambria Math" charset="0"/>
                        </a:rPr>
                        <m:t>𝑥</m:t>
                      </m:r>
                      <m:r>
                        <a:rPr lang="en-CA" sz="3300" i="1" baseline="-2500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3300" i="1">
                          <a:latin typeface="Cambria Math" charset="0"/>
                        </a:rPr>
                        <m:t>+</m:t>
                      </m:r>
                      <m:r>
                        <a:rPr lang="en-CA" sz="3300" i="1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CA" sz="3300" i="1" baseline="-2500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3300" i="1">
                          <a:latin typeface="Cambria Math" charset="0"/>
                        </a:rPr>
                        <m:t>𝑥</m:t>
                      </m:r>
                      <m:r>
                        <a:rPr lang="en-CA" sz="3300" i="1" baseline="-2500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CA" sz="3300" i="1"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en-CA" sz="3300" i="1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CA" sz="3300" i="1" baseline="-2500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3300" i="1">
                          <a:latin typeface="Cambria Math" charset="0"/>
                        </a:rPr>
                        <m:t>𝑥</m:t>
                      </m:r>
                      <m:r>
                        <a:rPr lang="en-CA" sz="3300" i="1" baseline="-2500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CA" sz="33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CA" sz="3300" i="1">
                          <a:latin typeface="Cambria Math" panose="02040503050406030204" pitchFamily="18" charset="0"/>
                        </a:rPr>
                        <m:t>𝑏</m:t>
                      </m:r>
                    </m:oMath>
                  </a14:m>
                  <a:r>
                    <a:rPr lang="en-US" sz="3300" baseline="-25000" dirty="0"/>
                    <a:t>1</a:t>
                  </a:r>
                </a:p>
              </p:txBody>
            </p:sp>
          </mc:Choice>
          <mc:Fallback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8B5C00D6-398C-5B16-3AF0-A9813039B5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56943" y="1935054"/>
                  <a:ext cx="1749915" cy="441371"/>
                </a:xfrm>
                <a:prstGeom prst="rect">
                  <a:avLst/>
                </a:prstGeom>
                <a:blipFill>
                  <a:blip r:embed="rId7"/>
                  <a:stretch>
                    <a:fillRect b="-30612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6021D89D-ADC5-E8E9-B1DB-7E04F1115EA3}"/>
              </a:ext>
            </a:extLst>
          </p:cNvPr>
          <p:cNvGrpSpPr/>
          <p:nvPr/>
        </p:nvGrpSpPr>
        <p:grpSpPr>
          <a:xfrm>
            <a:off x="9839664" y="4808215"/>
            <a:ext cx="2459474" cy="600164"/>
            <a:chOff x="8371968" y="1935054"/>
            <a:chExt cx="3861235" cy="450123"/>
          </a:xfrm>
        </p:grpSpPr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60DCF09B-984F-157D-8D78-68F5CF66ECCB}"/>
                </a:ext>
              </a:extLst>
            </p:cNvPr>
            <p:cNvCxnSpPr>
              <a:cxnSpLocks/>
              <a:endCxn id="73" idx="1"/>
            </p:cNvCxnSpPr>
            <p:nvPr/>
          </p:nvCxnSpPr>
          <p:spPr>
            <a:xfrm flipV="1">
              <a:off x="8371968" y="2160116"/>
              <a:ext cx="538456" cy="21159"/>
            </a:xfrm>
            <a:prstGeom prst="straightConnector1">
              <a:avLst/>
            </a:prstGeom>
            <a:ln>
              <a:solidFill>
                <a:schemeClr val="tx1"/>
              </a:solidFill>
              <a:headEnd w="lg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4E25A1A2-88EF-CA2B-E00D-27B6B9694EE3}"/>
                    </a:ext>
                  </a:extLst>
                </p:cNvPr>
                <p:cNvSpPr txBox="1"/>
                <p:nvPr/>
              </p:nvSpPr>
              <p:spPr>
                <a:xfrm>
                  <a:off x="8910424" y="1935054"/>
                  <a:ext cx="3322779" cy="450123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300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3300" i="1">
                            <a:latin typeface="Cambria Math" charset="0"/>
                          </a:rPr>
                          <m:t>=</m:t>
                        </m:r>
                        <m:r>
                          <a:rPr lang="en-US" sz="3300" i="1">
                            <a:latin typeface="Cambria Math" charset="0"/>
                          </a:rPr>
                          <m:t>𝜎</m:t>
                        </m:r>
                        <m:r>
                          <a:rPr lang="en-US" sz="3300" i="1">
                            <a:latin typeface="Cambria Math" charset="0"/>
                          </a:rPr>
                          <m:t>(</m:t>
                        </m:r>
                        <m:r>
                          <a:rPr lang="en-US" sz="3300" i="1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sz="3300" i="1">
                            <a:latin typeface="Cambria Math" charset="0"/>
                          </a:rPr>
                          <m:t>)</m:t>
                        </m:r>
                      </m:oMath>
                    </m:oMathPara>
                  </a14:m>
                  <a:endParaRPr lang="en-US" sz="3300" dirty="0"/>
                </a:p>
              </p:txBody>
            </p:sp>
          </mc:Choice>
          <mc:Fallback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4E25A1A2-88EF-CA2B-E00D-27B6B9694E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10424" y="1935054"/>
                  <a:ext cx="3322779" cy="450123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6A98F011-19FB-D3A5-D1B2-D603ED0B0E74}"/>
              </a:ext>
            </a:extLst>
          </p:cNvPr>
          <p:cNvGrpSpPr/>
          <p:nvPr/>
        </p:nvGrpSpPr>
        <p:grpSpPr>
          <a:xfrm>
            <a:off x="12466580" y="4807040"/>
            <a:ext cx="1871605" cy="600164"/>
            <a:chOff x="11007588" y="1830544"/>
            <a:chExt cx="1572646" cy="471042"/>
          </a:xfrm>
        </p:grpSpPr>
        <p:cxnSp>
          <p:nvCxnSpPr>
            <p:cNvPr id="75" name="Straight Arrow Connector 74">
              <a:extLst>
                <a:ext uri="{FF2B5EF4-FFF2-40B4-BE49-F238E27FC236}">
                  <a16:creationId xmlns:a16="http://schemas.microsoft.com/office/drawing/2014/main" id="{9F00C93F-F0E5-64F7-85B3-ECA63A9D6F3D}"/>
                </a:ext>
              </a:extLst>
            </p:cNvPr>
            <p:cNvCxnSpPr>
              <a:cxnSpLocks/>
              <a:endCxn id="76" idx="1"/>
            </p:cNvCxnSpPr>
            <p:nvPr/>
          </p:nvCxnSpPr>
          <p:spPr>
            <a:xfrm flipV="1">
              <a:off x="11007588" y="2066065"/>
              <a:ext cx="385919" cy="22145"/>
            </a:xfrm>
            <a:prstGeom prst="straightConnector1">
              <a:avLst/>
            </a:prstGeom>
            <a:ln>
              <a:solidFill>
                <a:schemeClr val="tx1"/>
              </a:solidFill>
              <a:headEnd w="lg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28A41594-272F-D9CF-1DFC-601FEFED1252}"/>
                    </a:ext>
                  </a:extLst>
                </p:cNvPr>
                <p:cNvSpPr txBox="1"/>
                <p:nvPr/>
              </p:nvSpPr>
              <p:spPr>
                <a:xfrm>
                  <a:off x="11393507" y="1830544"/>
                  <a:ext cx="1186727" cy="4710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3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ℒ</m:t>
                        </m:r>
                        <m:r>
                          <a:rPr lang="en-US" sz="33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(</m:t>
                        </m:r>
                        <m:r>
                          <a:rPr lang="en-US" sz="3300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  <m:t>𝑎</m:t>
                        </m:r>
                        <m:r>
                          <a:rPr lang="en-US" sz="33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,</m:t>
                        </m:r>
                        <m:r>
                          <a:rPr lang="en-US" sz="33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𝑦</m:t>
                        </m:r>
                        <m:r>
                          <a:rPr lang="en-US" sz="33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) </m:t>
                        </m:r>
                      </m:oMath>
                    </m:oMathPara>
                  </a14:m>
                  <a:endParaRPr lang="en-US" sz="3300" dirty="0"/>
                </a:p>
              </p:txBody>
            </p:sp>
          </mc:Choice>
          <mc:Fallback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28A41594-272F-D9CF-1DFC-601FEFED12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93507" y="1830544"/>
                  <a:ext cx="1186727" cy="47104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025459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547B36-2ED9-A4C5-A234-BF8896D04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201969-51EC-752D-4D2A-1B600ABCEB14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/>
          <a:p>
            <a:fld id="{DEF3F5F5-7776-394F-A41F-3BAFC9CC9F8E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825B472-3DAF-FF18-B630-1B9D6CD4D0C8}"/>
              </a:ext>
            </a:extLst>
          </p:cNvPr>
          <p:cNvSpPr/>
          <p:nvPr/>
        </p:nvSpPr>
        <p:spPr>
          <a:xfrm>
            <a:off x="491064" y="182029"/>
            <a:ext cx="360348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4000" dirty="0">
                <a:solidFill>
                  <a:srgbClr val="00673E"/>
                </a:solidFill>
                <a:latin typeface="Avenir Medium" panose="02000503020000020003" pitchFamily="2" charset="0"/>
                <a:ea typeface="+mj-ea"/>
                <a:cs typeface="+mj-cs"/>
              </a:rPr>
              <a:t>Neural Network </a:t>
            </a:r>
            <a:endParaRPr lang="en-US" sz="4000" dirty="0">
              <a:solidFill>
                <a:srgbClr val="00673E"/>
              </a:solidFill>
              <a:latin typeface="Avenir Medium" panose="02000503020000020003" pitchFamily="2" charset="0"/>
              <a:ea typeface="+mj-ea"/>
              <a:cs typeface="+mj-cs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DD37E14-40EA-293F-E862-229C5FC547D2}"/>
              </a:ext>
            </a:extLst>
          </p:cNvPr>
          <p:cNvGrpSpPr/>
          <p:nvPr/>
        </p:nvGrpSpPr>
        <p:grpSpPr>
          <a:xfrm>
            <a:off x="1012740" y="1610188"/>
            <a:ext cx="7999122" cy="5131379"/>
            <a:chOff x="-12232" y="3668255"/>
            <a:chExt cx="3372189" cy="2288433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8C54200B-AB09-2B44-6266-803F860CD8FD}"/>
                    </a:ext>
                  </a:extLst>
                </p:cNvPr>
                <p:cNvSpPr txBox="1"/>
                <p:nvPr/>
              </p:nvSpPr>
              <p:spPr>
                <a:xfrm>
                  <a:off x="-12232" y="3668255"/>
                  <a:ext cx="639544" cy="64802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733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733" i="1">
                                <a:latin typeface="Cambria Math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3733" i="1">
                                <a:latin typeface="Cambria Math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667" dirty="0"/>
                </a:p>
              </p:txBody>
            </p:sp>
          </mc:Choice>
          <mc:Fallback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8C54200B-AB09-2B44-6266-803F860CD8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2232" y="3668255"/>
                  <a:ext cx="639544" cy="648024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AFC94412-CEF2-7519-0BB3-71DF8BC66F65}"/>
                    </a:ext>
                  </a:extLst>
                </p:cNvPr>
                <p:cNvSpPr txBox="1"/>
                <p:nvPr/>
              </p:nvSpPr>
              <p:spPr>
                <a:xfrm>
                  <a:off x="-337" y="4501372"/>
                  <a:ext cx="597021" cy="64802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733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733" i="1">
                                <a:latin typeface="Cambria Math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3733" i="1">
                                <a:latin typeface="Cambria Math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667" dirty="0"/>
                </a:p>
              </p:txBody>
            </p:sp>
          </mc:Choice>
          <mc:Fallback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AFC94412-CEF2-7519-0BB3-71DF8BC66F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337" y="4501372"/>
                  <a:ext cx="597021" cy="648024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D8ED8F15-1146-A5F3-C9A3-9A86BD060371}"/>
                    </a:ext>
                  </a:extLst>
                </p:cNvPr>
                <p:cNvSpPr txBox="1"/>
                <p:nvPr/>
              </p:nvSpPr>
              <p:spPr>
                <a:xfrm>
                  <a:off x="-337" y="5308664"/>
                  <a:ext cx="597021" cy="64802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733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733" i="1">
                                <a:latin typeface="Cambria Math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3733" i="1">
                                <a:latin typeface="Cambria Math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2667" dirty="0"/>
                </a:p>
              </p:txBody>
            </p:sp>
          </mc:Choice>
          <mc:Fallback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D8ED8F15-1146-A5F3-C9A3-9A86BD0603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337" y="5308664"/>
                  <a:ext cx="597021" cy="648024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9B850364-71C9-5BC9-D2E4-4B5FFFE4C77B}"/>
                </a:ext>
              </a:extLst>
            </p:cNvPr>
            <p:cNvCxnSpPr>
              <a:stCxn id="15" idx="6"/>
              <a:endCxn id="16" idx="3"/>
            </p:cNvCxnSpPr>
            <p:nvPr/>
          </p:nvCxnSpPr>
          <p:spPr>
            <a:xfrm flipV="1">
              <a:off x="1448781" y="4884124"/>
              <a:ext cx="746427" cy="671400"/>
            </a:xfrm>
            <a:prstGeom prst="straightConnector1">
              <a:avLst/>
            </a:prstGeom>
            <a:ln>
              <a:solidFill>
                <a:schemeClr val="tx1"/>
              </a:solidFill>
              <a:headEnd w="lg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0F97DF0D-C30A-3FA0-FBA6-7FB876FF44E6}"/>
                </a:ext>
              </a:extLst>
            </p:cNvPr>
            <p:cNvCxnSpPr>
              <a:stCxn id="14" idx="6"/>
              <a:endCxn id="16" idx="2"/>
            </p:cNvCxnSpPr>
            <p:nvPr/>
          </p:nvCxnSpPr>
          <p:spPr>
            <a:xfrm flipV="1">
              <a:off x="1448781" y="4758446"/>
              <a:ext cx="705935" cy="4534"/>
            </a:xfrm>
            <a:prstGeom prst="straightConnector1">
              <a:avLst/>
            </a:prstGeom>
            <a:ln>
              <a:solidFill>
                <a:schemeClr val="tx1"/>
              </a:solidFill>
              <a:headEnd w="lg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52A43D6D-C13B-AB51-96AF-9E99EA1ACCB9}"/>
                </a:ext>
              </a:extLst>
            </p:cNvPr>
            <p:cNvCxnSpPr>
              <a:cxnSpLocks/>
              <a:stCxn id="16" idx="6"/>
            </p:cNvCxnSpPr>
            <p:nvPr/>
          </p:nvCxnSpPr>
          <p:spPr>
            <a:xfrm>
              <a:off x="2431211" y="4758446"/>
              <a:ext cx="556471" cy="0"/>
            </a:xfrm>
            <a:prstGeom prst="straightConnector1">
              <a:avLst/>
            </a:prstGeom>
            <a:ln>
              <a:solidFill>
                <a:schemeClr val="tx1"/>
              </a:solidFill>
              <a:headEnd w="lg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6B5CDFB7-A634-3AD4-4D1E-3CFEDE5A6D22}"/>
                </a:ext>
              </a:extLst>
            </p:cNvPr>
            <p:cNvSpPr/>
            <p:nvPr/>
          </p:nvSpPr>
          <p:spPr>
            <a:xfrm>
              <a:off x="1172285" y="3792704"/>
              <a:ext cx="276495" cy="35546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22D2A2B8-3F0C-5C64-CB68-00F431B60506}"/>
                </a:ext>
              </a:extLst>
            </p:cNvPr>
            <p:cNvCxnSpPr>
              <a:stCxn id="11" idx="6"/>
              <a:endCxn id="16" idx="1"/>
            </p:cNvCxnSpPr>
            <p:nvPr/>
          </p:nvCxnSpPr>
          <p:spPr>
            <a:xfrm>
              <a:off x="1448780" y="3970438"/>
              <a:ext cx="746428" cy="662331"/>
            </a:xfrm>
            <a:prstGeom prst="straightConnector1">
              <a:avLst/>
            </a:prstGeom>
            <a:ln>
              <a:solidFill>
                <a:schemeClr val="tx1"/>
              </a:solidFill>
              <a:headEnd w="lg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EFCA8197-7D7B-ADAE-DDBC-471579C4076A}"/>
                    </a:ext>
                  </a:extLst>
                </p:cNvPr>
                <p:cNvSpPr txBox="1"/>
                <p:nvPr/>
              </p:nvSpPr>
              <p:spPr>
                <a:xfrm>
                  <a:off x="3050807" y="4545269"/>
                  <a:ext cx="309150" cy="55828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US" sz="3733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3733" i="1">
                                <a:latin typeface="Cambria Math" charset="0"/>
                              </a:rPr>
                              <m:t>𝑦</m:t>
                            </m:r>
                          </m:e>
                        </m:acc>
                      </m:oMath>
                    </m:oMathPara>
                  </a14:m>
                  <a:endParaRPr lang="en-US" sz="2667" dirty="0"/>
                </a:p>
              </p:txBody>
            </p:sp>
          </mc:Choice>
          <mc:Fallback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EFCA8197-7D7B-ADAE-DDBC-471579C4076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50807" y="4545269"/>
                  <a:ext cx="309150" cy="55828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8381C367-C94D-5F5D-3E2E-F86B700ECD4D}"/>
                </a:ext>
              </a:extLst>
            </p:cNvPr>
            <p:cNvSpPr/>
            <p:nvPr/>
          </p:nvSpPr>
          <p:spPr>
            <a:xfrm>
              <a:off x="1172286" y="4585246"/>
              <a:ext cx="276495" cy="35546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B55F644B-B9A1-8E4F-653B-2A19B4C3B4C1}"/>
                </a:ext>
              </a:extLst>
            </p:cNvPr>
            <p:cNvSpPr/>
            <p:nvPr/>
          </p:nvSpPr>
          <p:spPr>
            <a:xfrm>
              <a:off x="1172286" y="5377790"/>
              <a:ext cx="276495" cy="35546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60CDB49A-3353-FEB1-F053-7B40C9B01AE3}"/>
                </a:ext>
              </a:extLst>
            </p:cNvPr>
            <p:cNvSpPr/>
            <p:nvPr/>
          </p:nvSpPr>
          <p:spPr>
            <a:xfrm>
              <a:off x="2154716" y="4580712"/>
              <a:ext cx="276495" cy="35546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F19B1F48-3758-411F-6A13-A4DD49576897}"/>
                </a:ext>
              </a:extLst>
            </p:cNvPr>
            <p:cNvCxnSpPr>
              <a:stCxn id="7" idx="3"/>
              <a:endCxn id="14" idx="3"/>
            </p:cNvCxnSpPr>
            <p:nvPr/>
          </p:nvCxnSpPr>
          <p:spPr>
            <a:xfrm flipV="1">
              <a:off x="596684" y="4888658"/>
              <a:ext cx="616093" cy="744018"/>
            </a:xfrm>
            <a:prstGeom prst="straightConnector1">
              <a:avLst/>
            </a:prstGeom>
            <a:ln>
              <a:solidFill>
                <a:schemeClr val="tx1"/>
              </a:solidFill>
              <a:headEnd w="lg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09B55D1D-1659-10F1-8592-34273F2AA7D0}"/>
                </a:ext>
              </a:extLst>
            </p:cNvPr>
            <p:cNvCxnSpPr>
              <a:stCxn id="7" idx="3"/>
              <a:endCxn id="15" idx="2"/>
            </p:cNvCxnSpPr>
            <p:nvPr/>
          </p:nvCxnSpPr>
          <p:spPr>
            <a:xfrm flipV="1">
              <a:off x="596684" y="5555525"/>
              <a:ext cx="575602" cy="77151"/>
            </a:xfrm>
            <a:prstGeom prst="straightConnector1">
              <a:avLst/>
            </a:prstGeom>
            <a:ln>
              <a:solidFill>
                <a:schemeClr val="tx1"/>
              </a:solidFill>
              <a:headEnd w="lg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722810E9-5F53-AB40-F8A9-68DE72D5E104}"/>
                </a:ext>
              </a:extLst>
            </p:cNvPr>
            <p:cNvCxnSpPr>
              <a:stCxn id="7" idx="3"/>
              <a:endCxn id="11" idx="3"/>
            </p:cNvCxnSpPr>
            <p:nvPr/>
          </p:nvCxnSpPr>
          <p:spPr>
            <a:xfrm flipV="1">
              <a:off x="596684" y="4096116"/>
              <a:ext cx="616092" cy="1536560"/>
            </a:xfrm>
            <a:prstGeom prst="straightConnector1">
              <a:avLst/>
            </a:prstGeom>
            <a:ln>
              <a:solidFill>
                <a:schemeClr val="tx1"/>
              </a:solidFill>
              <a:headEnd w="lg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1F3B340D-F1F6-A813-4B71-0CC7BC65AA94}"/>
                </a:ext>
              </a:extLst>
            </p:cNvPr>
            <p:cNvCxnSpPr>
              <a:stCxn id="6" idx="3"/>
              <a:endCxn id="14" idx="2"/>
            </p:cNvCxnSpPr>
            <p:nvPr/>
          </p:nvCxnSpPr>
          <p:spPr>
            <a:xfrm flipV="1">
              <a:off x="596684" y="4762980"/>
              <a:ext cx="575602" cy="62404"/>
            </a:xfrm>
            <a:prstGeom prst="straightConnector1">
              <a:avLst/>
            </a:prstGeom>
            <a:ln>
              <a:solidFill>
                <a:schemeClr val="tx1"/>
              </a:solidFill>
              <a:headEnd w="lg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4A00C800-ABD6-9156-3333-ADCDE2F219FE}"/>
                </a:ext>
              </a:extLst>
            </p:cNvPr>
            <p:cNvCxnSpPr>
              <a:stCxn id="6" idx="3"/>
              <a:endCxn id="11" idx="3"/>
            </p:cNvCxnSpPr>
            <p:nvPr/>
          </p:nvCxnSpPr>
          <p:spPr>
            <a:xfrm flipV="1">
              <a:off x="596684" y="4096115"/>
              <a:ext cx="616092" cy="729269"/>
            </a:xfrm>
            <a:prstGeom prst="straightConnector1">
              <a:avLst/>
            </a:prstGeom>
            <a:ln>
              <a:solidFill>
                <a:schemeClr val="tx1"/>
              </a:solidFill>
              <a:headEnd w="lg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33EC5BD0-F983-E11F-11E4-C29C8FA9185F}"/>
                </a:ext>
              </a:extLst>
            </p:cNvPr>
            <p:cNvCxnSpPr>
              <a:stCxn id="6" idx="3"/>
              <a:endCxn id="15" idx="2"/>
            </p:cNvCxnSpPr>
            <p:nvPr/>
          </p:nvCxnSpPr>
          <p:spPr>
            <a:xfrm>
              <a:off x="596684" y="4825384"/>
              <a:ext cx="575602" cy="730140"/>
            </a:xfrm>
            <a:prstGeom prst="straightConnector1">
              <a:avLst/>
            </a:prstGeom>
            <a:ln>
              <a:solidFill>
                <a:schemeClr val="tx1"/>
              </a:solidFill>
              <a:headEnd w="lg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4F195D5C-9151-4EFD-B4D9-BC589A5E3412}"/>
                </a:ext>
              </a:extLst>
            </p:cNvPr>
            <p:cNvCxnSpPr>
              <a:stCxn id="4" idx="3"/>
              <a:endCxn id="11" idx="2"/>
            </p:cNvCxnSpPr>
            <p:nvPr/>
          </p:nvCxnSpPr>
          <p:spPr>
            <a:xfrm flipV="1">
              <a:off x="627312" y="3970438"/>
              <a:ext cx="544973" cy="21829"/>
            </a:xfrm>
            <a:prstGeom prst="straightConnector1">
              <a:avLst/>
            </a:prstGeom>
            <a:ln>
              <a:solidFill>
                <a:schemeClr val="tx1"/>
              </a:solidFill>
              <a:headEnd w="lg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DF665E14-F0B3-BBE1-D0FC-A598442DEFC1}"/>
                </a:ext>
              </a:extLst>
            </p:cNvPr>
            <p:cNvCxnSpPr>
              <a:stCxn id="4" idx="3"/>
              <a:endCxn id="14" idx="1"/>
            </p:cNvCxnSpPr>
            <p:nvPr/>
          </p:nvCxnSpPr>
          <p:spPr>
            <a:xfrm>
              <a:off x="627312" y="3992267"/>
              <a:ext cx="585465" cy="645036"/>
            </a:xfrm>
            <a:prstGeom prst="straightConnector1">
              <a:avLst/>
            </a:prstGeom>
            <a:ln>
              <a:solidFill>
                <a:schemeClr val="tx1"/>
              </a:solidFill>
              <a:headEnd w="lg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3A292235-0A1D-959C-B843-0F879FBF29A4}"/>
                </a:ext>
              </a:extLst>
            </p:cNvPr>
            <p:cNvCxnSpPr>
              <a:stCxn id="4" idx="3"/>
              <a:endCxn id="15" idx="1"/>
            </p:cNvCxnSpPr>
            <p:nvPr/>
          </p:nvCxnSpPr>
          <p:spPr>
            <a:xfrm>
              <a:off x="627312" y="3992267"/>
              <a:ext cx="585465" cy="1437580"/>
            </a:xfrm>
            <a:prstGeom prst="straightConnector1">
              <a:avLst/>
            </a:prstGeom>
            <a:ln>
              <a:solidFill>
                <a:schemeClr val="tx1"/>
              </a:solidFill>
              <a:headEnd w="lg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347613C7-FC64-D16F-F555-FF8C7F9AF333}"/>
              </a:ext>
            </a:extLst>
          </p:cNvPr>
          <p:cNvSpPr txBox="1"/>
          <p:nvPr/>
        </p:nvSpPr>
        <p:spPr>
          <a:xfrm>
            <a:off x="9521375" y="1449326"/>
            <a:ext cx="419462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>
                <a:solidFill>
                  <a:srgbClr val="00673E"/>
                </a:solidFill>
                <a:latin typeface="Avenir Medium" panose="02000503020000020003" pitchFamily="2" charset="0"/>
                <a:ea typeface="+mj-ea"/>
                <a:cs typeface="+mj-cs"/>
              </a:rPr>
              <a:t>Layers ?</a:t>
            </a:r>
          </a:p>
          <a:p>
            <a:endParaRPr lang="en-IN" sz="3200" dirty="0">
              <a:solidFill>
                <a:srgbClr val="00673E"/>
              </a:solidFill>
              <a:latin typeface="Avenir Medium" panose="02000503020000020003" pitchFamily="2" charset="0"/>
              <a:ea typeface="+mj-ea"/>
              <a:cs typeface="+mj-cs"/>
            </a:endParaRPr>
          </a:p>
          <a:p>
            <a:r>
              <a:rPr lang="en-IN" sz="3200" dirty="0">
                <a:solidFill>
                  <a:srgbClr val="00673E"/>
                </a:solidFill>
                <a:latin typeface="Avenir Medium" panose="02000503020000020003" pitchFamily="2" charset="0"/>
                <a:ea typeface="+mj-ea"/>
                <a:cs typeface="+mj-cs"/>
              </a:rPr>
              <a:t>Hidden Layers ?  </a:t>
            </a:r>
          </a:p>
        </p:txBody>
      </p:sp>
    </p:spTree>
    <p:extLst>
      <p:ext uri="{BB962C8B-B14F-4D97-AF65-F5344CB8AC3E}">
        <p14:creationId xmlns:p14="http://schemas.microsoft.com/office/powerpoint/2010/main" val="3032371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80D51E-651D-E0C3-1132-7F7D7AAC7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878DF0-0883-66EA-6F6B-38B7E1C4582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/>
          <a:p>
            <a:fld id="{DEF3F5F5-7776-394F-A41F-3BAFC9CC9F8E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7D10393-A7F0-D925-35BF-B2ECC338B254}"/>
              </a:ext>
            </a:extLst>
          </p:cNvPr>
          <p:cNvSpPr/>
          <p:nvPr/>
        </p:nvSpPr>
        <p:spPr>
          <a:xfrm>
            <a:off x="491064" y="182029"/>
            <a:ext cx="811972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4000" dirty="0">
                <a:solidFill>
                  <a:srgbClr val="00673E"/>
                </a:solidFill>
                <a:latin typeface="Avenir Medium" panose="02000503020000020003" pitchFamily="2" charset="0"/>
                <a:ea typeface="+mj-ea"/>
                <a:cs typeface="+mj-cs"/>
              </a:rPr>
              <a:t>Neural Network – Activation Function </a:t>
            </a:r>
            <a:endParaRPr lang="en-US" sz="4000" dirty="0">
              <a:solidFill>
                <a:srgbClr val="00673E"/>
              </a:solidFill>
              <a:latin typeface="Avenir Medium" panose="02000503020000020003" pitchFamily="2" charset="0"/>
              <a:ea typeface="+mj-ea"/>
              <a:cs typeface="+mj-cs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24E92412-A464-96C1-B656-FFCF95BA4C6B}"/>
              </a:ext>
            </a:extLst>
          </p:cNvPr>
          <p:cNvGrpSpPr/>
          <p:nvPr/>
        </p:nvGrpSpPr>
        <p:grpSpPr>
          <a:xfrm>
            <a:off x="542661" y="889916"/>
            <a:ext cx="9376977" cy="5322872"/>
            <a:chOff x="285752" y="596702"/>
            <a:chExt cx="3889481" cy="3171905"/>
          </a:xfrm>
        </p:grpSpPr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6434CFA4-363B-4E28-D563-BE0943C8DFC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0765" y="1288300"/>
              <a:ext cx="3029046" cy="1360957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6794F0E5-22FC-8477-8331-54EE20205797}"/>
                </a:ext>
              </a:extLst>
            </p:cNvPr>
            <p:cNvSpPr txBox="1"/>
            <p:nvPr/>
          </p:nvSpPr>
          <p:spPr>
            <a:xfrm>
              <a:off x="2207881" y="596702"/>
              <a:ext cx="388076" cy="9583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689" dirty="0">
                  <a:latin typeface="Century Schoolbook" charset="0"/>
                  <a:ea typeface="Century Schoolbook" charset="0"/>
                  <a:cs typeface="Century Schoolbook" charset="0"/>
                </a:rPr>
                <a:t>a</a:t>
              </a:r>
            </a:p>
          </p:txBody>
        </p: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DED19687-F1BD-4BA1-5F66-AFA7D7765476}"/>
                </a:ext>
              </a:extLst>
            </p:cNvPr>
            <p:cNvGrpSpPr/>
            <p:nvPr/>
          </p:nvGrpSpPr>
          <p:grpSpPr>
            <a:xfrm>
              <a:off x="285752" y="1043923"/>
              <a:ext cx="3889481" cy="2724684"/>
              <a:chOff x="701729" y="1518557"/>
              <a:chExt cx="3889481" cy="2724684"/>
            </a:xfrm>
          </p:grpSpPr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26B490AF-E06B-16BE-D0B0-68A1176889FC}"/>
                  </a:ext>
                </a:extLst>
              </p:cNvPr>
              <p:cNvGrpSpPr/>
              <p:nvPr/>
            </p:nvGrpSpPr>
            <p:grpSpPr>
              <a:xfrm>
                <a:off x="895351" y="1518557"/>
                <a:ext cx="3445328" cy="1567543"/>
                <a:chOff x="653144" y="1469572"/>
                <a:chExt cx="3445328" cy="1567543"/>
              </a:xfrm>
            </p:grpSpPr>
            <p:cxnSp>
              <p:nvCxnSpPr>
                <p:cNvPr id="35" name="Straight Arrow Connector 34">
                  <a:extLst>
                    <a:ext uri="{FF2B5EF4-FFF2-40B4-BE49-F238E27FC236}">
                      <a16:creationId xmlns:a16="http://schemas.microsoft.com/office/drawing/2014/main" id="{42F91F41-3229-AEC6-02BF-A78ACE0B3408}"/>
                    </a:ext>
                  </a:extLst>
                </p:cNvPr>
                <p:cNvCxnSpPr/>
                <p:nvPr/>
              </p:nvCxnSpPr>
              <p:spPr>
                <a:xfrm>
                  <a:off x="653144" y="3037115"/>
                  <a:ext cx="3445328" cy="0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headEnd type="none" w="lg" len="lg"/>
                  <a:tailEnd type="triangl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Straight Arrow Connector 35">
                  <a:extLst>
                    <a:ext uri="{FF2B5EF4-FFF2-40B4-BE49-F238E27FC236}">
                      <a16:creationId xmlns:a16="http://schemas.microsoft.com/office/drawing/2014/main" id="{B197DC23-16ED-C1DE-732C-0A1DFF64FE88}"/>
                    </a:ext>
                  </a:extLst>
                </p:cNvPr>
                <p:cNvCxnSpPr/>
                <p:nvPr/>
              </p:nvCxnSpPr>
              <p:spPr>
                <a:xfrm flipV="1">
                  <a:off x="2375808" y="1469572"/>
                  <a:ext cx="0" cy="1567543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AE46061-5332-BEEC-8FFE-25422BEAFF2B}"/>
                  </a:ext>
                </a:extLst>
              </p:cNvPr>
              <p:cNvSpPr txBox="1"/>
              <p:nvPr/>
            </p:nvSpPr>
            <p:spPr>
              <a:xfrm>
                <a:off x="4238969" y="2897342"/>
                <a:ext cx="352241" cy="95832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5689" dirty="0">
                    <a:latin typeface="Century Schoolbook" charset="0"/>
                    <a:ea typeface="Century Schoolbook" charset="0"/>
                    <a:cs typeface="Century Schoolbook" charset="0"/>
                  </a:rPr>
                  <a:t>z</a:t>
                </a: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20DE138D-7393-A970-9D07-4941598360EE}"/>
                  </a:ext>
                </a:extLst>
              </p:cNvPr>
              <p:cNvSpPr txBox="1"/>
              <p:nvPr/>
            </p:nvSpPr>
            <p:spPr>
              <a:xfrm>
                <a:off x="701729" y="3873684"/>
                <a:ext cx="756136" cy="35763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300" dirty="0">
                    <a:latin typeface="Century Schoolbook" charset="0"/>
                    <a:ea typeface="Century Schoolbook" charset="0"/>
                    <a:cs typeface="Century Schoolbook" charset="0"/>
                  </a:rPr>
                  <a:t>sigmoid:</a:t>
                </a:r>
                <a:endParaRPr lang="en-US" sz="3300" dirty="0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4" name="TextBox 33">
                    <a:extLst>
                      <a:ext uri="{FF2B5EF4-FFF2-40B4-BE49-F238E27FC236}">
                        <a16:creationId xmlns:a16="http://schemas.microsoft.com/office/drawing/2014/main" id="{E76CA289-698F-0CBA-1357-5B8E625F7B89}"/>
                      </a:ext>
                    </a:extLst>
                  </p:cNvPr>
                  <p:cNvSpPr txBox="1"/>
                  <p:nvPr/>
                </p:nvSpPr>
                <p:spPr>
                  <a:xfrm>
                    <a:off x="1544158" y="3669682"/>
                    <a:ext cx="991249" cy="57355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3300" i="1">
                              <a:latin typeface="Cambria Math" charset="0"/>
                            </a:rPr>
                            <m:t>𝑎</m:t>
                          </m:r>
                          <m:r>
                            <a:rPr lang="en-US" sz="3300" i="1">
                              <a:latin typeface="Cambria Math" charset="0"/>
                            </a:rPr>
                            <m:t>= </m:t>
                          </m:r>
                          <m:f>
                            <m:fPr>
                              <m:ctrlPr>
                                <a:rPr lang="mr-IN" sz="33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3300" i="1">
                                  <a:latin typeface="Cambria Math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3300" i="1">
                                  <a:latin typeface="Cambria Math" charset="0"/>
                                </a:rPr>
                                <m:t>1+</m:t>
                              </m:r>
                              <m:sSup>
                                <m:sSupPr>
                                  <m:ctrlPr>
                                    <a:rPr lang="en-US" sz="33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300" i="1">
                                      <a:latin typeface="Cambria Math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3300" i="1">
                                      <a:latin typeface="Cambria Math" charset="0"/>
                                    </a:rPr>
                                    <m:t>−</m:t>
                                  </m:r>
                                  <m:r>
                                    <a:rPr lang="en-US" sz="3300" i="1">
                                      <a:latin typeface="Cambria Math" charset="0"/>
                                    </a:rPr>
                                    <m:t>𝑧</m:t>
                                  </m:r>
                                </m:sup>
                              </m:sSup>
                            </m:den>
                          </m:f>
                        </m:oMath>
                      </m:oMathPara>
                    </a14:m>
                    <a:endParaRPr lang="en-US" sz="3300" dirty="0"/>
                  </a:p>
                </p:txBody>
              </p:sp>
            </mc:Choice>
            <mc:Fallback>
              <p:sp>
                <p:nvSpPr>
                  <p:cNvPr id="34" name="TextBox 33">
                    <a:extLst>
                      <a:ext uri="{FF2B5EF4-FFF2-40B4-BE49-F238E27FC236}">
                        <a16:creationId xmlns:a16="http://schemas.microsoft.com/office/drawing/2014/main" id="{E76CA289-698F-0CBA-1357-5B8E625F7B8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544158" y="3669682"/>
                    <a:ext cx="991249" cy="57355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CA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332B3909-0D05-E0A2-D85A-412717B2FE31}"/>
              </a:ext>
            </a:extLst>
          </p:cNvPr>
          <p:cNvSpPr txBox="1"/>
          <p:nvPr/>
        </p:nvSpPr>
        <p:spPr>
          <a:xfrm>
            <a:off x="4777495" y="1884148"/>
            <a:ext cx="420308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300" dirty="0">
                <a:latin typeface="Century Schoolbook" charset="0"/>
                <a:ea typeface="Century Schoolbook" charset="0"/>
                <a:cs typeface="Century Schoolbook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9470277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D21CCF-17A2-3D25-4A41-9BA1E77DF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1D9995-8F71-E71C-60B5-F653471EBFD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/>
          <a:p>
            <a:fld id="{DEF3F5F5-7776-394F-A41F-3BAFC9CC9F8E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F93B7C3-A74E-86AB-6524-2B135838BB33}"/>
              </a:ext>
            </a:extLst>
          </p:cNvPr>
          <p:cNvSpPr/>
          <p:nvPr/>
        </p:nvSpPr>
        <p:spPr>
          <a:xfrm>
            <a:off x="491064" y="182029"/>
            <a:ext cx="800430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4000" dirty="0">
                <a:solidFill>
                  <a:srgbClr val="00673E"/>
                </a:solidFill>
                <a:latin typeface="Avenir Medium" panose="02000503020000020003" pitchFamily="2" charset="0"/>
                <a:ea typeface="+mj-ea"/>
                <a:cs typeface="+mj-cs"/>
              </a:rPr>
              <a:t>Neural Network – Activation Function</a:t>
            </a:r>
            <a:endParaRPr lang="en-US" sz="4000" dirty="0">
              <a:solidFill>
                <a:srgbClr val="00673E"/>
              </a:solidFill>
              <a:latin typeface="Avenir Medium" panose="02000503020000020003" pitchFamily="2" charset="0"/>
              <a:ea typeface="+mj-ea"/>
              <a:cs typeface="+mj-cs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BA70871-2FE2-7F44-F6DA-D52E7B7B96FB}"/>
              </a:ext>
            </a:extLst>
          </p:cNvPr>
          <p:cNvGrpSpPr/>
          <p:nvPr/>
        </p:nvGrpSpPr>
        <p:grpSpPr>
          <a:xfrm>
            <a:off x="10296260" y="3996267"/>
            <a:ext cx="4485472" cy="3732052"/>
            <a:chOff x="7208768" y="3794717"/>
            <a:chExt cx="3937217" cy="2442879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4949D955-8F35-AABF-C82B-BC6A3806E03B}"/>
                </a:ext>
              </a:extLst>
            </p:cNvPr>
            <p:cNvGrpSpPr/>
            <p:nvPr/>
          </p:nvGrpSpPr>
          <p:grpSpPr>
            <a:xfrm>
              <a:off x="7208768" y="4244096"/>
              <a:ext cx="3937217" cy="1993500"/>
              <a:chOff x="435050" y="3804505"/>
              <a:chExt cx="3912636" cy="1993500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A81A4B5B-4C03-BE74-75E0-B46EE40E10B2}"/>
                  </a:ext>
                </a:extLst>
              </p:cNvPr>
              <p:cNvGrpSpPr/>
              <p:nvPr/>
            </p:nvGrpSpPr>
            <p:grpSpPr>
              <a:xfrm>
                <a:off x="435050" y="3804505"/>
                <a:ext cx="3912636" cy="1993500"/>
                <a:chOff x="895351" y="1518557"/>
                <a:chExt cx="3912636" cy="1993500"/>
              </a:xfrm>
            </p:grpSpPr>
            <p:grpSp>
              <p:nvGrpSpPr>
                <p:cNvPr id="23" name="Group 22">
                  <a:extLst>
                    <a:ext uri="{FF2B5EF4-FFF2-40B4-BE49-F238E27FC236}">
                      <a16:creationId xmlns:a16="http://schemas.microsoft.com/office/drawing/2014/main" id="{B3B31B62-BCCA-FDC0-40E1-C8DCF6CAFB4E}"/>
                    </a:ext>
                  </a:extLst>
                </p:cNvPr>
                <p:cNvGrpSpPr/>
                <p:nvPr/>
              </p:nvGrpSpPr>
              <p:grpSpPr>
                <a:xfrm>
                  <a:off x="895351" y="1518557"/>
                  <a:ext cx="3445328" cy="1567543"/>
                  <a:chOff x="653144" y="1469572"/>
                  <a:chExt cx="3445328" cy="1567543"/>
                </a:xfrm>
              </p:grpSpPr>
              <p:cxnSp>
                <p:nvCxnSpPr>
                  <p:cNvPr id="25" name="Straight Arrow Connector 24">
                    <a:extLst>
                      <a:ext uri="{FF2B5EF4-FFF2-40B4-BE49-F238E27FC236}">
                        <a16:creationId xmlns:a16="http://schemas.microsoft.com/office/drawing/2014/main" id="{EDFC9205-72D5-6FBB-2CA6-C0D5E8E9719E}"/>
                      </a:ext>
                    </a:extLst>
                  </p:cNvPr>
                  <p:cNvCxnSpPr/>
                  <p:nvPr/>
                </p:nvCxnSpPr>
                <p:spPr>
                  <a:xfrm>
                    <a:off x="653144" y="3037115"/>
                    <a:ext cx="3445328" cy="0"/>
                  </a:xfrm>
                  <a:prstGeom prst="straightConnector1">
                    <a:avLst/>
                  </a:prstGeom>
                  <a:ln w="12700">
                    <a:solidFill>
                      <a:schemeClr val="tx1"/>
                    </a:solidFill>
                    <a:headEnd type="none" w="lg" len="lg"/>
                    <a:tailEnd type="triangle" w="lg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" name="Straight Arrow Connector 2">
                    <a:extLst>
                      <a:ext uri="{FF2B5EF4-FFF2-40B4-BE49-F238E27FC236}">
                        <a16:creationId xmlns:a16="http://schemas.microsoft.com/office/drawing/2014/main" id="{E895D395-40DE-2CEF-4C40-B3EE07145F8A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2375808" y="1469572"/>
                    <a:ext cx="0" cy="1567543"/>
                  </a:xfrm>
                  <a:prstGeom prst="straightConnector1">
                    <a:avLst/>
                  </a:prstGeom>
                  <a:ln w="12700">
                    <a:solidFill>
                      <a:schemeClr val="tx1"/>
                    </a:solidFill>
                    <a:tailEnd type="triangle" w="lg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774EB79D-9D2B-DFA5-58D1-414F894AC4A9}"/>
                    </a:ext>
                  </a:extLst>
                </p:cNvPr>
                <p:cNvSpPr txBox="1"/>
                <p:nvPr/>
              </p:nvSpPr>
              <p:spPr>
                <a:xfrm>
                  <a:off x="4340680" y="2878548"/>
                  <a:ext cx="467307" cy="63350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5689">
                      <a:latin typeface="Century Schoolbook" charset="0"/>
                      <a:ea typeface="Century Schoolbook" charset="0"/>
                      <a:cs typeface="Century Schoolbook" charset="0"/>
                    </a:rPr>
                    <a:t>z</a:t>
                  </a:r>
                </a:p>
              </p:txBody>
            </p:sp>
          </p:grp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94520C82-A8FD-208B-56A8-52848D387582}"/>
                  </a:ext>
                </a:extLst>
              </p:cNvPr>
              <p:cNvCxnSpPr/>
              <p:nvPr/>
            </p:nvCxnSpPr>
            <p:spPr>
              <a:xfrm flipV="1">
                <a:off x="2157715" y="3939902"/>
                <a:ext cx="1427918" cy="142287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C81E292D-3C85-8F62-9416-B00589F5B145}"/>
                  </a:ext>
                </a:extLst>
              </p:cNvPr>
              <p:cNvCxnSpPr/>
              <p:nvPr/>
            </p:nvCxnSpPr>
            <p:spPr>
              <a:xfrm flipV="1">
                <a:off x="654371" y="5361128"/>
                <a:ext cx="1503343" cy="146304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9DDDE9A-E9A0-E047-2435-4D91AE104526}"/>
                </a:ext>
              </a:extLst>
            </p:cNvPr>
            <p:cNvSpPr txBox="1"/>
            <p:nvPr/>
          </p:nvSpPr>
          <p:spPr>
            <a:xfrm>
              <a:off x="8931430" y="3794717"/>
              <a:ext cx="518083" cy="6335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689" dirty="0">
                  <a:latin typeface="Century Schoolbook" charset="0"/>
                  <a:ea typeface="Century Schoolbook" charset="0"/>
                  <a:cs typeface="Century Schoolbook" charset="0"/>
                </a:rPr>
                <a:t>a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20722386-AE65-588D-BF93-3EC87624B4BD}"/>
              </a:ext>
            </a:extLst>
          </p:cNvPr>
          <p:cNvGrpSpPr/>
          <p:nvPr/>
        </p:nvGrpSpPr>
        <p:grpSpPr>
          <a:xfrm>
            <a:off x="1153604" y="894899"/>
            <a:ext cx="4935722" cy="2936871"/>
            <a:chOff x="7230413" y="866224"/>
            <a:chExt cx="3875835" cy="2414852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3A1C164C-9737-4A8E-B15A-A5EE02FB10B3}"/>
                </a:ext>
              </a:extLst>
            </p:cNvPr>
            <p:cNvSpPr txBox="1"/>
            <p:nvPr/>
          </p:nvSpPr>
          <p:spPr>
            <a:xfrm>
              <a:off x="10654095" y="2087075"/>
              <a:ext cx="452153" cy="79580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689" dirty="0">
                  <a:latin typeface="Century Schoolbook" charset="0"/>
                  <a:ea typeface="Century Schoolbook" charset="0"/>
                  <a:cs typeface="Century Schoolbook" charset="0"/>
                </a:rPr>
                <a:t>x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D07F5D1-00D2-784F-F3D8-9F4DF37E9DB1}"/>
                </a:ext>
              </a:extLst>
            </p:cNvPr>
            <p:cNvSpPr txBox="1"/>
            <p:nvPr/>
          </p:nvSpPr>
          <p:spPr>
            <a:xfrm>
              <a:off x="8953075" y="866224"/>
              <a:ext cx="463482" cy="79580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689" dirty="0">
                  <a:latin typeface="Century Schoolbook" charset="0"/>
                  <a:ea typeface="Century Schoolbook" charset="0"/>
                  <a:cs typeface="Century Schoolbook" charset="0"/>
                </a:rPr>
                <a:t>a</a:t>
              </a: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0B6758D6-C129-E1D0-1ED2-7ED93D1BA6B6}"/>
                </a:ext>
              </a:extLst>
            </p:cNvPr>
            <p:cNvGrpSpPr/>
            <p:nvPr/>
          </p:nvGrpSpPr>
          <p:grpSpPr>
            <a:xfrm>
              <a:off x="7230413" y="1271473"/>
              <a:ext cx="3445328" cy="2009603"/>
              <a:chOff x="7270617" y="1253738"/>
              <a:chExt cx="3445328" cy="2009603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AF4EE51B-3916-DB7B-9EF0-13582AA19D8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478758" y="1578060"/>
                <a:ext cx="3029046" cy="1360957"/>
              </a:xfrm>
              <a:prstGeom prst="rect">
                <a:avLst/>
              </a:prstGeom>
            </p:spPr>
          </p:pic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C26D039A-CD6C-A35F-F7C4-80570548F730}"/>
                  </a:ext>
                </a:extLst>
              </p:cNvPr>
              <p:cNvGrpSpPr/>
              <p:nvPr/>
            </p:nvGrpSpPr>
            <p:grpSpPr>
              <a:xfrm>
                <a:off x="7270617" y="1253738"/>
                <a:ext cx="3445328" cy="2009603"/>
                <a:chOff x="7270617" y="1253738"/>
                <a:chExt cx="3445328" cy="2009603"/>
              </a:xfrm>
            </p:grpSpPr>
            <p:cxnSp>
              <p:nvCxnSpPr>
                <p:cNvPr id="10" name="Straight Arrow Connector 9">
                  <a:extLst>
                    <a:ext uri="{FF2B5EF4-FFF2-40B4-BE49-F238E27FC236}">
                      <a16:creationId xmlns:a16="http://schemas.microsoft.com/office/drawing/2014/main" id="{5629BFF1-7E4C-D764-5BDD-D8EC664E3E13}"/>
                    </a:ext>
                  </a:extLst>
                </p:cNvPr>
                <p:cNvCxnSpPr/>
                <p:nvPr/>
              </p:nvCxnSpPr>
              <p:spPr>
                <a:xfrm>
                  <a:off x="7270617" y="2248915"/>
                  <a:ext cx="3445328" cy="0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headEnd type="none" w="lg" len="lg"/>
                  <a:tailEnd type="triangl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Arrow Connector 57">
                  <a:extLst>
                    <a:ext uri="{FF2B5EF4-FFF2-40B4-BE49-F238E27FC236}">
                      <a16:creationId xmlns:a16="http://schemas.microsoft.com/office/drawing/2014/main" id="{9DB70C4E-DD9C-EB44-7C11-CEE42F9F5BC6}"/>
                    </a:ext>
                  </a:extLst>
                </p:cNvPr>
                <p:cNvCxnSpPr/>
                <p:nvPr/>
              </p:nvCxnSpPr>
              <p:spPr>
                <a:xfrm>
                  <a:off x="8993546" y="1253738"/>
                  <a:ext cx="0" cy="2009603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headEnd type="triangle" w="lg" len="lg"/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23DCA743-34A8-B229-43BA-7BB864BDCF58}"/>
              </a:ext>
            </a:extLst>
          </p:cNvPr>
          <p:cNvGrpSpPr/>
          <p:nvPr/>
        </p:nvGrpSpPr>
        <p:grpSpPr>
          <a:xfrm>
            <a:off x="1219994" y="4809069"/>
            <a:ext cx="4671949" cy="3089749"/>
            <a:chOff x="417573" y="3888840"/>
            <a:chExt cx="3790263" cy="2648332"/>
          </a:xfrm>
        </p:grpSpPr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AB3BD64F-C295-E583-AA69-D2CBB980E8AD}"/>
                </a:ext>
              </a:extLst>
            </p:cNvPr>
            <p:cNvGrpSpPr/>
            <p:nvPr/>
          </p:nvGrpSpPr>
          <p:grpSpPr>
            <a:xfrm>
              <a:off x="417573" y="3888840"/>
              <a:ext cx="3790263" cy="2648332"/>
              <a:chOff x="417573" y="3888840"/>
              <a:chExt cx="3790263" cy="2648332"/>
            </a:xfrm>
          </p:grpSpPr>
          <p:grpSp>
            <p:nvGrpSpPr>
              <p:cNvPr id="62" name="Group 61">
                <a:extLst>
                  <a:ext uri="{FF2B5EF4-FFF2-40B4-BE49-F238E27FC236}">
                    <a16:creationId xmlns:a16="http://schemas.microsoft.com/office/drawing/2014/main" id="{C690B520-D401-A064-7F77-6FCAC27806F3}"/>
                  </a:ext>
                </a:extLst>
              </p:cNvPr>
              <p:cNvGrpSpPr/>
              <p:nvPr/>
            </p:nvGrpSpPr>
            <p:grpSpPr>
              <a:xfrm>
                <a:off x="417573" y="4358467"/>
                <a:ext cx="3790263" cy="2178705"/>
                <a:chOff x="435050" y="3804505"/>
                <a:chExt cx="3790263" cy="2178705"/>
              </a:xfrm>
            </p:grpSpPr>
            <p:grpSp>
              <p:nvGrpSpPr>
                <p:cNvPr id="64" name="Group 63">
                  <a:extLst>
                    <a:ext uri="{FF2B5EF4-FFF2-40B4-BE49-F238E27FC236}">
                      <a16:creationId xmlns:a16="http://schemas.microsoft.com/office/drawing/2014/main" id="{B6F8C304-2123-DD96-D4C8-C7A258356C9D}"/>
                    </a:ext>
                  </a:extLst>
                </p:cNvPr>
                <p:cNvGrpSpPr/>
                <p:nvPr/>
              </p:nvGrpSpPr>
              <p:grpSpPr>
                <a:xfrm>
                  <a:off x="435050" y="3804505"/>
                  <a:ext cx="3790263" cy="2178705"/>
                  <a:chOff x="895351" y="1518557"/>
                  <a:chExt cx="3790263" cy="2178705"/>
                </a:xfrm>
              </p:grpSpPr>
              <p:grpSp>
                <p:nvGrpSpPr>
                  <p:cNvPr id="67" name="Group 66">
                    <a:extLst>
                      <a:ext uri="{FF2B5EF4-FFF2-40B4-BE49-F238E27FC236}">
                        <a16:creationId xmlns:a16="http://schemas.microsoft.com/office/drawing/2014/main" id="{11088DC9-BE35-FC11-E82D-FA0AFBAEA1D3}"/>
                      </a:ext>
                    </a:extLst>
                  </p:cNvPr>
                  <p:cNvGrpSpPr/>
                  <p:nvPr/>
                </p:nvGrpSpPr>
                <p:grpSpPr>
                  <a:xfrm>
                    <a:off x="895351" y="1518557"/>
                    <a:ext cx="3445328" cy="1567543"/>
                    <a:chOff x="653144" y="1469572"/>
                    <a:chExt cx="3445328" cy="1567543"/>
                  </a:xfrm>
                </p:grpSpPr>
                <p:cxnSp>
                  <p:nvCxnSpPr>
                    <p:cNvPr id="69" name="Straight Arrow Connector 68">
                      <a:extLst>
                        <a:ext uri="{FF2B5EF4-FFF2-40B4-BE49-F238E27FC236}">
                          <a16:creationId xmlns:a16="http://schemas.microsoft.com/office/drawing/2014/main" id="{1034D59B-5EF9-A565-B767-DE35E7C5CEFC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653144" y="3037115"/>
                      <a:ext cx="3445328" cy="0"/>
                    </a:xfrm>
                    <a:prstGeom prst="straightConnector1">
                      <a:avLst/>
                    </a:prstGeom>
                    <a:ln w="12700">
                      <a:solidFill>
                        <a:schemeClr val="tx1"/>
                      </a:solidFill>
                      <a:headEnd type="none" w="lg" len="lg"/>
                      <a:tailEnd type="triangle" w="lg" len="lg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0" name="Straight Arrow Connector 69">
                      <a:extLst>
                        <a:ext uri="{FF2B5EF4-FFF2-40B4-BE49-F238E27FC236}">
                          <a16:creationId xmlns:a16="http://schemas.microsoft.com/office/drawing/2014/main" id="{60DA0CF8-7AA6-1484-74AD-B83657C30900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2375808" y="1469572"/>
                      <a:ext cx="0" cy="1567543"/>
                    </a:xfrm>
                    <a:prstGeom prst="straightConnector1">
                      <a:avLst/>
                    </a:prstGeom>
                    <a:ln w="12700">
                      <a:solidFill>
                        <a:schemeClr val="tx1"/>
                      </a:solidFill>
                      <a:tailEnd type="triangle" w="lg" len="lg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68" name="TextBox 67">
                    <a:extLst>
                      <a:ext uri="{FF2B5EF4-FFF2-40B4-BE49-F238E27FC236}">
                        <a16:creationId xmlns:a16="http://schemas.microsoft.com/office/drawing/2014/main" id="{46775CA3-F746-F1D8-1863-0F8FEAEB21DC}"/>
                      </a:ext>
                    </a:extLst>
                  </p:cNvPr>
                  <p:cNvSpPr txBox="1"/>
                  <p:nvPr/>
                </p:nvSpPr>
                <p:spPr>
                  <a:xfrm>
                    <a:off x="4250991" y="2867702"/>
                    <a:ext cx="434623" cy="82956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5689">
                        <a:latin typeface="Century Schoolbook" charset="0"/>
                        <a:ea typeface="Century Schoolbook" charset="0"/>
                        <a:cs typeface="Century Schoolbook" charset="0"/>
                      </a:rPr>
                      <a:t>z</a:t>
                    </a:r>
                  </a:p>
                </p:txBody>
              </p:sp>
            </p:grpSp>
            <p:cxnSp>
              <p:nvCxnSpPr>
                <p:cNvPr id="65" name="Straight Connector 64">
                  <a:extLst>
                    <a:ext uri="{FF2B5EF4-FFF2-40B4-BE49-F238E27FC236}">
                      <a16:creationId xmlns:a16="http://schemas.microsoft.com/office/drawing/2014/main" id="{85E00B72-0E3E-A4A1-6AEA-8BE6A777D58E}"/>
                    </a:ext>
                  </a:extLst>
                </p:cNvPr>
                <p:cNvCxnSpPr/>
                <p:nvPr/>
              </p:nvCxnSpPr>
              <p:spPr>
                <a:xfrm flipV="1">
                  <a:off x="2157715" y="3939902"/>
                  <a:ext cx="1427918" cy="1422875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6" name="Straight Connector 65">
                  <a:extLst>
                    <a:ext uri="{FF2B5EF4-FFF2-40B4-BE49-F238E27FC236}">
                      <a16:creationId xmlns:a16="http://schemas.microsoft.com/office/drawing/2014/main" id="{5D9CABC9-10FA-6743-06BB-6BF98DF8583F}"/>
                    </a:ext>
                  </a:extLst>
                </p:cNvPr>
                <p:cNvCxnSpPr/>
                <p:nvPr/>
              </p:nvCxnSpPr>
              <p:spPr>
                <a:xfrm flipV="1">
                  <a:off x="592667" y="5361126"/>
                  <a:ext cx="1565047" cy="988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83BD7193-9A8D-F436-1FB0-C3DB75745FDD}"/>
                  </a:ext>
                </a:extLst>
              </p:cNvPr>
              <p:cNvSpPr txBox="1"/>
              <p:nvPr/>
            </p:nvSpPr>
            <p:spPr>
              <a:xfrm>
                <a:off x="2142486" y="3888840"/>
                <a:ext cx="478839" cy="8295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5689" dirty="0">
                    <a:latin typeface="Century Schoolbook" charset="0"/>
                    <a:ea typeface="Century Schoolbook" charset="0"/>
                    <a:cs typeface="Century Schoolbook" charset="0"/>
                  </a:rPr>
                  <a:t>a</a:t>
                </a:r>
              </a:p>
            </p:txBody>
          </p:sp>
        </p:grp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EF0027F-A1E7-BB4C-CA6D-10B9CAB8DA5C}"/>
                </a:ext>
              </a:extLst>
            </p:cNvPr>
            <p:cNvCxnSpPr/>
            <p:nvPr/>
          </p:nvCxnSpPr>
          <p:spPr>
            <a:xfrm flipV="1">
              <a:off x="575189" y="5913798"/>
              <a:ext cx="1574887" cy="129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8922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94875" y="849746"/>
            <a:ext cx="7090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 b="1" dirty="0">
                <a:solidFill>
                  <a:schemeClr val="tx2"/>
                </a:solidFill>
                <a:latin typeface="Avenir Book" panose="02000503020000020003" pitchFamily="2" charset="0"/>
              </a:rPr>
              <a:t>Hyper parameters in Neural Networks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4875" y="2002902"/>
            <a:ext cx="3352521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189" indent="-457189">
              <a:buFont typeface="Arial" panose="020B0604020202020204" pitchFamily="34" charset="0"/>
              <a:buChar char="•"/>
            </a:pPr>
            <a:r>
              <a:rPr lang="en-CA" sz="2800" dirty="0">
                <a:latin typeface="Avenir Book" panose="02000503020000020003" pitchFamily="2" charset="0"/>
              </a:rPr>
              <a:t>Batch Size</a:t>
            </a:r>
          </a:p>
          <a:p>
            <a:pPr marL="457189" indent="-457189">
              <a:buFont typeface="Arial" panose="020B0604020202020204" pitchFamily="34" charset="0"/>
              <a:buChar char="•"/>
            </a:pPr>
            <a:r>
              <a:rPr lang="en-CA" sz="2800" dirty="0">
                <a:latin typeface="Avenir Book" panose="02000503020000020003" pitchFamily="2" charset="0"/>
              </a:rPr>
              <a:t>Epochs</a:t>
            </a:r>
          </a:p>
          <a:p>
            <a:pPr marL="457189" indent="-457189">
              <a:buFont typeface="Arial" panose="020B0604020202020204" pitchFamily="34" charset="0"/>
              <a:buChar char="•"/>
            </a:pPr>
            <a:r>
              <a:rPr lang="en-CA" sz="2800" dirty="0">
                <a:latin typeface="Avenir Book" panose="02000503020000020003" pitchFamily="2" charset="0"/>
              </a:rPr>
              <a:t>Hidden layers</a:t>
            </a:r>
          </a:p>
          <a:p>
            <a:pPr marL="457189" indent="-457189">
              <a:buFont typeface="Arial" panose="020B0604020202020204" pitchFamily="34" charset="0"/>
              <a:buChar char="•"/>
            </a:pPr>
            <a:r>
              <a:rPr lang="en-CA" sz="2800" dirty="0">
                <a:latin typeface="Avenir Book" panose="02000503020000020003" pitchFamily="2" charset="0"/>
              </a:rPr>
              <a:t>Number of neurons</a:t>
            </a:r>
          </a:p>
          <a:p>
            <a:pPr marL="457189" indent="-457189">
              <a:buFont typeface="Arial" panose="020B0604020202020204" pitchFamily="34" charset="0"/>
              <a:buChar char="•"/>
            </a:pPr>
            <a:r>
              <a:rPr lang="en-CA" sz="2800" dirty="0">
                <a:solidFill>
                  <a:schemeClr val="bg1">
                    <a:lumMod val="75000"/>
                  </a:schemeClr>
                </a:solidFill>
                <a:latin typeface="Avenir Book" panose="02000503020000020003" pitchFamily="2" charset="0"/>
              </a:rPr>
              <a:t>Activation function</a:t>
            </a:r>
            <a:endParaRPr lang="en-CA" sz="3200" dirty="0">
              <a:solidFill>
                <a:srgbClr val="005493"/>
              </a:solidFill>
              <a:latin typeface="Avenir Book" panose="02000503020000020003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991302" y="7052979"/>
            <a:ext cx="6209905" cy="1815882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r"/>
            <a:r>
              <a:rPr lang="en-CA" sz="2800" dirty="0">
                <a:solidFill>
                  <a:schemeClr val="tx1">
                    <a:lumMod val="50000"/>
                  </a:schemeClr>
                </a:solidFill>
                <a:latin typeface="Avenir Book" panose="02000503020000020003" pitchFamily="2" charset="0"/>
              </a:rPr>
              <a:t>e.g.</a:t>
            </a:r>
          </a:p>
          <a:p>
            <a:pPr algn="r"/>
            <a:r>
              <a:rPr lang="en-CA" sz="2800" dirty="0">
                <a:solidFill>
                  <a:schemeClr val="tx1">
                    <a:lumMod val="50000"/>
                  </a:schemeClr>
                </a:solidFill>
                <a:latin typeface="Avenir Book" panose="02000503020000020003" pitchFamily="2" charset="0"/>
              </a:rPr>
              <a:t>Batch size = 5</a:t>
            </a:r>
          </a:p>
          <a:p>
            <a:pPr algn="r"/>
            <a:r>
              <a:rPr lang="en-CA" sz="2800" dirty="0">
                <a:solidFill>
                  <a:schemeClr val="tx1">
                    <a:lumMod val="50000"/>
                  </a:schemeClr>
                </a:solidFill>
                <a:latin typeface="Avenir Book"/>
              </a:rPr>
              <a:t>Iterations = 10</a:t>
            </a:r>
          </a:p>
          <a:p>
            <a:pPr algn="r"/>
            <a:r>
              <a:rPr lang="en-CA" sz="1600" dirty="0">
                <a:solidFill>
                  <a:schemeClr val="tx1">
                    <a:lumMod val="50000"/>
                  </a:schemeClr>
                </a:solidFill>
                <a:latin typeface="Avenir Book"/>
              </a:rPr>
              <a:t>(specific to </a:t>
            </a:r>
            <a:r>
              <a:rPr lang="en-CA" sz="1600" err="1">
                <a:solidFill>
                  <a:schemeClr val="tx1">
                    <a:lumMod val="50000"/>
                  </a:schemeClr>
                </a:solidFill>
                <a:latin typeface="Avenir Book"/>
              </a:rPr>
              <a:t>Tensorflow</a:t>
            </a:r>
            <a:r>
              <a:rPr lang="en-CA" sz="1600" dirty="0">
                <a:solidFill>
                  <a:schemeClr val="tx1">
                    <a:lumMod val="50000"/>
                  </a:schemeClr>
                </a:solidFill>
                <a:latin typeface="Avenir Book"/>
              </a:rPr>
              <a:t> and </a:t>
            </a:r>
            <a:r>
              <a:rPr lang="en-CA" sz="1600" err="1">
                <a:solidFill>
                  <a:schemeClr val="tx1">
                    <a:lumMod val="50000"/>
                  </a:schemeClr>
                </a:solidFill>
                <a:latin typeface="Avenir Book"/>
              </a:rPr>
              <a:t>Pytorch</a:t>
            </a:r>
            <a:r>
              <a:rPr lang="en-CA" sz="1600" dirty="0">
                <a:solidFill>
                  <a:schemeClr val="tx1">
                    <a:lumMod val="50000"/>
                  </a:schemeClr>
                </a:solidFill>
                <a:latin typeface="Avenir Book"/>
              </a:rPr>
              <a:t>) </a:t>
            </a:r>
            <a:r>
              <a:rPr lang="en-CA" sz="2800" dirty="0">
                <a:solidFill>
                  <a:schemeClr val="tx1">
                    <a:lumMod val="50000"/>
                  </a:schemeClr>
                </a:solidFill>
                <a:latin typeface="Avenir Book"/>
              </a:rPr>
              <a:t>number of epochs</a:t>
            </a:r>
            <a:r>
              <a:rPr lang="en-CA" sz="2400" dirty="0">
                <a:solidFill>
                  <a:schemeClr val="tx1">
                    <a:lumMod val="50000"/>
                  </a:schemeClr>
                </a:solidFill>
                <a:latin typeface="Avenir Book"/>
              </a:rPr>
              <a:t> = 1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23E884C-5C53-1640-9F07-AE5524990419}"/>
              </a:ext>
            </a:extLst>
          </p:cNvPr>
          <p:cNvGrpSpPr/>
          <p:nvPr/>
        </p:nvGrpSpPr>
        <p:grpSpPr>
          <a:xfrm>
            <a:off x="8629912" y="1100865"/>
            <a:ext cx="6488168" cy="5717670"/>
            <a:chOff x="8629912" y="1100865"/>
            <a:chExt cx="6488168" cy="5717670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4AFF6F46-85EE-344C-9E6A-9BB2127D050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629912" y="1172852"/>
              <a:ext cx="237972" cy="5645683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FF94EC9E-8A14-5642-A2A2-E813BC4277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868982" y="1100865"/>
              <a:ext cx="6249098" cy="5707838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2121232-C617-9641-BE4B-FA83A3021942}"/>
                </a:ext>
              </a:extLst>
            </p:cNvPr>
            <p:cNvSpPr/>
            <p:nvPr/>
          </p:nvSpPr>
          <p:spPr>
            <a:xfrm>
              <a:off x="8629912" y="1397945"/>
              <a:ext cx="6488168" cy="1308679"/>
            </a:xfrm>
            <a:prstGeom prst="rect">
              <a:avLst/>
            </a:prstGeom>
            <a:noFill/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012C134-139B-9B4B-85D3-CC367A042C91}"/>
                </a:ext>
              </a:extLst>
            </p:cNvPr>
            <p:cNvSpPr/>
            <p:nvPr/>
          </p:nvSpPr>
          <p:spPr>
            <a:xfrm>
              <a:off x="8629912" y="4103324"/>
              <a:ext cx="6488168" cy="1308679"/>
            </a:xfrm>
            <a:prstGeom prst="rect">
              <a:avLst/>
            </a:prstGeom>
            <a:noFill/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C30428B-2FCE-8D4E-830E-958877A5710F}"/>
              </a:ext>
            </a:extLst>
          </p:cNvPr>
          <p:cNvGrpSpPr/>
          <p:nvPr/>
        </p:nvGrpSpPr>
        <p:grpSpPr>
          <a:xfrm>
            <a:off x="1411566" y="5031992"/>
            <a:ext cx="5053164" cy="3122854"/>
            <a:chOff x="1455714" y="4868207"/>
            <a:chExt cx="5053164" cy="3122854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B989E0F9-E822-F645-BD57-363A09AE59FB}"/>
                </a:ext>
              </a:extLst>
            </p:cNvPr>
            <p:cNvGrpSpPr/>
            <p:nvPr/>
          </p:nvGrpSpPr>
          <p:grpSpPr>
            <a:xfrm>
              <a:off x="1455714" y="4868207"/>
              <a:ext cx="5053164" cy="3122854"/>
              <a:chOff x="5538353" y="2364685"/>
              <a:chExt cx="5484320" cy="3389308"/>
            </a:xfrm>
          </p:grpSpPr>
          <p:pic>
            <p:nvPicPr>
              <p:cNvPr id="20" name="Picture 8" descr="Dark side of neural networks explained">
                <a:extLst>
                  <a:ext uri="{FF2B5EF4-FFF2-40B4-BE49-F238E27FC236}">
                    <a16:creationId xmlns:a16="http://schemas.microsoft.com/office/drawing/2014/main" id="{C98C95FC-A5D6-7547-AAE3-2F862DEC2E8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538353" y="2364685"/>
                <a:ext cx="5484320" cy="338930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A76B39F7-9A37-2546-AC74-6D56A92CFC67}"/>
                  </a:ext>
                </a:extLst>
              </p:cNvPr>
              <p:cNvSpPr/>
              <p:nvPr/>
            </p:nvSpPr>
            <p:spPr>
              <a:xfrm>
                <a:off x="6804826" y="3368249"/>
                <a:ext cx="353735" cy="353735"/>
              </a:xfrm>
              <a:prstGeom prst="ellipse">
                <a:avLst/>
              </a:prstGeom>
              <a:solidFill>
                <a:srgbClr val="008F00">
                  <a:alpha val="55294"/>
                </a:srgbClr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3417B435-3E9B-DC41-834C-3A5DF5822CB3}"/>
                  </a:ext>
                </a:extLst>
              </p:cNvPr>
              <p:cNvSpPr/>
              <p:nvPr/>
            </p:nvSpPr>
            <p:spPr>
              <a:xfrm>
                <a:off x="6804825" y="3911155"/>
                <a:ext cx="353735" cy="353735"/>
              </a:xfrm>
              <a:prstGeom prst="ellipse">
                <a:avLst/>
              </a:prstGeom>
              <a:solidFill>
                <a:srgbClr val="008F00">
                  <a:alpha val="55294"/>
                </a:srgbClr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4AF4C96F-BE7F-A74E-AFD0-C41922E68E3F}"/>
                  </a:ext>
                </a:extLst>
              </p:cNvPr>
              <p:cNvSpPr/>
              <p:nvPr/>
            </p:nvSpPr>
            <p:spPr>
              <a:xfrm>
                <a:off x="6804824" y="4478839"/>
                <a:ext cx="353735" cy="353735"/>
              </a:xfrm>
              <a:prstGeom prst="ellipse">
                <a:avLst/>
              </a:prstGeom>
              <a:solidFill>
                <a:srgbClr val="008F00">
                  <a:alpha val="55294"/>
                </a:srgbClr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2B1A8D38-0C4C-354B-ACC9-18D290B8BD43}"/>
                  </a:ext>
                </a:extLst>
              </p:cNvPr>
              <p:cNvSpPr/>
              <p:nvPr/>
            </p:nvSpPr>
            <p:spPr>
              <a:xfrm>
                <a:off x="6804823" y="5045103"/>
                <a:ext cx="353735" cy="353735"/>
              </a:xfrm>
              <a:prstGeom prst="ellipse">
                <a:avLst/>
              </a:prstGeom>
              <a:solidFill>
                <a:srgbClr val="008F00">
                  <a:alpha val="55294"/>
                </a:srgbClr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A06AE72-37D5-0940-85E2-1FE277FCE921}"/>
                </a:ext>
              </a:extLst>
            </p:cNvPr>
            <p:cNvSpPr/>
            <p:nvPr/>
          </p:nvSpPr>
          <p:spPr>
            <a:xfrm>
              <a:off x="1582935" y="5805989"/>
              <a:ext cx="862737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>
              <a:spAutoFit/>
            </a:bodyPr>
            <a:lstStyle/>
            <a:p>
              <a:r>
                <a:rPr lang="en-CA" sz="1400" dirty="0">
                  <a:latin typeface="Avenir Book" panose="02000503020000020003" pitchFamily="2" charset="0"/>
                </a:rPr>
                <a:t>Input X</a:t>
              </a:r>
              <a:r>
                <a:rPr lang="en-CA" sz="1400" baseline="-25000" dirty="0">
                  <a:latin typeface="Avenir Book" panose="02000503020000020003" pitchFamily="2" charset="0"/>
                </a:rPr>
                <a:t>1</a:t>
              </a:r>
              <a:endParaRPr lang="en-US" sz="1400" baseline="-25000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014AAC2-1B5B-DC47-A615-6E4A22837016}"/>
                </a:ext>
              </a:extLst>
            </p:cNvPr>
            <p:cNvSpPr/>
            <p:nvPr/>
          </p:nvSpPr>
          <p:spPr>
            <a:xfrm>
              <a:off x="1572081" y="6325909"/>
              <a:ext cx="830677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>
              <a:spAutoFit/>
            </a:bodyPr>
            <a:lstStyle/>
            <a:p>
              <a:r>
                <a:rPr lang="en-CA" sz="1400" dirty="0">
                  <a:latin typeface="Avenir Book" panose="02000503020000020003" pitchFamily="2" charset="0"/>
                </a:rPr>
                <a:t>Input X</a:t>
              </a:r>
              <a:r>
                <a:rPr lang="en-CA" sz="1400" baseline="-25000" dirty="0">
                  <a:latin typeface="Avenir Book" panose="02000503020000020003" pitchFamily="2" charset="0"/>
                </a:rPr>
                <a:t>2</a:t>
              </a:r>
              <a:endParaRPr lang="en-US" sz="1400" baseline="-25000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5C61868C-C475-434F-833B-FAC1A0FCE6CE}"/>
                </a:ext>
              </a:extLst>
            </p:cNvPr>
            <p:cNvSpPr/>
            <p:nvPr/>
          </p:nvSpPr>
          <p:spPr>
            <a:xfrm>
              <a:off x="1572081" y="6834304"/>
              <a:ext cx="830677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>
              <a:spAutoFit/>
            </a:bodyPr>
            <a:lstStyle/>
            <a:p>
              <a:r>
                <a:rPr lang="en-CA" sz="1400" dirty="0">
                  <a:latin typeface="Avenir Book" panose="02000503020000020003" pitchFamily="2" charset="0"/>
                </a:rPr>
                <a:t>Input X</a:t>
              </a:r>
              <a:r>
                <a:rPr lang="en-CA" sz="1400" baseline="-25000" dirty="0">
                  <a:latin typeface="Avenir Book" panose="02000503020000020003" pitchFamily="2" charset="0"/>
                </a:rPr>
                <a:t>3</a:t>
              </a:r>
              <a:endParaRPr lang="en-US" sz="1400" baseline="-25000" dirty="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A0133611-1DA1-B04B-9B88-EDC6AD838923}"/>
                </a:ext>
              </a:extLst>
            </p:cNvPr>
            <p:cNvSpPr/>
            <p:nvPr/>
          </p:nvSpPr>
          <p:spPr>
            <a:xfrm>
              <a:off x="1582934" y="7348082"/>
              <a:ext cx="830677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>
              <a:spAutoFit/>
            </a:bodyPr>
            <a:lstStyle/>
            <a:p>
              <a:r>
                <a:rPr lang="en-CA" sz="1400" dirty="0">
                  <a:latin typeface="Avenir Book" panose="02000503020000020003" pitchFamily="2" charset="0"/>
                </a:rPr>
                <a:t>Input X</a:t>
              </a:r>
              <a:r>
                <a:rPr lang="en-CA" sz="1400" baseline="-25000" dirty="0">
                  <a:latin typeface="Avenir Book" panose="02000503020000020003" pitchFamily="2" charset="0"/>
                </a:rPr>
                <a:t>4</a:t>
              </a:r>
              <a:endParaRPr lang="en-US" sz="1400" baseline="-25000" dirty="0"/>
            </a:p>
          </p:txBody>
        </p:sp>
      </p:grpSp>
    </p:spTree>
    <p:extLst>
      <p:ext uri="{BB962C8B-B14F-4D97-AF65-F5344CB8AC3E}">
        <p14:creationId xmlns:p14="http://schemas.microsoft.com/office/powerpoint/2010/main" val="3897317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0EC53-C1E7-78FB-B7C3-9C5583554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E71AC6-62B0-B8EE-F895-86A767C2A353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/>
          <a:p>
            <a:fld id="{DEF3F5F5-7776-394F-A41F-3BAFC9CC9F8E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CD2A7A-6C0C-E6E9-FE74-C63F89EB45C1}"/>
              </a:ext>
            </a:extLst>
          </p:cNvPr>
          <p:cNvSpPr txBox="1"/>
          <p:nvPr/>
        </p:nvSpPr>
        <p:spPr>
          <a:xfrm>
            <a:off x="1144874" y="198360"/>
            <a:ext cx="325922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 b="1" dirty="0">
                <a:solidFill>
                  <a:schemeClr val="tx2"/>
                </a:solidFill>
                <a:latin typeface="Avenir Book" panose="02000503020000020003" pitchFamily="2" charset="0"/>
              </a:rPr>
              <a:t>Neural Networks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9C059EA-F59D-5BC6-0D80-7ABC01048CF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457" t="4504" r="4713" b="3721"/>
          <a:stretch/>
        </p:blipFill>
        <p:spPr>
          <a:xfrm>
            <a:off x="10110009" y="4467079"/>
            <a:ext cx="4691270" cy="339913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37942BE-1C38-E994-8FF1-23E081A7FB64}"/>
              </a:ext>
            </a:extLst>
          </p:cNvPr>
          <p:cNvSpPr/>
          <p:nvPr/>
        </p:nvSpPr>
        <p:spPr>
          <a:xfrm>
            <a:off x="2825215" y="3997533"/>
            <a:ext cx="239039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sz="1600" b="1" dirty="0">
                <a:latin typeface="Avenir Book" panose="02000503020000020003" pitchFamily="2" charset="0"/>
              </a:rPr>
              <a:t>Shallow Neural Network</a:t>
            </a:r>
            <a:endParaRPr lang="en-US" sz="1800" b="1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BC543E8-8B03-D3F6-04C2-2D50CBC06437}"/>
              </a:ext>
            </a:extLst>
          </p:cNvPr>
          <p:cNvSpPr/>
          <p:nvPr/>
        </p:nvSpPr>
        <p:spPr>
          <a:xfrm>
            <a:off x="11610810" y="3861995"/>
            <a:ext cx="22012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sz="1600" b="1" dirty="0">
                <a:latin typeface="Avenir Book" panose="02000503020000020003" pitchFamily="2" charset="0"/>
              </a:rPr>
              <a:t>Deep Neural Network</a:t>
            </a:r>
            <a:endParaRPr lang="en-US" sz="1800" b="1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2705402-F021-0F5F-AD3F-5AC40877F2AD}"/>
              </a:ext>
            </a:extLst>
          </p:cNvPr>
          <p:cNvGrpSpPr/>
          <p:nvPr/>
        </p:nvGrpSpPr>
        <p:grpSpPr>
          <a:xfrm>
            <a:off x="1658310" y="4605218"/>
            <a:ext cx="5053164" cy="3122854"/>
            <a:chOff x="1455714" y="4868207"/>
            <a:chExt cx="5053164" cy="3122854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9AC048DA-9E83-5C9E-F3D0-5F13C5E49CDE}"/>
                </a:ext>
              </a:extLst>
            </p:cNvPr>
            <p:cNvGrpSpPr/>
            <p:nvPr/>
          </p:nvGrpSpPr>
          <p:grpSpPr>
            <a:xfrm>
              <a:off x="1455714" y="4868207"/>
              <a:ext cx="5053164" cy="3122854"/>
              <a:chOff x="5538353" y="2364685"/>
              <a:chExt cx="5484320" cy="3389308"/>
            </a:xfrm>
          </p:grpSpPr>
          <p:pic>
            <p:nvPicPr>
              <p:cNvPr id="15" name="Picture 8" descr="Dark side of neural networks explained">
                <a:extLst>
                  <a:ext uri="{FF2B5EF4-FFF2-40B4-BE49-F238E27FC236}">
                    <a16:creationId xmlns:a16="http://schemas.microsoft.com/office/drawing/2014/main" id="{82EB066A-5C94-66FA-DD83-F7A07470D09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538353" y="2364685"/>
                <a:ext cx="5484320" cy="338930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9C9FED73-D200-DF03-5223-30B6BF26D204}"/>
                  </a:ext>
                </a:extLst>
              </p:cNvPr>
              <p:cNvSpPr/>
              <p:nvPr/>
            </p:nvSpPr>
            <p:spPr>
              <a:xfrm>
                <a:off x="6804826" y="3368249"/>
                <a:ext cx="353735" cy="353735"/>
              </a:xfrm>
              <a:prstGeom prst="ellipse">
                <a:avLst/>
              </a:prstGeom>
              <a:solidFill>
                <a:srgbClr val="008F00">
                  <a:alpha val="55294"/>
                </a:srgbClr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A1588A9C-6C2D-61D3-4368-BFECFB27C768}"/>
                  </a:ext>
                </a:extLst>
              </p:cNvPr>
              <p:cNvSpPr/>
              <p:nvPr/>
            </p:nvSpPr>
            <p:spPr>
              <a:xfrm>
                <a:off x="6804825" y="3911155"/>
                <a:ext cx="353735" cy="353735"/>
              </a:xfrm>
              <a:prstGeom prst="ellipse">
                <a:avLst/>
              </a:prstGeom>
              <a:solidFill>
                <a:srgbClr val="008F00">
                  <a:alpha val="55294"/>
                </a:srgbClr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C62C6704-66D1-1052-B7B0-E327ECC285C4}"/>
                  </a:ext>
                </a:extLst>
              </p:cNvPr>
              <p:cNvSpPr/>
              <p:nvPr/>
            </p:nvSpPr>
            <p:spPr>
              <a:xfrm>
                <a:off x="6804824" y="4478839"/>
                <a:ext cx="353735" cy="353735"/>
              </a:xfrm>
              <a:prstGeom prst="ellipse">
                <a:avLst/>
              </a:prstGeom>
              <a:solidFill>
                <a:srgbClr val="008F00">
                  <a:alpha val="55294"/>
                </a:srgbClr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74BA9C74-0CF6-A644-5436-324B01DB4F14}"/>
                  </a:ext>
                </a:extLst>
              </p:cNvPr>
              <p:cNvSpPr/>
              <p:nvPr/>
            </p:nvSpPr>
            <p:spPr>
              <a:xfrm>
                <a:off x="6804823" y="5045103"/>
                <a:ext cx="353735" cy="353735"/>
              </a:xfrm>
              <a:prstGeom prst="ellipse">
                <a:avLst/>
              </a:prstGeom>
              <a:solidFill>
                <a:srgbClr val="008F00">
                  <a:alpha val="55294"/>
                </a:srgbClr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48551BB-80DD-9567-0576-0A029D77968B}"/>
                </a:ext>
              </a:extLst>
            </p:cNvPr>
            <p:cNvSpPr/>
            <p:nvPr/>
          </p:nvSpPr>
          <p:spPr>
            <a:xfrm>
              <a:off x="1582935" y="5805989"/>
              <a:ext cx="862737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>
              <a:spAutoFit/>
            </a:bodyPr>
            <a:lstStyle/>
            <a:p>
              <a:r>
                <a:rPr lang="en-CA" sz="1400" dirty="0">
                  <a:latin typeface="Avenir Book" panose="02000503020000020003" pitchFamily="2" charset="0"/>
                </a:rPr>
                <a:t>Input X</a:t>
              </a:r>
              <a:r>
                <a:rPr lang="en-CA" sz="1400" baseline="-25000" dirty="0">
                  <a:latin typeface="Avenir Book" panose="02000503020000020003" pitchFamily="2" charset="0"/>
                </a:rPr>
                <a:t>1</a:t>
              </a:r>
              <a:endParaRPr lang="en-US" sz="1400" baseline="-25000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189D9C2-C31A-2ADF-7C88-C0E6BDD59F50}"/>
                </a:ext>
              </a:extLst>
            </p:cNvPr>
            <p:cNvSpPr/>
            <p:nvPr/>
          </p:nvSpPr>
          <p:spPr>
            <a:xfrm>
              <a:off x="1572081" y="6325909"/>
              <a:ext cx="830677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>
              <a:spAutoFit/>
            </a:bodyPr>
            <a:lstStyle/>
            <a:p>
              <a:r>
                <a:rPr lang="en-CA" sz="1400" dirty="0">
                  <a:latin typeface="Avenir Book" panose="02000503020000020003" pitchFamily="2" charset="0"/>
                </a:rPr>
                <a:t>Input X</a:t>
              </a:r>
              <a:r>
                <a:rPr lang="en-CA" sz="1400" baseline="-25000" dirty="0">
                  <a:latin typeface="Avenir Book" panose="02000503020000020003" pitchFamily="2" charset="0"/>
                </a:rPr>
                <a:t>2</a:t>
              </a:r>
              <a:endParaRPr lang="en-US" sz="1400" baseline="-25000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ECB4C44-B06F-9B69-E575-E6616F9670C2}"/>
                </a:ext>
              </a:extLst>
            </p:cNvPr>
            <p:cNvSpPr/>
            <p:nvPr/>
          </p:nvSpPr>
          <p:spPr>
            <a:xfrm>
              <a:off x="1572081" y="6834304"/>
              <a:ext cx="830677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>
              <a:spAutoFit/>
            </a:bodyPr>
            <a:lstStyle/>
            <a:p>
              <a:r>
                <a:rPr lang="en-CA" sz="1400" dirty="0">
                  <a:latin typeface="Avenir Book" panose="02000503020000020003" pitchFamily="2" charset="0"/>
                </a:rPr>
                <a:t>Input X</a:t>
              </a:r>
              <a:r>
                <a:rPr lang="en-CA" sz="1400" baseline="-25000" dirty="0">
                  <a:latin typeface="Avenir Book" panose="02000503020000020003" pitchFamily="2" charset="0"/>
                </a:rPr>
                <a:t>3</a:t>
              </a:r>
              <a:endParaRPr lang="en-US" sz="1400" baseline="-25000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72945DE-6602-00A6-CCEA-DF6CCF2F3094}"/>
                </a:ext>
              </a:extLst>
            </p:cNvPr>
            <p:cNvSpPr/>
            <p:nvPr/>
          </p:nvSpPr>
          <p:spPr>
            <a:xfrm>
              <a:off x="1582934" y="7348082"/>
              <a:ext cx="830677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>
              <a:spAutoFit/>
            </a:bodyPr>
            <a:lstStyle/>
            <a:p>
              <a:r>
                <a:rPr lang="en-CA" sz="1400" dirty="0">
                  <a:latin typeface="Avenir Book" panose="02000503020000020003" pitchFamily="2" charset="0"/>
                </a:rPr>
                <a:t>Input X</a:t>
              </a:r>
              <a:r>
                <a:rPr lang="en-CA" sz="1400" baseline="-25000" dirty="0">
                  <a:latin typeface="Avenir Book" panose="02000503020000020003" pitchFamily="2" charset="0"/>
                </a:rPr>
                <a:t>4</a:t>
              </a:r>
              <a:endParaRPr lang="en-US" sz="1400" baseline="-25000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0A3BE5B-6421-FC2D-A6D0-37AA7761D603}"/>
              </a:ext>
            </a:extLst>
          </p:cNvPr>
          <p:cNvGrpSpPr/>
          <p:nvPr/>
        </p:nvGrpSpPr>
        <p:grpSpPr>
          <a:xfrm>
            <a:off x="6313012" y="506869"/>
            <a:ext cx="5197034" cy="3355248"/>
            <a:chOff x="6725988" y="1719980"/>
            <a:chExt cx="4418576" cy="2852670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66C29A12-5D68-8475-EA43-D019AD9837A2}"/>
                </a:ext>
              </a:extLst>
            </p:cNvPr>
            <p:cNvGrpSpPr/>
            <p:nvPr/>
          </p:nvGrpSpPr>
          <p:grpSpPr>
            <a:xfrm>
              <a:off x="6725988" y="1719980"/>
              <a:ext cx="4418576" cy="2852670"/>
              <a:chOff x="6725988" y="1397080"/>
              <a:chExt cx="4418576" cy="2852670"/>
            </a:xfrm>
          </p:grpSpPr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B6CB4499-7C7C-2005-F1FB-C13F9AF2E432}"/>
                  </a:ext>
                </a:extLst>
              </p:cNvPr>
              <p:cNvGrpSpPr/>
              <p:nvPr/>
            </p:nvGrpSpPr>
            <p:grpSpPr>
              <a:xfrm>
                <a:off x="6725988" y="1397080"/>
                <a:ext cx="3610687" cy="2852670"/>
                <a:chOff x="1314629" y="1594324"/>
                <a:chExt cx="4063595" cy="3210500"/>
              </a:xfrm>
            </p:grpSpPr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50FE97F9-B1A1-B2C9-10B0-0D89BC963F9F}"/>
                    </a:ext>
                  </a:extLst>
                </p:cNvPr>
                <p:cNvSpPr/>
                <p:nvPr/>
              </p:nvSpPr>
              <p:spPr>
                <a:xfrm>
                  <a:off x="2245496" y="2343382"/>
                  <a:ext cx="423979" cy="423979"/>
                </a:xfrm>
                <a:prstGeom prst="ellipse">
                  <a:avLst/>
                </a:prstGeom>
                <a:solidFill>
                  <a:srgbClr val="008F00">
                    <a:alpha val="55294"/>
                  </a:srgbClr>
                </a:solidFill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3" name="Oval 32">
                  <a:extLst>
                    <a:ext uri="{FF2B5EF4-FFF2-40B4-BE49-F238E27FC236}">
                      <a16:creationId xmlns:a16="http://schemas.microsoft.com/office/drawing/2014/main" id="{871BF1F0-692D-C447-6559-B34DCFADD103}"/>
                    </a:ext>
                  </a:extLst>
                </p:cNvPr>
                <p:cNvSpPr/>
                <p:nvPr/>
              </p:nvSpPr>
              <p:spPr>
                <a:xfrm>
                  <a:off x="3754582" y="3173213"/>
                  <a:ext cx="512618" cy="512618"/>
                </a:xfrm>
                <a:prstGeom prst="ellipse">
                  <a:avLst/>
                </a:prstGeom>
                <a:solidFill>
                  <a:srgbClr val="FF7E79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cxnSp>
              <p:nvCxnSpPr>
                <p:cNvPr id="34" name="Straight Arrow Connector 33">
                  <a:extLst>
                    <a:ext uri="{FF2B5EF4-FFF2-40B4-BE49-F238E27FC236}">
                      <a16:creationId xmlns:a16="http://schemas.microsoft.com/office/drawing/2014/main" id="{828B3AC8-8C10-088D-429A-0E298E3BF05D}"/>
                    </a:ext>
                  </a:extLst>
                </p:cNvPr>
                <p:cNvCxnSpPr>
                  <a:cxnSpLocks/>
                  <a:stCxn id="32" idx="6"/>
                  <a:endCxn id="33" idx="1"/>
                </p:cNvCxnSpPr>
                <p:nvPr/>
              </p:nvCxnSpPr>
              <p:spPr>
                <a:xfrm>
                  <a:off x="2669474" y="2555371"/>
                  <a:ext cx="1160179" cy="692912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6"/>
                </a:lnRef>
                <a:fillRef idx="0">
                  <a:schemeClr val="accent6"/>
                </a:fillRef>
                <a:effectRef idx="0">
                  <a:schemeClr val="accent6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Arrow Connector 34">
                  <a:extLst>
                    <a:ext uri="{FF2B5EF4-FFF2-40B4-BE49-F238E27FC236}">
                      <a16:creationId xmlns:a16="http://schemas.microsoft.com/office/drawing/2014/main" id="{BA5C209D-D875-21D3-1FA0-3C4D9E7D2978}"/>
                    </a:ext>
                  </a:extLst>
                </p:cNvPr>
                <p:cNvCxnSpPr>
                  <a:cxnSpLocks/>
                  <a:stCxn id="25" idx="6"/>
                </p:cNvCxnSpPr>
                <p:nvPr/>
              </p:nvCxnSpPr>
              <p:spPr>
                <a:xfrm>
                  <a:off x="2665058" y="3217532"/>
                  <a:ext cx="1089523" cy="156827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6"/>
                </a:lnRef>
                <a:fillRef idx="0">
                  <a:schemeClr val="accent6"/>
                </a:fillRef>
                <a:effectRef idx="0">
                  <a:schemeClr val="accent6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Straight Arrow Connector 35">
                  <a:extLst>
                    <a:ext uri="{FF2B5EF4-FFF2-40B4-BE49-F238E27FC236}">
                      <a16:creationId xmlns:a16="http://schemas.microsoft.com/office/drawing/2014/main" id="{752187D9-9B8B-AEC1-B6A0-AEF96C7314CC}"/>
                    </a:ext>
                  </a:extLst>
                </p:cNvPr>
                <p:cNvCxnSpPr>
                  <a:cxnSpLocks/>
                  <a:stCxn id="26" idx="6"/>
                </p:cNvCxnSpPr>
                <p:nvPr/>
              </p:nvCxnSpPr>
              <p:spPr>
                <a:xfrm flipV="1">
                  <a:off x="2677354" y="3508845"/>
                  <a:ext cx="1077227" cy="338333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6"/>
                </a:lnRef>
                <a:fillRef idx="0">
                  <a:schemeClr val="accent6"/>
                </a:fillRef>
                <a:effectRef idx="0">
                  <a:schemeClr val="accent6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Arrow Connector 36">
                  <a:extLst>
                    <a:ext uri="{FF2B5EF4-FFF2-40B4-BE49-F238E27FC236}">
                      <a16:creationId xmlns:a16="http://schemas.microsoft.com/office/drawing/2014/main" id="{E18D9163-4DB6-D7A3-CDA1-56467C808EE2}"/>
                    </a:ext>
                  </a:extLst>
                </p:cNvPr>
                <p:cNvCxnSpPr>
                  <a:cxnSpLocks/>
                  <a:stCxn id="27" idx="6"/>
                  <a:endCxn id="33" idx="3"/>
                </p:cNvCxnSpPr>
                <p:nvPr/>
              </p:nvCxnSpPr>
              <p:spPr>
                <a:xfrm flipV="1">
                  <a:off x="2677354" y="3610760"/>
                  <a:ext cx="1152300" cy="858109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6"/>
                </a:lnRef>
                <a:fillRef idx="0">
                  <a:schemeClr val="accent6"/>
                </a:fillRef>
                <a:effectRef idx="0">
                  <a:schemeClr val="accent6"/>
                </a:effectRef>
                <a:fontRef idx="minor">
                  <a:schemeClr val="tx1"/>
                </a:fontRef>
              </p:style>
            </p:cxnSp>
            <p:sp>
              <p:nvSpPr>
                <p:cNvPr id="38" name="Rectangle 37">
                  <a:extLst>
                    <a:ext uri="{FF2B5EF4-FFF2-40B4-BE49-F238E27FC236}">
                      <a16:creationId xmlns:a16="http://schemas.microsoft.com/office/drawing/2014/main" id="{7091AB0F-EDAC-3FA4-4CA2-83794C164BF1}"/>
                    </a:ext>
                  </a:extLst>
                </p:cNvPr>
                <p:cNvSpPr/>
                <p:nvPr/>
              </p:nvSpPr>
              <p:spPr>
                <a:xfrm>
                  <a:off x="1337532" y="2299258"/>
                  <a:ext cx="970955" cy="34638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CA" sz="1400" dirty="0">
                      <a:latin typeface="Avenir Book" panose="02000503020000020003" pitchFamily="2" charset="0"/>
                    </a:rPr>
                    <a:t>Input X</a:t>
                  </a:r>
                  <a:r>
                    <a:rPr lang="en-CA" sz="1400" baseline="-25000" dirty="0">
                      <a:latin typeface="Avenir Book" panose="02000503020000020003" pitchFamily="2" charset="0"/>
                    </a:rPr>
                    <a:t>1</a:t>
                  </a:r>
                  <a:endParaRPr lang="en-US" sz="1400" baseline="-25000" dirty="0"/>
                </a:p>
              </p:txBody>
            </p:sp>
            <p:sp>
              <p:nvSpPr>
                <p:cNvPr id="39" name="Rectangle 38">
                  <a:extLst>
                    <a:ext uri="{FF2B5EF4-FFF2-40B4-BE49-F238E27FC236}">
                      <a16:creationId xmlns:a16="http://schemas.microsoft.com/office/drawing/2014/main" id="{39FC3ACD-28B8-060A-139E-8A70067BFA05}"/>
                    </a:ext>
                  </a:extLst>
                </p:cNvPr>
                <p:cNvSpPr/>
                <p:nvPr/>
              </p:nvSpPr>
              <p:spPr>
                <a:xfrm>
                  <a:off x="1314629" y="2993114"/>
                  <a:ext cx="970955" cy="34638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CA" sz="1400" dirty="0">
                      <a:latin typeface="Avenir Book" panose="02000503020000020003" pitchFamily="2" charset="0"/>
                    </a:rPr>
                    <a:t>Input X</a:t>
                  </a:r>
                  <a:r>
                    <a:rPr lang="en-CA" sz="1400" baseline="-25000" dirty="0">
                      <a:latin typeface="Avenir Book" panose="02000503020000020003" pitchFamily="2" charset="0"/>
                    </a:rPr>
                    <a:t>2</a:t>
                  </a:r>
                  <a:endParaRPr lang="en-US" sz="1400" baseline="-25000" dirty="0"/>
                </a:p>
              </p:txBody>
            </p:sp>
            <p:sp>
              <p:nvSpPr>
                <p:cNvPr id="40" name="Rectangle 39">
                  <a:extLst>
                    <a:ext uri="{FF2B5EF4-FFF2-40B4-BE49-F238E27FC236}">
                      <a16:creationId xmlns:a16="http://schemas.microsoft.com/office/drawing/2014/main" id="{89CD4F48-8387-0A58-6406-ADFA969630B5}"/>
                    </a:ext>
                  </a:extLst>
                </p:cNvPr>
                <p:cNvSpPr/>
                <p:nvPr/>
              </p:nvSpPr>
              <p:spPr>
                <a:xfrm>
                  <a:off x="1314943" y="3724371"/>
                  <a:ext cx="970955" cy="34638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CA" sz="1400" dirty="0">
                      <a:latin typeface="Avenir Book" panose="02000503020000020003" pitchFamily="2" charset="0"/>
                    </a:rPr>
                    <a:t>Input X</a:t>
                  </a:r>
                  <a:r>
                    <a:rPr lang="en-CA" sz="1400" baseline="-25000" dirty="0">
                      <a:latin typeface="Avenir Book" panose="02000503020000020003" pitchFamily="2" charset="0"/>
                    </a:rPr>
                    <a:t>3</a:t>
                  </a:r>
                  <a:endParaRPr lang="en-US" sz="1400" baseline="-25000" dirty="0"/>
                </a:p>
              </p:txBody>
            </p:sp>
            <p:sp>
              <p:nvSpPr>
                <p:cNvPr id="41" name="Rectangle 40">
                  <a:extLst>
                    <a:ext uri="{FF2B5EF4-FFF2-40B4-BE49-F238E27FC236}">
                      <a16:creationId xmlns:a16="http://schemas.microsoft.com/office/drawing/2014/main" id="{AA46F5D6-0E34-BC7C-61A2-EF1982005DF3}"/>
                    </a:ext>
                  </a:extLst>
                </p:cNvPr>
                <p:cNvSpPr/>
                <p:nvPr/>
              </p:nvSpPr>
              <p:spPr>
                <a:xfrm>
                  <a:off x="1314943" y="4458440"/>
                  <a:ext cx="970955" cy="34638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CA" sz="1400" dirty="0">
                      <a:latin typeface="Avenir Book" panose="02000503020000020003" pitchFamily="2" charset="0"/>
                    </a:rPr>
                    <a:t>Input X</a:t>
                  </a:r>
                  <a:r>
                    <a:rPr lang="en-CA" sz="1400" baseline="-25000" dirty="0">
                      <a:latin typeface="Avenir Book" panose="02000503020000020003" pitchFamily="2" charset="0"/>
                    </a:rPr>
                    <a:t>4</a:t>
                  </a:r>
                  <a:endParaRPr lang="en-US" sz="1400" baseline="-25000" dirty="0"/>
                </a:p>
              </p:txBody>
            </p:sp>
            <p:sp>
              <p:nvSpPr>
                <p:cNvPr id="42" name="Rectangle 41">
                  <a:extLst>
                    <a:ext uri="{FF2B5EF4-FFF2-40B4-BE49-F238E27FC236}">
                      <a16:creationId xmlns:a16="http://schemas.microsoft.com/office/drawing/2014/main" id="{65232AED-22BD-3B15-7648-3A16894F5B67}"/>
                    </a:ext>
                  </a:extLst>
                </p:cNvPr>
                <p:cNvSpPr/>
                <p:nvPr/>
              </p:nvSpPr>
              <p:spPr>
                <a:xfrm>
                  <a:off x="4618080" y="3201069"/>
                  <a:ext cx="760144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CA" sz="1400" dirty="0">
                      <a:latin typeface="Avenir Book" panose="02000503020000020003" pitchFamily="2" charset="0"/>
                    </a:rPr>
                    <a:t>Output</a:t>
                  </a:r>
                  <a:endParaRPr lang="en-US" sz="1400" dirty="0"/>
                </a:p>
              </p:txBody>
            </p:sp>
            <p:sp>
              <p:nvSpPr>
                <p:cNvPr id="43" name="Rectangle 42">
                  <a:extLst>
                    <a:ext uri="{FF2B5EF4-FFF2-40B4-BE49-F238E27FC236}">
                      <a16:creationId xmlns:a16="http://schemas.microsoft.com/office/drawing/2014/main" id="{8978F5F5-6BF4-A0BE-8A8B-1962EFD997BE}"/>
                    </a:ext>
                  </a:extLst>
                </p:cNvPr>
                <p:cNvSpPr/>
                <p:nvPr/>
              </p:nvSpPr>
              <p:spPr>
                <a:xfrm>
                  <a:off x="2061479" y="1594324"/>
                  <a:ext cx="615874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CA" sz="1400" dirty="0">
                      <a:latin typeface="Avenir Book" panose="02000503020000020003" pitchFamily="2" charset="0"/>
                    </a:rPr>
                    <a:t>Input</a:t>
                  </a:r>
                </a:p>
                <a:p>
                  <a:r>
                    <a:rPr lang="en-CA" sz="1400" dirty="0">
                      <a:latin typeface="Avenir Book" panose="02000503020000020003" pitchFamily="2" charset="0"/>
                    </a:rPr>
                    <a:t> layer</a:t>
                  </a:r>
                  <a:endParaRPr lang="en-US" sz="1400" dirty="0"/>
                </a:p>
              </p:txBody>
            </p:sp>
            <p:sp>
              <p:nvSpPr>
                <p:cNvPr id="44" name="Rectangle 43">
                  <a:extLst>
                    <a:ext uri="{FF2B5EF4-FFF2-40B4-BE49-F238E27FC236}">
                      <a16:creationId xmlns:a16="http://schemas.microsoft.com/office/drawing/2014/main" id="{CAAE3939-0E40-7006-D052-3781343617A9}"/>
                    </a:ext>
                  </a:extLst>
                </p:cNvPr>
                <p:cNvSpPr/>
                <p:nvPr/>
              </p:nvSpPr>
              <p:spPr>
                <a:xfrm>
                  <a:off x="3573655" y="1627332"/>
                  <a:ext cx="760144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CA" sz="1400" dirty="0">
                      <a:latin typeface="Avenir Book" panose="02000503020000020003" pitchFamily="2" charset="0"/>
                    </a:rPr>
                    <a:t>Output</a:t>
                  </a:r>
                </a:p>
                <a:p>
                  <a:r>
                    <a:rPr lang="en-CA" sz="1400" dirty="0">
                      <a:latin typeface="Avenir Book" panose="02000503020000020003" pitchFamily="2" charset="0"/>
                    </a:rPr>
                    <a:t> layer</a:t>
                  </a:r>
                  <a:endParaRPr lang="en-US" sz="1400" dirty="0"/>
                </a:p>
              </p:txBody>
            </p:sp>
          </p:grp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F9C7C131-CD69-6868-208D-25E2414FC71F}"/>
                  </a:ext>
                </a:extLst>
              </p:cNvPr>
              <p:cNvSpPr/>
              <p:nvPr/>
            </p:nvSpPr>
            <p:spPr>
              <a:xfrm>
                <a:off x="9954238" y="1929506"/>
                <a:ext cx="1190326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CA" sz="1600" b="1" dirty="0">
                    <a:latin typeface="Avenir Book" panose="02000503020000020003" pitchFamily="2" charset="0"/>
                  </a:rPr>
                  <a:t>Perceptron</a:t>
                </a:r>
                <a:endParaRPr lang="en-US" sz="1800" b="1" dirty="0"/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96B94817-EEF5-7FCA-65FD-19E75F6018BC}"/>
                  </a:ext>
                </a:extLst>
              </p:cNvPr>
              <p:cNvSpPr/>
              <p:nvPr/>
            </p:nvSpPr>
            <p:spPr>
              <a:xfrm>
                <a:off x="7549181" y="2651010"/>
                <a:ext cx="376724" cy="376724"/>
              </a:xfrm>
              <a:prstGeom prst="ellipse">
                <a:avLst/>
              </a:prstGeom>
              <a:solidFill>
                <a:srgbClr val="008F00">
                  <a:alpha val="55294"/>
                </a:srgbClr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218F3AE5-FD79-1913-5208-2B106E1E64D4}"/>
                  </a:ext>
                </a:extLst>
              </p:cNvPr>
              <p:cNvSpPr/>
              <p:nvPr/>
            </p:nvSpPr>
            <p:spPr>
              <a:xfrm>
                <a:off x="7560106" y="3210478"/>
                <a:ext cx="376724" cy="376724"/>
              </a:xfrm>
              <a:prstGeom prst="ellipse">
                <a:avLst/>
              </a:prstGeom>
              <a:solidFill>
                <a:srgbClr val="008F00">
                  <a:alpha val="55294"/>
                </a:srgbClr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280A3CAA-BD68-D73B-3E1B-D5910C292E50}"/>
                  </a:ext>
                </a:extLst>
              </p:cNvPr>
              <p:cNvSpPr/>
              <p:nvPr/>
            </p:nvSpPr>
            <p:spPr>
              <a:xfrm>
                <a:off x="7560106" y="3762878"/>
                <a:ext cx="376724" cy="376724"/>
              </a:xfrm>
              <a:prstGeom prst="ellipse">
                <a:avLst/>
              </a:prstGeom>
              <a:solidFill>
                <a:srgbClr val="008F00">
                  <a:alpha val="55294"/>
                </a:srgbClr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C35EAB15-8C53-AEC7-DAED-3C59F7092381}"/>
                  </a:ext>
                </a:extLst>
              </p:cNvPr>
              <p:cNvSpPr/>
              <p:nvPr/>
            </p:nvSpPr>
            <p:spPr>
              <a:xfrm>
                <a:off x="8161795" y="2267030"/>
                <a:ext cx="407484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CA" sz="1600" dirty="0">
                    <a:latin typeface="Avenir Book" panose="02000503020000020003" pitchFamily="2" charset="0"/>
                  </a:rPr>
                  <a:t>w</a:t>
                </a:r>
                <a:r>
                  <a:rPr lang="en-CA" sz="1600" baseline="-25000" dirty="0">
                    <a:latin typeface="Avenir Book" panose="02000503020000020003" pitchFamily="2" charset="0"/>
                  </a:rPr>
                  <a:t>1</a:t>
                </a:r>
                <a:endParaRPr lang="en-US" sz="1600" baseline="-25000" dirty="0"/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6814A52B-ACEB-C762-C34C-A9EF49A4C0DA}"/>
                  </a:ext>
                </a:extLst>
              </p:cNvPr>
              <p:cNvSpPr/>
              <p:nvPr/>
            </p:nvSpPr>
            <p:spPr>
              <a:xfrm>
                <a:off x="8161795" y="2710349"/>
                <a:ext cx="407484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CA" sz="1600" dirty="0">
                    <a:latin typeface="Avenir Book" panose="02000503020000020003" pitchFamily="2" charset="0"/>
                  </a:rPr>
                  <a:t>w</a:t>
                </a:r>
                <a:r>
                  <a:rPr lang="en-CA" sz="1600" baseline="-25000" dirty="0">
                    <a:latin typeface="Avenir Book" panose="02000503020000020003" pitchFamily="2" charset="0"/>
                  </a:rPr>
                  <a:t>2</a:t>
                </a:r>
                <a:endParaRPr lang="en-US" sz="1600" baseline="-25000" dirty="0"/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831B8269-121C-2ED6-A631-0DBE9071722C}"/>
                  </a:ext>
                </a:extLst>
              </p:cNvPr>
              <p:cNvSpPr/>
              <p:nvPr/>
            </p:nvSpPr>
            <p:spPr>
              <a:xfrm>
                <a:off x="8174739" y="3085559"/>
                <a:ext cx="407484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CA" sz="1600" dirty="0">
                    <a:latin typeface="Avenir Book" panose="02000503020000020003" pitchFamily="2" charset="0"/>
                  </a:rPr>
                  <a:t>w</a:t>
                </a:r>
                <a:r>
                  <a:rPr lang="en-CA" sz="1600" baseline="-25000" dirty="0">
                    <a:latin typeface="Avenir Book" panose="02000503020000020003" pitchFamily="2" charset="0"/>
                  </a:rPr>
                  <a:t>3</a:t>
                </a:r>
                <a:endParaRPr lang="en-US" sz="1600" baseline="-25000" dirty="0"/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F8E7EBF5-AFEA-746A-6A37-CA7F2B77E5D5}"/>
                  </a:ext>
                </a:extLst>
              </p:cNvPr>
              <p:cNvSpPr/>
              <p:nvPr/>
            </p:nvSpPr>
            <p:spPr>
              <a:xfrm>
                <a:off x="8160662" y="3507517"/>
                <a:ext cx="407484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CA" sz="1600" dirty="0">
                    <a:latin typeface="Avenir Book" panose="02000503020000020003" pitchFamily="2" charset="0"/>
                  </a:rPr>
                  <a:t>w</a:t>
                </a:r>
                <a:r>
                  <a:rPr lang="en-CA" sz="1600" baseline="-25000" dirty="0">
                    <a:latin typeface="Avenir Book" panose="02000503020000020003" pitchFamily="2" charset="0"/>
                  </a:rPr>
                  <a:t>4</a:t>
                </a:r>
                <a:endParaRPr lang="en-US" sz="1600" baseline="-25000" dirty="0"/>
              </a:p>
            </p:txBody>
          </p:sp>
        </p:grp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541F5642-3C58-5A9D-F6A6-A6847EF32568}"/>
                </a:ext>
              </a:extLst>
            </p:cNvPr>
            <p:cNvCxnSpPr>
              <a:stCxn id="33" idx="6"/>
            </p:cNvCxnSpPr>
            <p:nvPr/>
          </p:nvCxnSpPr>
          <p:spPr>
            <a:xfrm>
              <a:off x="9349480" y="3350634"/>
              <a:ext cx="31177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525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/>
          <a:p>
            <a:fld id="{DEF3F5F5-7776-394F-A41F-3BAFC9CC9F8E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656FA17-EF9D-944B-82F6-AC79608D5420}"/>
              </a:ext>
            </a:extLst>
          </p:cNvPr>
          <p:cNvSpPr/>
          <p:nvPr/>
        </p:nvSpPr>
        <p:spPr>
          <a:xfrm>
            <a:off x="852030" y="591295"/>
            <a:ext cx="425321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4000" dirty="0">
                <a:solidFill>
                  <a:srgbClr val="00673E"/>
                </a:solidFill>
                <a:latin typeface="Avenir Medium" panose="02000503020000020003" pitchFamily="2" charset="0"/>
                <a:ea typeface="+mj-ea"/>
                <a:cs typeface="+mj-cs"/>
              </a:rPr>
              <a:t>Why Deep Learning</a:t>
            </a:r>
            <a:endParaRPr lang="en-US" sz="4000" dirty="0">
              <a:solidFill>
                <a:srgbClr val="00673E"/>
              </a:solidFill>
              <a:latin typeface="Avenir Medium" panose="02000503020000020003" pitchFamily="2" charset="0"/>
              <a:ea typeface="+mj-ea"/>
              <a:cs typeface="+mj-cs"/>
            </a:endParaRP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794870C4-BAA8-914B-9D05-DAFE579C8176}"/>
              </a:ext>
            </a:extLst>
          </p:cNvPr>
          <p:cNvGrpSpPr/>
          <p:nvPr/>
        </p:nvGrpSpPr>
        <p:grpSpPr>
          <a:xfrm>
            <a:off x="2372508" y="3296263"/>
            <a:ext cx="11147184" cy="3421864"/>
            <a:chOff x="1509566" y="2445224"/>
            <a:chExt cx="12129767" cy="3723489"/>
          </a:xfrm>
        </p:grpSpPr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85F7ADD9-BFEB-734C-8330-691C2ECD3F79}"/>
                </a:ext>
              </a:extLst>
            </p:cNvPr>
            <p:cNvGrpSpPr/>
            <p:nvPr/>
          </p:nvGrpSpPr>
          <p:grpSpPr>
            <a:xfrm>
              <a:off x="1509566" y="2445224"/>
              <a:ext cx="4183195" cy="3723489"/>
              <a:chOff x="1509566" y="2445224"/>
              <a:chExt cx="4183195" cy="3723489"/>
            </a:xfrm>
          </p:grpSpPr>
          <p:sp>
            <p:nvSpPr>
              <p:cNvPr id="35" name="Freeform 34">
                <a:extLst>
                  <a:ext uri="{FF2B5EF4-FFF2-40B4-BE49-F238E27FC236}">
                    <a16:creationId xmlns:a16="http://schemas.microsoft.com/office/drawing/2014/main" id="{6E8414E4-5004-084E-9504-F65C2EC804A7}"/>
                  </a:ext>
                </a:extLst>
              </p:cNvPr>
              <p:cNvSpPr/>
              <p:nvPr/>
            </p:nvSpPr>
            <p:spPr>
              <a:xfrm rot="20054503">
                <a:off x="2524060" y="2445224"/>
                <a:ext cx="2038990" cy="2444531"/>
              </a:xfrm>
              <a:custGeom>
                <a:avLst/>
                <a:gdLst>
                  <a:gd name="connsiteX0" fmla="*/ 244411 w 2784411"/>
                  <a:gd name="connsiteY0" fmla="*/ 0 h 3265714"/>
                  <a:gd name="connsiteX1" fmla="*/ 244411 w 2784411"/>
                  <a:gd name="connsiteY1" fmla="*/ 1625600 h 3265714"/>
                  <a:gd name="connsiteX2" fmla="*/ 2784411 w 2784411"/>
                  <a:gd name="connsiteY2" fmla="*/ 3265714 h 3265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784411" h="3265714">
                    <a:moveTo>
                      <a:pt x="244411" y="0"/>
                    </a:moveTo>
                    <a:cubicBezTo>
                      <a:pt x="32744" y="540657"/>
                      <a:pt x="-178922" y="1081314"/>
                      <a:pt x="244411" y="1625600"/>
                    </a:cubicBezTo>
                    <a:cubicBezTo>
                      <a:pt x="667744" y="2169886"/>
                      <a:pt x="1726077" y="2717800"/>
                      <a:pt x="2784411" y="3265714"/>
                    </a:cubicBezTo>
                  </a:path>
                </a:pathLst>
              </a:custGeom>
              <a:noFill/>
              <a:ln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FFC000"/>
                  </a:solidFill>
                </a:endParaRPr>
              </a:p>
            </p:txBody>
          </p:sp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A703DAA5-2460-A444-8381-95469A00483E}"/>
                  </a:ext>
                </a:extLst>
              </p:cNvPr>
              <p:cNvGrpSpPr/>
              <p:nvPr/>
            </p:nvGrpSpPr>
            <p:grpSpPr>
              <a:xfrm>
                <a:off x="1509566" y="2560479"/>
                <a:ext cx="4183195" cy="3608234"/>
                <a:chOff x="1509566" y="2560479"/>
                <a:chExt cx="4183195" cy="3608234"/>
              </a:xfrm>
            </p:grpSpPr>
            <p:grpSp>
              <p:nvGrpSpPr>
                <p:cNvPr id="17" name="Group 16">
                  <a:extLst>
                    <a:ext uri="{FF2B5EF4-FFF2-40B4-BE49-F238E27FC236}">
                      <a16:creationId xmlns:a16="http://schemas.microsoft.com/office/drawing/2014/main" id="{7E268EA3-EB00-F846-8D2A-C2DAF7182135}"/>
                    </a:ext>
                  </a:extLst>
                </p:cNvPr>
                <p:cNvGrpSpPr/>
                <p:nvPr/>
              </p:nvGrpSpPr>
              <p:grpSpPr>
                <a:xfrm>
                  <a:off x="2227946" y="2830287"/>
                  <a:ext cx="2943031" cy="2859314"/>
                  <a:chOff x="2764975" y="3309257"/>
                  <a:chExt cx="3316514" cy="3222173"/>
                </a:xfrm>
              </p:grpSpPr>
              <p:cxnSp>
                <p:nvCxnSpPr>
                  <p:cNvPr id="8" name="Straight Arrow Connector 7">
                    <a:extLst>
                      <a:ext uri="{FF2B5EF4-FFF2-40B4-BE49-F238E27FC236}">
                        <a16:creationId xmlns:a16="http://schemas.microsoft.com/office/drawing/2014/main" id="{33876515-862E-3441-B5B4-17D091E146D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772229" y="3309257"/>
                    <a:ext cx="0" cy="3222172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" name="Straight Arrow Connector 9">
                    <a:extLst>
                      <a:ext uri="{FF2B5EF4-FFF2-40B4-BE49-F238E27FC236}">
                        <a16:creationId xmlns:a16="http://schemas.microsoft.com/office/drawing/2014/main" id="{7C999330-8241-CD46-A127-1B406B06BCD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764975" y="6531429"/>
                    <a:ext cx="3316514" cy="1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34" name="Freeform 33">
                  <a:extLst>
                    <a:ext uri="{FF2B5EF4-FFF2-40B4-BE49-F238E27FC236}">
                      <a16:creationId xmlns:a16="http://schemas.microsoft.com/office/drawing/2014/main" id="{D025AE1D-B051-2D44-B02C-3A2330F5DBA9}"/>
                    </a:ext>
                  </a:extLst>
                </p:cNvPr>
                <p:cNvSpPr/>
                <p:nvPr/>
              </p:nvSpPr>
              <p:spPr>
                <a:xfrm rot="20054503">
                  <a:off x="2552045" y="2560479"/>
                  <a:ext cx="1997534" cy="2497045"/>
                </a:xfrm>
                <a:custGeom>
                  <a:avLst/>
                  <a:gdLst>
                    <a:gd name="connsiteX0" fmla="*/ 244411 w 2784411"/>
                    <a:gd name="connsiteY0" fmla="*/ 0 h 3265714"/>
                    <a:gd name="connsiteX1" fmla="*/ 244411 w 2784411"/>
                    <a:gd name="connsiteY1" fmla="*/ 1625600 h 3265714"/>
                    <a:gd name="connsiteX2" fmla="*/ 2784411 w 2784411"/>
                    <a:gd name="connsiteY2" fmla="*/ 3265714 h 32657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784411" h="3265714">
                      <a:moveTo>
                        <a:pt x="244411" y="0"/>
                      </a:moveTo>
                      <a:cubicBezTo>
                        <a:pt x="32744" y="540657"/>
                        <a:pt x="-178922" y="1081314"/>
                        <a:pt x="244411" y="1625600"/>
                      </a:cubicBezTo>
                      <a:cubicBezTo>
                        <a:pt x="667744" y="2169886"/>
                        <a:pt x="1726077" y="2717800"/>
                        <a:pt x="2784411" y="3265714"/>
                      </a:cubicBezTo>
                    </a:path>
                  </a:pathLst>
                </a:custGeom>
                <a:noFill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0" name="Rectangle 39">
                  <a:extLst>
                    <a:ext uri="{FF2B5EF4-FFF2-40B4-BE49-F238E27FC236}">
                      <a16:creationId xmlns:a16="http://schemas.microsoft.com/office/drawing/2014/main" id="{789DF7DE-00C5-074B-9047-05717557986C}"/>
                    </a:ext>
                  </a:extLst>
                </p:cNvPr>
                <p:cNvSpPr/>
                <p:nvPr/>
              </p:nvSpPr>
              <p:spPr>
                <a:xfrm>
                  <a:off x="1509566" y="2661009"/>
                  <a:ext cx="683842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IN" sz="1800" b="1" dirty="0">
                      <a:latin typeface="Avenir Book" panose="02000503020000020003" pitchFamily="2" charset="0"/>
                    </a:rPr>
                    <a:t>Error</a:t>
                  </a:r>
                  <a:endParaRPr lang="en-US" sz="1800" b="1" dirty="0"/>
                </a:p>
              </p:txBody>
            </p:sp>
            <p:sp>
              <p:nvSpPr>
                <p:cNvPr id="43" name="Rectangle 42">
                  <a:extLst>
                    <a:ext uri="{FF2B5EF4-FFF2-40B4-BE49-F238E27FC236}">
                      <a16:creationId xmlns:a16="http://schemas.microsoft.com/office/drawing/2014/main" id="{055744FA-DB91-7643-8DF6-84C9C5B7AC41}"/>
                    </a:ext>
                  </a:extLst>
                </p:cNvPr>
                <p:cNvSpPr/>
                <p:nvPr/>
              </p:nvSpPr>
              <p:spPr>
                <a:xfrm>
                  <a:off x="4446980" y="5766826"/>
                  <a:ext cx="1245781" cy="40188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IN" sz="1800" b="1" dirty="0">
                      <a:latin typeface="Avenir Book" panose="02000503020000020003" pitchFamily="2" charset="0"/>
                    </a:rPr>
                    <a:t>Iterations</a:t>
                  </a:r>
                  <a:endParaRPr lang="en-US" sz="1800" b="1" dirty="0"/>
                </a:p>
              </p:txBody>
            </p:sp>
          </p:grpSp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ED7630FB-08CF-9B4D-95BA-DEE5E5FEB68A}"/>
                  </a:ext>
                </a:extLst>
              </p:cNvPr>
              <p:cNvSpPr/>
              <p:nvPr/>
            </p:nvSpPr>
            <p:spPr>
              <a:xfrm>
                <a:off x="3905275" y="3853325"/>
                <a:ext cx="120590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IN" sz="1600" dirty="0">
                    <a:latin typeface="Avenir Book" panose="02000503020000020003" pitchFamily="2" charset="0"/>
                  </a:rPr>
                  <a:t>Validation</a:t>
                </a:r>
                <a:endParaRPr lang="en-US" sz="1600" dirty="0"/>
              </a:p>
            </p:txBody>
          </p:sp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F3615BBF-1E61-4E46-A32E-28A79924A8E8}"/>
                  </a:ext>
                </a:extLst>
              </p:cNvPr>
              <p:cNvSpPr/>
              <p:nvPr/>
            </p:nvSpPr>
            <p:spPr>
              <a:xfrm>
                <a:off x="3883923" y="4516238"/>
                <a:ext cx="100341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IN" sz="1600" dirty="0">
                    <a:latin typeface="Avenir Book" panose="02000503020000020003" pitchFamily="2" charset="0"/>
                  </a:rPr>
                  <a:t>Training</a:t>
                </a:r>
                <a:endParaRPr lang="en-US" sz="1600" dirty="0"/>
              </a:p>
            </p:txBody>
          </p:sp>
        </p:grp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6BC44E9D-DE8D-7F4F-B179-BF3BB3CC82A9}"/>
                </a:ext>
              </a:extLst>
            </p:cNvPr>
            <p:cNvGrpSpPr/>
            <p:nvPr/>
          </p:nvGrpSpPr>
          <p:grpSpPr>
            <a:xfrm>
              <a:off x="5419287" y="2505780"/>
              <a:ext cx="4120402" cy="3662933"/>
              <a:chOff x="5419287" y="2505780"/>
              <a:chExt cx="4120402" cy="3662933"/>
            </a:xfrm>
          </p:grpSpPr>
          <p:grpSp>
            <p:nvGrpSpPr>
              <p:cNvPr id="47" name="Group 46">
                <a:extLst>
                  <a:ext uri="{FF2B5EF4-FFF2-40B4-BE49-F238E27FC236}">
                    <a16:creationId xmlns:a16="http://schemas.microsoft.com/office/drawing/2014/main" id="{78B9CFD1-5BEE-B942-ABB3-540EEEB4D382}"/>
                  </a:ext>
                </a:extLst>
              </p:cNvPr>
              <p:cNvGrpSpPr/>
              <p:nvPr/>
            </p:nvGrpSpPr>
            <p:grpSpPr>
              <a:xfrm>
                <a:off x="5419287" y="2505780"/>
                <a:ext cx="4120402" cy="3662933"/>
                <a:chOff x="5303175" y="2505780"/>
                <a:chExt cx="4120402" cy="3662933"/>
              </a:xfrm>
            </p:grpSpPr>
            <p:grpSp>
              <p:nvGrpSpPr>
                <p:cNvPr id="21" name="Group 20">
                  <a:extLst>
                    <a:ext uri="{FF2B5EF4-FFF2-40B4-BE49-F238E27FC236}">
                      <a16:creationId xmlns:a16="http://schemas.microsoft.com/office/drawing/2014/main" id="{83F0DE25-839D-3742-9032-F359D132D67B}"/>
                    </a:ext>
                  </a:extLst>
                </p:cNvPr>
                <p:cNvGrpSpPr/>
                <p:nvPr/>
              </p:nvGrpSpPr>
              <p:grpSpPr>
                <a:xfrm>
                  <a:off x="6030689" y="2830286"/>
                  <a:ext cx="2943031" cy="2859314"/>
                  <a:chOff x="2764975" y="3309257"/>
                  <a:chExt cx="3316514" cy="3222173"/>
                </a:xfrm>
              </p:grpSpPr>
              <p:cxnSp>
                <p:nvCxnSpPr>
                  <p:cNvPr id="22" name="Straight Arrow Connector 21">
                    <a:extLst>
                      <a:ext uri="{FF2B5EF4-FFF2-40B4-BE49-F238E27FC236}">
                        <a16:creationId xmlns:a16="http://schemas.microsoft.com/office/drawing/2014/main" id="{F3ACAB96-2C1F-F84B-B029-A60053170C0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772229" y="3309257"/>
                    <a:ext cx="0" cy="3222172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" name="Straight Arrow Connector 22">
                    <a:extLst>
                      <a:ext uri="{FF2B5EF4-FFF2-40B4-BE49-F238E27FC236}">
                        <a16:creationId xmlns:a16="http://schemas.microsoft.com/office/drawing/2014/main" id="{56087467-6F12-EB42-80EF-F2BE3FA0189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764975" y="6531429"/>
                    <a:ext cx="3316514" cy="1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36" name="Freeform 35">
                  <a:extLst>
                    <a:ext uri="{FF2B5EF4-FFF2-40B4-BE49-F238E27FC236}">
                      <a16:creationId xmlns:a16="http://schemas.microsoft.com/office/drawing/2014/main" id="{6D623269-6FDD-1145-8A0A-282EF4CAECC1}"/>
                    </a:ext>
                  </a:extLst>
                </p:cNvPr>
                <p:cNvSpPr/>
                <p:nvPr/>
              </p:nvSpPr>
              <p:spPr>
                <a:xfrm rot="20516478">
                  <a:off x="6356019" y="2629033"/>
                  <a:ext cx="2234313" cy="3032344"/>
                </a:xfrm>
                <a:custGeom>
                  <a:avLst/>
                  <a:gdLst>
                    <a:gd name="connsiteX0" fmla="*/ 166156 w 2894841"/>
                    <a:gd name="connsiteY0" fmla="*/ 0 h 3091543"/>
                    <a:gd name="connsiteX1" fmla="*/ 296784 w 2894841"/>
                    <a:gd name="connsiteY1" fmla="*/ 1886857 h 3091543"/>
                    <a:gd name="connsiteX2" fmla="*/ 2894841 w 2894841"/>
                    <a:gd name="connsiteY2" fmla="*/ 3091543 h 30915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894841" h="3091543">
                      <a:moveTo>
                        <a:pt x="166156" y="0"/>
                      </a:moveTo>
                      <a:cubicBezTo>
                        <a:pt x="4079" y="685800"/>
                        <a:pt x="-157997" y="1371600"/>
                        <a:pt x="296784" y="1886857"/>
                      </a:cubicBezTo>
                      <a:cubicBezTo>
                        <a:pt x="751565" y="2402114"/>
                        <a:pt x="1823203" y="2746828"/>
                        <a:pt x="2894841" y="3091543"/>
                      </a:cubicBezTo>
                    </a:path>
                  </a:pathLst>
                </a:custGeom>
                <a:noFill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7" name="Freeform 36">
                  <a:extLst>
                    <a:ext uri="{FF2B5EF4-FFF2-40B4-BE49-F238E27FC236}">
                      <a16:creationId xmlns:a16="http://schemas.microsoft.com/office/drawing/2014/main" id="{85F61D21-3D7A-064F-ACB3-2ADB1F4BA714}"/>
                    </a:ext>
                  </a:extLst>
                </p:cNvPr>
                <p:cNvSpPr/>
                <p:nvPr/>
              </p:nvSpPr>
              <p:spPr>
                <a:xfrm rot="20084849">
                  <a:off x="6508133" y="2505780"/>
                  <a:ext cx="1950194" cy="2974255"/>
                </a:xfrm>
                <a:custGeom>
                  <a:avLst/>
                  <a:gdLst>
                    <a:gd name="connsiteX0" fmla="*/ 166156 w 2894841"/>
                    <a:gd name="connsiteY0" fmla="*/ 0 h 3091543"/>
                    <a:gd name="connsiteX1" fmla="*/ 296784 w 2894841"/>
                    <a:gd name="connsiteY1" fmla="*/ 1886857 h 3091543"/>
                    <a:gd name="connsiteX2" fmla="*/ 2894841 w 2894841"/>
                    <a:gd name="connsiteY2" fmla="*/ 3091543 h 30915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894841" h="3091543">
                      <a:moveTo>
                        <a:pt x="166156" y="0"/>
                      </a:moveTo>
                      <a:cubicBezTo>
                        <a:pt x="4079" y="685800"/>
                        <a:pt x="-157997" y="1371600"/>
                        <a:pt x="296784" y="1886857"/>
                      </a:cubicBezTo>
                      <a:cubicBezTo>
                        <a:pt x="751565" y="2402114"/>
                        <a:pt x="1823203" y="2746828"/>
                        <a:pt x="2894841" y="3091543"/>
                      </a:cubicBezTo>
                    </a:path>
                  </a:pathLst>
                </a:custGeom>
                <a:noFill/>
                <a:ln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1" name="Rectangle 40">
                  <a:extLst>
                    <a:ext uri="{FF2B5EF4-FFF2-40B4-BE49-F238E27FC236}">
                      <a16:creationId xmlns:a16="http://schemas.microsoft.com/office/drawing/2014/main" id="{AFDC7B41-55B8-FC49-8F5E-CD243DC7A066}"/>
                    </a:ext>
                  </a:extLst>
                </p:cNvPr>
                <p:cNvSpPr/>
                <p:nvPr/>
              </p:nvSpPr>
              <p:spPr>
                <a:xfrm>
                  <a:off x="5303175" y="2719066"/>
                  <a:ext cx="683842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IN" sz="1800" b="1" dirty="0">
                      <a:latin typeface="Avenir Book" panose="02000503020000020003" pitchFamily="2" charset="0"/>
                    </a:rPr>
                    <a:t>Error</a:t>
                  </a:r>
                  <a:endParaRPr lang="en-US" sz="1800" b="1" dirty="0"/>
                </a:p>
              </p:txBody>
            </p:sp>
            <p:sp>
              <p:nvSpPr>
                <p:cNvPr id="44" name="Rectangle 43">
                  <a:extLst>
                    <a:ext uri="{FF2B5EF4-FFF2-40B4-BE49-F238E27FC236}">
                      <a16:creationId xmlns:a16="http://schemas.microsoft.com/office/drawing/2014/main" id="{51EBB8EC-A982-6646-BA3A-E96AD991D4A5}"/>
                    </a:ext>
                  </a:extLst>
                </p:cNvPr>
                <p:cNvSpPr/>
                <p:nvPr/>
              </p:nvSpPr>
              <p:spPr>
                <a:xfrm>
                  <a:off x="8177796" y="5766826"/>
                  <a:ext cx="1245781" cy="40188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IN" sz="1800" b="1" dirty="0">
                      <a:latin typeface="Avenir Book" panose="02000503020000020003" pitchFamily="2" charset="0"/>
                    </a:rPr>
                    <a:t>Iterations</a:t>
                  </a:r>
                  <a:endParaRPr lang="en-US" sz="1800" b="1" dirty="0"/>
                </a:p>
              </p:txBody>
            </p:sp>
          </p:grpSp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67C72E6A-A332-DA48-8B69-DC36D857AF3A}"/>
                  </a:ext>
                </a:extLst>
              </p:cNvPr>
              <p:cNvSpPr/>
              <p:nvPr/>
            </p:nvSpPr>
            <p:spPr>
              <a:xfrm>
                <a:off x="8158387" y="4571782"/>
                <a:ext cx="120590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IN" sz="1600" dirty="0">
                    <a:latin typeface="Avenir Book" panose="02000503020000020003" pitchFamily="2" charset="0"/>
                  </a:rPr>
                  <a:t>Validation</a:t>
                </a:r>
                <a:endParaRPr lang="en-US" sz="1600" dirty="0"/>
              </a:p>
            </p:txBody>
          </p:sp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12B42467-CDCC-7E47-990B-B2348A8A48E1}"/>
                  </a:ext>
                </a:extLst>
              </p:cNvPr>
              <p:cNvSpPr/>
              <p:nvPr/>
            </p:nvSpPr>
            <p:spPr>
              <a:xfrm>
                <a:off x="8259469" y="5221998"/>
                <a:ext cx="100341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IN" sz="1600" dirty="0">
                    <a:latin typeface="Avenir Book" panose="02000503020000020003" pitchFamily="2" charset="0"/>
                  </a:rPr>
                  <a:t>Training</a:t>
                </a:r>
                <a:endParaRPr lang="en-US" sz="1600" dirty="0"/>
              </a:p>
            </p:txBody>
          </p:sp>
        </p:grp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081F2D4B-4C36-7244-B953-78736D75F3A8}"/>
                </a:ext>
              </a:extLst>
            </p:cNvPr>
            <p:cNvGrpSpPr/>
            <p:nvPr/>
          </p:nvGrpSpPr>
          <p:grpSpPr>
            <a:xfrm>
              <a:off x="9534089" y="2544892"/>
              <a:ext cx="4105244" cy="3605328"/>
              <a:chOff x="9534089" y="2544892"/>
              <a:chExt cx="4105244" cy="3605328"/>
            </a:xfrm>
          </p:grpSpPr>
          <p:grpSp>
            <p:nvGrpSpPr>
              <p:cNvPr id="48" name="Group 47">
                <a:extLst>
                  <a:ext uri="{FF2B5EF4-FFF2-40B4-BE49-F238E27FC236}">
                    <a16:creationId xmlns:a16="http://schemas.microsoft.com/office/drawing/2014/main" id="{4E5693E4-C4CA-7340-84B5-7FFCFBE20C9E}"/>
                  </a:ext>
                </a:extLst>
              </p:cNvPr>
              <p:cNvGrpSpPr/>
              <p:nvPr/>
            </p:nvGrpSpPr>
            <p:grpSpPr>
              <a:xfrm>
                <a:off x="9534089" y="2544892"/>
                <a:ext cx="4105244" cy="3605328"/>
                <a:chOff x="9534089" y="2544892"/>
                <a:chExt cx="4105244" cy="3605328"/>
              </a:xfrm>
            </p:grpSpPr>
            <p:grpSp>
              <p:nvGrpSpPr>
                <p:cNvPr id="18" name="Group 17">
                  <a:extLst>
                    <a:ext uri="{FF2B5EF4-FFF2-40B4-BE49-F238E27FC236}">
                      <a16:creationId xmlns:a16="http://schemas.microsoft.com/office/drawing/2014/main" id="{178EBD20-C441-CE42-BEC5-0F00C1A5472C}"/>
                    </a:ext>
                  </a:extLst>
                </p:cNvPr>
                <p:cNvGrpSpPr/>
                <p:nvPr/>
              </p:nvGrpSpPr>
              <p:grpSpPr>
                <a:xfrm>
                  <a:off x="10247089" y="2830286"/>
                  <a:ext cx="2943031" cy="2859314"/>
                  <a:chOff x="2764975" y="3309257"/>
                  <a:chExt cx="3316514" cy="3222173"/>
                </a:xfrm>
              </p:grpSpPr>
              <p:cxnSp>
                <p:nvCxnSpPr>
                  <p:cNvPr id="19" name="Straight Arrow Connector 18">
                    <a:extLst>
                      <a:ext uri="{FF2B5EF4-FFF2-40B4-BE49-F238E27FC236}">
                        <a16:creationId xmlns:a16="http://schemas.microsoft.com/office/drawing/2014/main" id="{65FAC1DA-F782-4443-B836-0ADBD49B8D5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772229" y="3309257"/>
                    <a:ext cx="0" cy="3222172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" name="Straight Arrow Connector 19">
                    <a:extLst>
                      <a:ext uri="{FF2B5EF4-FFF2-40B4-BE49-F238E27FC236}">
                        <a16:creationId xmlns:a16="http://schemas.microsoft.com/office/drawing/2014/main" id="{294071DD-E6DD-EC40-B643-5D4FA722C84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764975" y="6531429"/>
                    <a:ext cx="3316514" cy="1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38" name="Freeform 37">
                  <a:extLst>
                    <a:ext uri="{FF2B5EF4-FFF2-40B4-BE49-F238E27FC236}">
                      <a16:creationId xmlns:a16="http://schemas.microsoft.com/office/drawing/2014/main" id="{CAC75D7E-7971-D045-8704-6B94920EDAB8}"/>
                    </a:ext>
                  </a:extLst>
                </p:cNvPr>
                <p:cNvSpPr/>
                <p:nvPr/>
              </p:nvSpPr>
              <p:spPr>
                <a:xfrm rot="20516478">
                  <a:off x="10616114" y="2656604"/>
                  <a:ext cx="2014558" cy="3295789"/>
                </a:xfrm>
                <a:custGeom>
                  <a:avLst/>
                  <a:gdLst>
                    <a:gd name="connsiteX0" fmla="*/ 166156 w 2894841"/>
                    <a:gd name="connsiteY0" fmla="*/ 0 h 3091543"/>
                    <a:gd name="connsiteX1" fmla="*/ 296784 w 2894841"/>
                    <a:gd name="connsiteY1" fmla="*/ 1886857 h 3091543"/>
                    <a:gd name="connsiteX2" fmla="*/ 2894841 w 2894841"/>
                    <a:gd name="connsiteY2" fmla="*/ 3091543 h 30915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894841" h="3091543">
                      <a:moveTo>
                        <a:pt x="166156" y="0"/>
                      </a:moveTo>
                      <a:cubicBezTo>
                        <a:pt x="4079" y="685800"/>
                        <a:pt x="-157997" y="1371600"/>
                        <a:pt x="296784" y="1886857"/>
                      </a:cubicBezTo>
                      <a:cubicBezTo>
                        <a:pt x="751565" y="2402114"/>
                        <a:pt x="1823203" y="2746828"/>
                        <a:pt x="2894841" y="3091543"/>
                      </a:cubicBezTo>
                    </a:path>
                  </a:pathLst>
                </a:custGeom>
                <a:noFill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9" name="Freeform 38">
                  <a:extLst>
                    <a:ext uri="{FF2B5EF4-FFF2-40B4-BE49-F238E27FC236}">
                      <a16:creationId xmlns:a16="http://schemas.microsoft.com/office/drawing/2014/main" id="{BC26B707-AFEC-114F-9F62-77AC7910C2A9}"/>
                    </a:ext>
                  </a:extLst>
                </p:cNvPr>
                <p:cNvSpPr/>
                <p:nvPr/>
              </p:nvSpPr>
              <p:spPr>
                <a:xfrm rot="20172506">
                  <a:off x="10459184" y="2544892"/>
                  <a:ext cx="2392799" cy="1958954"/>
                </a:xfrm>
                <a:custGeom>
                  <a:avLst/>
                  <a:gdLst>
                    <a:gd name="connsiteX0" fmla="*/ 166156 w 2894841"/>
                    <a:gd name="connsiteY0" fmla="*/ 0 h 3091543"/>
                    <a:gd name="connsiteX1" fmla="*/ 296784 w 2894841"/>
                    <a:gd name="connsiteY1" fmla="*/ 1886857 h 3091543"/>
                    <a:gd name="connsiteX2" fmla="*/ 2894841 w 2894841"/>
                    <a:gd name="connsiteY2" fmla="*/ 3091543 h 30915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894841" h="3091543">
                      <a:moveTo>
                        <a:pt x="166156" y="0"/>
                      </a:moveTo>
                      <a:cubicBezTo>
                        <a:pt x="4079" y="685800"/>
                        <a:pt x="-157997" y="1371600"/>
                        <a:pt x="296784" y="1886857"/>
                      </a:cubicBezTo>
                      <a:cubicBezTo>
                        <a:pt x="751565" y="2402114"/>
                        <a:pt x="1823203" y="2746828"/>
                        <a:pt x="2894841" y="3091543"/>
                      </a:cubicBezTo>
                    </a:path>
                  </a:pathLst>
                </a:custGeom>
                <a:noFill/>
                <a:ln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2" name="Rectangle 41">
                  <a:extLst>
                    <a:ext uri="{FF2B5EF4-FFF2-40B4-BE49-F238E27FC236}">
                      <a16:creationId xmlns:a16="http://schemas.microsoft.com/office/drawing/2014/main" id="{AED34D5C-3367-644A-92C5-F9CD1D7D4D66}"/>
                    </a:ext>
                  </a:extLst>
                </p:cNvPr>
                <p:cNvSpPr/>
                <p:nvPr/>
              </p:nvSpPr>
              <p:spPr>
                <a:xfrm>
                  <a:off x="9534089" y="2719066"/>
                  <a:ext cx="683842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IN" sz="1800" b="1" dirty="0">
                      <a:latin typeface="Avenir Book" panose="02000503020000020003" pitchFamily="2" charset="0"/>
                    </a:rPr>
                    <a:t>Error</a:t>
                  </a:r>
                  <a:endParaRPr lang="en-US" sz="1800" b="1" dirty="0"/>
                </a:p>
              </p:txBody>
            </p:sp>
            <p:sp>
              <p:nvSpPr>
                <p:cNvPr id="45" name="Rectangle 44">
                  <a:extLst>
                    <a:ext uri="{FF2B5EF4-FFF2-40B4-BE49-F238E27FC236}">
                      <a16:creationId xmlns:a16="http://schemas.microsoft.com/office/drawing/2014/main" id="{5DE599C3-164B-4D47-8C22-BC971426D2E3}"/>
                    </a:ext>
                  </a:extLst>
                </p:cNvPr>
                <p:cNvSpPr/>
                <p:nvPr/>
              </p:nvSpPr>
              <p:spPr>
                <a:xfrm>
                  <a:off x="12393552" y="5748333"/>
                  <a:ext cx="1245781" cy="40188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IN" sz="1800" b="1" dirty="0">
                      <a:latin typeface="Avenir Book" panose="02000503020000020003" pitchFamily="2" charset="0"/>
                    </a:rPr>
                    <a:t>Iterations</a:t>
                  </a:r>
                  <a:endParaRPr lang="en-US" sz="1800" b="1" dirty="0"/>
                </a:p>
              </p:txBody>
            </p:sp>
          </p:grpSp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8702AD26-812C-414D-9F29-A2CB01488C3F}"/>
                  </a:ext>
                </a:extLst>
              </p:cNvPr>
              <p:cNvSpPr/>
              <p:nvPr/>
            </p:nvSpPr>
            <p:spPr>
              <a:xfrm>
                <a:off x="12122514" y="3624335"/>
                <a:ext cx="120590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IN" sz="1600" dirty="0">
                    <a:latin typeface="Avenir Book" panose="02000503020000020003" pitchFamily="2" charset="0"/>
                  </a:rPr>
                  <a:t>Validation</a:t>
                </a:r>
                <a:endParaRPr lang="en-US" sz="1600" dirty="0"/>
              </a:p>
            </p:txBody>
          </p:sp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D34EE3F0-DB0D-0743-A14C-C050D7849DDB}"/>
                  </a:ext>
                </a:extLst>
              </p:cNvPr>
              <p:cNvSpPr/>
              <p:nvPr/>
            </p:nvSpPr>
            <p:spPr>
              <a:xfrm>
                <a:off x="12229942" y="5122759"/>
                <a:ext cx="100341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IN" sz="1600" dirty="0">
                    <a:latin typeface="Avenir Book" panose="02000503020000020003" pitchFamily="2" charset="0"/>
                  </a:rPr>
                  <a:t>Training</a:t>
                </a:r>
                <a:endParaRPr lang="en-US" sz="1600" dirty="0"/>
              </a:p>
            </p:txBody>
          </p:sp>
        </p:grpSp>
      </p:grpSp>
      <p:sp>
        <p:nvSpPr>
          <p:cNvPr id="46" name="Title 5">
            <a:extLst>
              <a:ext uri="{FF2B5EF4-FFF2-40B4-BE49-F238E27FC236}">
                <a16:creationId xmlns:a16="http://schemas.microsoft.com/office/drawing/2014/main" id="{2E528BA7-7C6F-0948-990C-61380155E013}"/>
              </a:ext>
            </a:extLst>
          </p:cNvPr>
          <p:cNvSpPr txBox="1">
            <a:spLocks/>
          </p:cNvSpPr>
          <p:nvPr/>
        </p:nvSpPr>
        <p:spPr>
          <a:xfrm>
            <a:off x="3000955" y="2517985"/>
            <a:ext cx="2104755" cy="50282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781583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800" b="1" kern="1200" baseline="0">
                <a:solidFill>
                  <a:srgbClr val="00673E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800" b="0" dirty="0">
                <a:latin typeface="Avenir Medium" panose="02000503020000020003" pitchFamily="2" charset="0"/>
              </a:rPr>
              <a:t>Underfit</a:t>
            </a:r>
          </a:p>
          <a:p>
            <a:r>
              <a:rPr lang="en-IN" sz="1200" b="0" dirty="0">
                <a:latin typeface="Avenir Medium" panose="02000503020000020003" pitchFamily="2" charset="0"/>
              </a:rPr>
              <a:t>High Bias (train error)</a:t>
            </a:r>
          </a:p>
        </p:txBody>
      </p:sp>
      <p:sp>
        <p:nvSpPr>
          <p:cNvPr id="49" name="Title 5">
            <a:extLst>
              <a:ext uri="{FF2B5EF4-FFF2-40B4-BE49-F238E27FC236}">
                <a16:creationId xmlns:a16="http://schemas.microsoft.com/office/drawing/2014/main" id="{AEFB0FD1-2DDA-4646-B69A-11E36EB4FCF1}"/>
              </a:ext>
            </a:extLst>
          </p:cNvPr>
          <p:cNvSpPr txBox="1">
            <a:spLocks/>
          </p:cNvSpPr>
          <p:nvPr/>
        </p:nvSpPr>
        <p:spPr>
          <a:xfrm>
            <a:off x="10580781" y="2573657"/>
            <a:ext cx="2104755" cy="50282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781583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800" b="1" kern="1200" baseline="0">
                <a:solidFill>
                  <a:srgbClr val="00673E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800" b="0" dirty="0">
                <a:latin typeface="Avenir Medium" panose="02000503020000020003" pitchFamily="2" charset="0"/>
              </a:rPr>
              <a:t>Overfit</a:t>
            </a:r>
          </a:p>
          <a:p>
            <a:r>
              <a:rPr lang="en-IN" sz="1200" b="0" dirty="0">
                <a:latin typeface="Avenir Medium" panose="02000503020000020003" pitchFamily="2" charset="0"/>
              </a:rPr>
              <a:t>High variance (test error)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C07CEF7-BEF2-FE44-8126-97AC92BBD0C2}"/>
              </a:ext>
            </a:extLst>
          </p:cNvPr>
          <p:cNvSpPr/>
          <p:nvPr/>
        </p:nvSpPr>
        <p:spPr>
          <a:xfrm>
            <a:off x="6551721" y="2497587"/>
            <a:ext cx="213552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dirty="0">
                <a:solidFill>
                  <a:srgbClr val="00673E"/>
                </a:solidFill>
                <a:latin typeface="Avenir Medium" panose="02000503020000020003" pitchFamily="2" charset="0"/>
                <a:ea typeface="+mj-ea"/>
                <a:cs typeface="+mj-cs"/>
              </a:rPr>
              <a:t>Generalised</a:t>
            </a:r>
            <a:endParaRPr lang="en-US" sz="2800" dirty="0">
              <a:solidFill>
                <a:srgbClr val="00673E"/>
              </a:solidFill>
              <a:latin typeface="Avenir Medium" panose="02000503020000020003" pitchFamily="2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6282359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59388" y="1120851"/>
            <a:ext cx="656141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000" b="1" dirty="0">
                <a:solidFill>
                  <a:schemeClr val="tx2"/>
                </a:solidFill>
                <a:latin typeface="Avenir Book" panose="02000503020000020003" pitchFamily="2" charset="0"/>
              </a:rPr>
              <a:t>Operations of hidden layers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40A28FA-EB08-C44B-BD95-5D63E8C86BC2}"/>
              </a:ext>
            </a:extLst>
          </p:cNvPr>
          <p:cNvSpPr/>
          <p:nvPr/>
        </p:nvSpPr>
        <p:spPr>
          <a:xfrm>
            <a:off x="1159388" y="4405396"/>
            <a:ext cx="8128000" cy="58477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3200" dirty="0">
                <a:solidFill>
                  <a:srgbClr val="005493"/>
                </a:solidFill>
                <a:latin typeface="Avenir Book" panose="02000503020000020003" pitchFamily="2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Google Tensorflow Playground Demo</a:t>
            </a:r>
            <a:endParaRPr lang="en-US" sz="3200" dirty="0">
              <a:solidFill>
                <a:srgbClr val="005493"/>
              </a:solidFill>
              <a:latin typeface="Avenir Book" panose="020005030200000200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29227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20265" y="2162410"/>
            <a:ext cx="11417408" cy="3296280"/>
          </a:xfrm>
        </p:spPr>
        <p:txBody>
          <a:bodyPr>
            <a:normAutofit/>
          </a:bodyPr>
          <a:lstStyle/>
          <a:p>
            <a:pPr algn="ctr"/>
            <a:r>
              <a:rPr lang="en-US" sz="6000" dirty="0">
                <a:latin typeface="Avenir Medium" panose="02000503020000020003" pitchFamily="2" charset="0"/>
                <a:cs typeface="Calibri" panose="020F0502020204030204" pitchFamily="34" charset="0"/>
              </a:rPr>
              <a:t>Launch</a:t>
            </a:r>
            <a:br>
              <a:rPr lang="en-US" sz="6000" dirty="0">
                <a:latin typeface="Avenir Medium" panose="02000503020000020003" pitchFamily="2" charset="0"/>
                <a:cs typeface="Calibri" panose="020F0502020204030204" pitchFamily="34" charset="0"/>
              </a:rPr>
            </a:br>
            <a:br>
              <a:rPr lang="en-US" sz="6000" dirty="0">
                <a:latin typeface="Avenir Medium" panose="02000503020000020003" pitchFamily="2" charset="0"/>
                <a:cs typeface="Calibri" panose="020F0502020204030204" pitchFamily="34" charset="0"/>
              </a:rPr>
            </a:br>
            <a:r>
              <a:rPr lang="en-US" sz="3600" dirty="0">
                <a:latin typeface="Avenir Medium" panose="02000503020000020003" pitchFamily="2" charset="0"/>
                <a:cs typeface="Calibri" panose="020F0502020204030204" pitchFamily="34" charset="0"/>
              </a:rPr>
              <a:t>UCLA - </a:t>
            </a:r>
            <a:r>
              <a:rPr lang="en-US" sz="3600" dirty="0" err="1">
                <a:latin typeface="Avenir Medium" panose="02000503020000020003" pitchFamily="2" charset="0"/>
                <a:cs typeface="Calibri" panose="020F0502020204030204" pitchFamily="34" charset="0"/>
              </a:rPr>
              <a:t>Neural_Networks_Solutions.ipynb</a:t>
            </a:r>
            <a:r>
              <a:rPr lang="en-US" sz="3600" dirty="0">
                <a:latin typeface="Avenir Medium" panose="02000503020000020003" pitchFamily="2" charset="0"/>
                <a:cs typeface="Calibri" panose="020F0502020204030204" pitchFamily="34" charset="0"/>
              </a:rPr>
              <a:t> </a:t>
            </a:r>
            <a:br>
              <a:rPr lang="en-US" sz="3600" dirty="0">
                <a:latin typeface="Avenir Medium" panose="02000503020000020003" pitchFamily="2" charset="0"/>
                <a:cs typeface="Calibri" panose="020F0502020204030204" pitchFamily="34" charset="0"/>
              </a:rPr>
            </a:br>
            <a:r>
              <a:rPr lang="en-US" sz="4000" dirty="0">
                <a:latin typeface="Avenir Medium" panose="02000503020000020003" pitchFamily="2" charset="0"/>
                <a:cs typeface="Calibri" panose="020F0502020204030204" pitchFamily="34" charset="0"/>
              </a:rPr>
              <a:t>Notebook</a:t>
            </a:r>
            <a:endParaRPr lang="en-US" sz="6000" dirty="0">
              <a:latin typeface="Avenir Medium" panose="02000503020000020003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14182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84754" y="3679485"/>
            <a:ext cx="4234606" cy="1185123"/>
          </a:xfrm>
        </p:spPr>
        <p:txBody>
          <a:bodyPr>
            <a:normAutofit/>
          </a:bodyPr>
          <a:lstStyle/>
          <a:p>
            <a:r>
              <a:rPr lang="en-US" dirty="0">
                <a:latin typeface="Avenir Medium" panose="02000503020000020003" pitchFamily="2" charset="0"/>
                <a:cs typeface="Calibri" panose="020F0502020204030204" pitchFamily="34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6303584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lgonquin College Colours">
      <a:dk1>
        <a:srgbClr val="423F3F"/>
      </a:dk1>
      <a:lt1>
        <a:sysClr val="window" lastClr="FFFFFF"/>
      </a:lt1>
      <a:dk2>
        <a:srgbClr val="00673E"/>
      </a:dk2>
      <a:lt2>
        <a:srgbClr val="FFFFFF"/>
      </a:lt2>
      <a:accent1>
        <a:srgbClr val="00673E"/>
      </a:accent1>
      <a:accent2>
        <a:srgbClr val="599A83"/>
      </a:accent2>
      <a:accent3>
        <a:srgbClr val="A6C8BC"/>
      </a:accent3>
      <a:accent4>
        <a:srgbClr val="408A70"/>
      </a:accent4>
      <a:accent5>
        <a:srgbClr val="423F3F"/>
      </a:accent5>
      <a:accent6>
        <a:srgbClr val="B4B2B5"/>
      </a:accent6>
      <a:hlink>
        <a:srgbClr val="43B02A"/>
      </a:hlink>
      <a:folHlink>
        <a:srgbClr val="7AC143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7DB8CAB36A2D8409F6572231052C12A" ma:contentTypeVersion="4" ma:contentTypeDescription="Create a new document." ma:contentTypeScope="" ma:versionID="6f5e82948aaa69405a81ecfceca438aa">
  <xsd:schema xmlns:xsd="http://www.w3.org/2001/XMLSchema" xmlns:xs="http://www.w3.org/2001/XMLSchema" xmlns:p="http://schemas.microsoft.com/office/2006/metadata/properties" xmlns:ns2="07e9b253-4bb1-419b-a3a2-8b781af139fd" targetNamespace="http://schemas.microsoft.com/office/2006/metadata/properties" ma:root="true" ma:fieldsID="a3d46d9f31ffb322e81118aa3346a3e1" ns2:_="">
    <xsd:import namespace="07e9b253-4bb1-419b-a3a2-8b781af139f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7e9b253-4bb1-419b-a3a2-8b781af139f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CF178D4-0AAA-4FC5-BD37-1F683E14D7CA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4743F9F0-664D-41E4-93FF-D2D5129BA83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3031F0E-D2CB-423A-B7E0-DDADD08881A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7e9b253-4bb1-419b-a3a2-8b781af139f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11912</TotalTime>
  <Words>663</Words>
  <Application>Microsoft Office PowerPoint</Application>
  <PresentationFormat>Custom</PresentationFormat>
  <Paragraphs>270</Paragraphs>
  <Slides>24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6" baseType="lpstr">
      <vt:lpstr>Arial</vt:lpstr>
      <vt:lpstr>Avenir Book</vt:lpstr>
      <vt:lpstr>Avenir Medium</vt:lpstr>
      <vt:lpstr>Avenir Roman</vt:lpstr>
      <vt:lpstr>Calibri</vt:lpstr>
      <vt:lpstr>Cambria Math</vt:lpstr>
      <vt:lpstr>Century Schoolbook</vt:lpstr>
      <vt:lpstr>Segoe UI</vt:lpstr>
      <vt:lpstr>Söhne</vt:lpstr>
      <vt:lpstr>Times New Roman</vt:lpstr>
      <vt:lpstr>Wingdings</vt:lpstr>
      <vt:lpstr>Office Theme</vt:lpstr>
      <vt:lpstr>Welcome to Week 12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Housing Price Prediction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Non-technical explanation of deep learning</vt:lpstr>
      <vt:lpstr>Housing Price Prediction – 2 Layer Neural Network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Launch  UCLA - Neural_Networks_Solutions.ipynb  Notebook</vt:lpstr>
      <vt:lpstr>Thank you!</vt:lpstr>
    </vt:vector>
  </TitlesOfParts>
  <Company>Salt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Daniela Chavez Ackermann</dc:creator>
  <cp:lastModifiedBy>umer Altaf</cp:lastModifiedBy>
  <cp:revision>547</cp:revision>
  <dcterms:created xsi:type="dcterms:W3CDTF">2016-12-21T16:02:28Z</dcterms:created>
  <dcterms:modified xsi:type="dcterms:W3CDTF">2025-11-19T17:14:43Z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0x01010057DB8CAB36A2D8409F6572231052C12A</vt:lpwstr>
  </property>
</Properties>
</file>