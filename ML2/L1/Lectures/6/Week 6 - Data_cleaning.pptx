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453" r:id="rId6"/>
    <p:sldId id="449" r:id="rId7"/>
    <p:sldId id="477" r:id="rId8"/>
    <p:sldId id="450" r:id="rId9"/>
    <p:sldId id="451" r:id="rId10"/>
    <p:sldId id="456" r:id="rId11"/>
    <p:sldId id="464" r:id="rId12"/>
    <p:sldId id="458" r:id="rId13"/>
    <p:sldId id="466" r:id="rId14"/>
    <p:sldId id="467" r:id="rId15"/>
    <p:sldId id="468" r:id="rId16"/>
    <p:sldId id="461" r:id="rId17"/>
    <p:sldId id="376" r:id="rId18"/>
    <p:sldId id="452" r:id="rId1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79"/>
    <a:srgbClr val="C23EC5"/>
    <a:srgbClr val="FF85FF"/>
    <a:srgbClr val="E338E5"/>
    <a:srgbClr val="C1C1C1"/>
    <a:srgbClr val="005493"/>
    <a:srgbClr val="008F00"/>
    <a:srgbClr val="009051"/>
    <a:srgbClr val="267A5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93" autoAdjust="0"/>
    <p:restoredTop sz="96357" autoAdjust="0"/>
  </p:normalViewPr>
  <p:slideViewPr>
    <p:cSldViewPr snapToGrid="0" snapToObjects="1">
      <p:cViewPr varScale="1">
        <p:scale>
          <a:sx n="47" d="100"/>
          <a:sy n="47" d="100"/>
        </p:scale>
        <p:origin x="1112" y="6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47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8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i="0" dirty="0">
                <a:effectLst/>
                <a:latin typeface="Söhne"/>
              </a:rPr>
              <a:t>Contextual Clarity - </a:t>
            </a:r>
            <a:r>
              <a:rPr lang="en-CA" b="0" i="0" dirty="0">
                <a:solidFill>
                  <a:srgbClr val="374151"/>
                </a:solidFill>
                <a:effectLst/>
                <a:latin typeface="Söhne"/>
              </a:rPr>
              <a:t>target variable, attribute in database</a:t>
            </a:r>
            <a:r>
              <a:rPr lang="en-CA" b="1" i="0" dirty="0">
                <a:effectLst/>
                <a:latin typeface="Söhne"/>
              </a:rPr>
              <a:t>, Interdisciplinary Overlaps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41BEB-B14C-4678-9E1B-C49BBC5ADAFF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194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1ADB-EAC3-87A9-F8A7-A360B51F4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28350-01EF-1D2D-6396-512EC8C94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DB529-E020-5194-C1ED-5FB45A759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B3DA-8A91-85BF-B0DD-E975238BF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6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Variables, features,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41BEB-B14C-4678-9E1B-C49BBC5ADAF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623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Variables, features,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41BEB-B14C-4678-9E1B-C49BBC5ADAF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5668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27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13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99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5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66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27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3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EFEE-D458-AAED-EFAB-1BE47981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CC18-C79F-F6DB-2912-736A7EAFF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9BA0C-70C3-E620-B09D-0188DAA9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4785C-D950-4B27-B3D2-10D5142C95AB}" type="datetimeFigureOut">
              <a:rPr lang="en-CA" smtClean="0"/>
              <a:t>2025-10-08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D4D4-A1E9-5640-1B8C-7E48AE84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B2E0C-55B6-B9B5-C9C8-15411F49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4888C-850A-4254-9741-FAC872411F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54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  <p:sldLayoutId id="2147483703" r:id="rId36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5.tiff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81" y="2557219"/>
            <a:ext cx="13786521" cy="1348353"/>
          </a:xfrm>
        </p:spPr>
        <p:txBody>
          <a:bodyPr>
            <a:normAutofit/>
          </a:bodyPr>
          <a:lstStyle/>
          <a:p>
            <a:r>
              <a:rPr lang="en-US" dirty="0">
                <a:latin typeface="Avenir Roman" panose="02000503020000020003" pitchFamily="2" charset="0"/>
                <a:cs typeface="Calibri" panose="020F0502020204030204" pitchFamily="34" charset="0"/>
              </a:rPr>
              <a:t>Welcome to Week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733" y="4264281"/>
            <a:ext cx="13118496" cy="1338233"/>
          </a:xfrm>
        </p:spPr>
        <p:txBody>
          <a:bodyPr/>
          <a:lstStyle/>
          <a:p>
            <a:r>
              <a:rPr lang="en-IN" sz="4000" dirty="0">
                <a:latin typeface="Avenir Book" panose="02000503020000020003" pitchFamily="2" charset="0"/>
              </a:rPr>
              <a:t>Data Cleaning using Python</a:t>
            </a:r>
            <a:endParaRPr lang="en-U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81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7370" y="904509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</a:rPr>
              <a:t>The 5 Core Components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9E18C2-A8F5-3B49-8581-1A0FCDCE274D}"/>
              </a:ext>
            </a:extLst>
          </p:cNvPr>
          <p:cNvGrpSpPr/>
          <p:nvPr/>
        </p:nvGrpSpPr>
        <p:grpSpPr>
          <a:xfrm>
            <a:off x="2170845" y="2968132"/>
            <a:ext cx="11583448" cy="3644798"/>
            <a:chOff x="1788459" y="2635623"/>
            <a:chExt cx="11583448" cy="3644798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96AF426E-D0A8-8645-92C0-081FEF1D04F7}"/>
                </a:ext>
              </a:extLst>
            </p:cNvPr>
            <p:cNvSpPr/>
            <p:nvPr/>
          </p:nvSpPr>
          <p:spPr>
            <a:xfrm>
              <a:off x="1788459" y="2635624"/>
              <a:ext cx="2447365" cy="981635"/>
            </a:xfrm>
            <a:prstGeom prst="roundRect">
              <a:avLst/>
            </a:prstGeom>
            <a:solidFill>
              <a:srgbClr val="00B0F0">
                <a:alpha val="72000"/>
              </a:srgbClr>
            </a:solidFill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Exploratory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Analysis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A90FFD2-7490-F644-8255-885E9226EA26}"/>
                </a:ext>
              </a:extLst>
            </p:cNvPr>
            <p:cNvSpPr/>
            <p:nvPr/>
          </p:nvSpPr>
          <p:spPr>
            <a:xfrm>
              <a:off x="4076573" y="5298786"/>
              <a:ext cx="2447365" cy="981635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Data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Cleaning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CF1F89-F522-0F4C-AC6C-4196214F2B3E}"/>
                </a:ext>
              </a:extLst>
            </p:cNvPr>
            <p:cNvSpPr/>
            <p:nvPr/>
          </p:nvSpPr>
          <p:spPr>
            <a:xfrm>
              <a:off x="6257365" y="2635623"/>
              <a:ext cx="2447365" cy="981635"/>
            </a:xfrm>
            <a:prstGeom prst="roundRect">
              <a:avLst/>
            </a:prstGeom>
            <a:solidFill>
              <a:srgbClr val="C1C1C1">
                <a:alpha val="50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Feature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Engineering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9B067D1-E77C-2E42-8453-0008C0BCAA26}"/>
                </a:ext>
              </a:extLst>
            </p:cNvPr>
            <p:cNvSpPr/>
            <p:nvPr/>
          </p:nvSpPr>
          <p:spPr>
            <a:xfrm>
              <a:off x="8795192" y="5168154"/>
              <a:ext cx="2447365" cy="981635"/>
            </a:xfrm>
            <a:prstGeom prst="roundRect">
              <a:avLst/>
            </a:prstGeom>
            <a:solidFill>
              <a:srgbClr val="FF7E79">
                <a:alpha val="49804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Algorithm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Selection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C735481-91D1-9C4A-B79F-409C9CFF94E7}"/>
                </a:ext>
              </a:extLst>
            </p:cNvPr>
            <p:cNvSpPr/>
            <p:nvPr/>
          </p:nvSpPr>
          <p:spPr>
            <a:xfrm>
              <a:off x="10924542" y="2635623"/>
              <a:ext cx="2447365" cy="981635"/>
            </a:xfrm>
            <a:prstGeom prst="roundRect">
              <a:avLst/>
            </a:prstGeom>
            <a:solidFill>
              <a:srgbClr val="92D050">
                <a:alpha val="50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Model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Training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0F1E812-0C8A-9B47-B9E4-07AD6E3DAFF6}"/>
                </a:ext>
              </a:extLst>
            </p:cNvPr>
            <p:cNvCxnSpPr>
              <a:cxnSpLocks/>
            </p:cNvCxnSpPr>
            <p:nvPr/>
          </p:nvCxnSpPr>
          <p:spPr>
            <a:xfrm>
              <a:off x="3170514" y="3825113"/>
              <a:ext cx="1118927" cy="1135186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6665672-24D7-6A48-826F-B6D0442B3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1665" y="3825113"/>
              <a:ext cx="795784" cy="1135186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656D71-6FBF-EE4E-BE40-E1A967907C74}"/>
                </a:ext>
              </a:extLst>
            </p:cNvPr>
            <p:cNvCxnSpPr>
              <a:cxnSpLocks/>
            </p:cNvCxnSpPr>
            <p:nvPr/>
          </p:nvCxnSpPr>
          <p:spPr>
            <a:xfrm>
              <a:off x="8326532" y="3838152"/>
              <a:ext cx="937661" cy="11091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4DAF00D-6378-4D4E-8B53-C94499D0F2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4542" y="3825113"/>
              <a:ext cx="663399" cy="112214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EC47EE-5A6D-FA40-82D9-DBC7C2CBF4AA}"/>
              </a:ext>
            </a:extLst>
          </p:cNvPr>
          <p:cNvSpPr/>
          <p:nvPr/>
        </p:nvSpPr>
        <p:spPr>
          <a:xfrm>
            <a:off x="4186222" y="5388816"/>
            <a:ext cx="3007233" cy="146957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6982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88D75EF-A865-531C-3F92-DF141744D5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4"/>
          <a:stretch/>
        </p:blipFill>
        <p:spPr>
          <a:xfrm>
            <a:off x="5942984" y="4600594"/>
            <a:ext cx="9157679" cy="2244858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4A61553F-3C30-470D-BC6D-1A8F885C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742" y="657515"/>
            <a:ext cx="3067316" cy="88027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673E"/>
                </a:solidFill>
                <a:latin typeface="+mn-lt"/>
                <a:cs typeface="Calibri" panose="020F0502020204030204" pitchFamily="34" charset="0"/>
              </a:rPr>
              <a:t>Data Set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CE4BEB4-0986-B8AC-DAE3-56A9232C832C}"/>
              </a:ext>
            </a:extLst>
          </p:cNvPr>
          <p:cNvGrpSpPr/>
          <p:nvPr/>
        </p:nvGrpSpPr>
        <p:grpSpPr>
          <a:xfrm>
            <a:off x="9247090" y="2967557"/>
            <a:ext cx="3096007" cy="1348415"/>
            <a:chOff x="5672110" y="2348129"/>
            <a:chExt cx="3096007" cy="1348415"/>
          </a:xfrm>
        </p:grpSpPr>
        <p:pic>
          <p:nvPicPr>
            <p:cNvPr id="2050" name="Picture 2" descr="Black Straight Arrow Vector Icon Handdrawn Stock Vector ...">
              <a:extLst>
                <a:ext uri="{FF2B5EF4-FFF2-40B4-BE49-F238E27FC236}">
                  <a16:creationId xmlns:a16="http://schemas.microsoft.com/office/drawing/2014/main" id="{84812026-E640-C9CE-B5E3-923DD300C8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9" t="17139" r="22689" b="25021"/>
            <a:stretch/>
          </p:blipFill>
          <p:spPr bwMode="auto">
            <a:xfrm rot="8122689">
              <a:off x="6682630" y="2503487"/>
              <a:ext cx="1012394" cy="10868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Black Straight Arrow Vector Icon Handdrawn Stock Vector ...">
              <a:extLst>
                <a:ext uri="{FF2B5EF4-FFF2-40B4-BE49-F238E27FC236}">
                  <a16:creationId xmlns:a16="http://schemas.microsoft.com/office/drawing/2014/main" id="{209DB39A-3DD6-DDA5-C4C5-39666E26C5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9" t="17139" r="22689" b="25021"/>
            <a:stretch/>
          </p:blipFill>
          <p:spPr bwMode="auto">
            <a:xfrm rot="5400000">
              <a:off x="7465897" y="2340218"/>
              <a:ext cx="1256026" cy="1348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Black Straight Arrow Vector Icon Handdrawn Stock Vector ...">
              <a:extLst>
                <a:ext uri="{FF2B5EF4-FFF2-40B4-BE49-F238E27FC236}">
                  <a16:creationId xmlns:a16="http://schemas.microsoft.com/office/drawing/2014/main" id="{2CBBF0A0-3CDB-BCB3-C8A6-E76FCB1A8F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9" t="17139" r="22689" b="25021"/>
            <a:stretch/>
          </p:blipFill>
          <p:spPr bwMode="auto">
            <a:xfrm rot="10570188">
              <a:off x="5672110" y="2348129"/>
              <a:ext cx="1256026" cy="1348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867924B-2C31-917F-EE78-E42A0698DE2A}"/>
              </a:ext>
            </a:extLst>
          </p:cNvPr>
          <p:cNvSpPr txBox="1"/>
          <p:nvPr/>
        </p:nvSpPr>
        <p:spPr>
          <a:xfrm>
            <a:off x="5979352" y="1876515"/>
            <a:ext cx="9568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Variables, attributes, features, fields, columns, dimensions, indicators, predictors, dependent variables, response variables</a:t>
            </a:r>
            <a:endParaRPr lang="en-CA" dirty="0">
              <a:latin typeface="Comic Sans MS" panose="030F0702030302020204" pitchFamily="66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6DC0E8D-8F84-BDBB-0E95-F172A0341D98}"/>
              </a:ext>
            </a:extLst>
          </p:cNvPr>
          <p:cNvGrpSpPr/>
          <p:nvPr/>
        </p:nvGrpSpPr>
        <p:grpSpPr>
          <a:xfrm rot="16200000">
            <a:off x="4601716" y="5557957"/>
            <a:ext cx="1484370" cy="625044"/>
            <a:chOff x="7057530" y="3211413"/>
            <a:chExt cx="1484370" cy="625044"/>
          </a:xfrm>
        </p:grpSpPr>
        <p:pic>
          <p:nvPicPr>
            <p:cNvPr id="34" name="Picture 2" descr="Black Straight Arrow Vector Icon Handdrawn Stock Vector ...">
              <a:extLst>
                <a:ext uri="{FF2B5EF4-FFF2-40B4-BE49-F238E27FC236}">
                  <a16:creationId xmlns:a16="http://schemas.microsoft.com/office/drawing/2014/main" id="{CA6EE990-2FB1-3CAE-E347-5E5ED370AD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9" t="17139" r="22689" b="25021"/>
            <a:stretch/>
          </p:blipFill>
          <p:spPr bwMode="auto">
            <a:xfrm rot="8122689">
              <a:off x="7057530" y="3211413"/>
              <a:ext cx="565723" cy="60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Black Straight Arrow Vector Icon Handdrawn Stock Vector ...">
              <a:extLst>
                <a:ext uri="{FF2B5EF4-FFF2-40B4-BE49-F238E27FC236}">
                  <a16:creationId xmlns:a16="http://schemas.microsoft.com/office/drawing/2014/main" id="{C6CFA46C-B2CD-B6D1-0826-7B9CA192C0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9" t="17139" r="22689" b="25021"/>
            <a:stretch/>
          </p:blipFill>
          <p:spPr bwMode="auto">
            <a:xfrm rot="8019224">
              <a:off x="7928128" y="3222686"/>
              <a:ext cx="591999" cy="635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6B8914C-677B-D36A-4E55-B6664E330610}"/>
              </a:ext>
            </a:extLst>
          </p:cNvPr>
          <p:cNvSpPr txBox="1"/>
          <p:nvPr/>
        </p:nvSpPr>
        <p:spPr>
          <a:xfrm>
            <a:off x="1071853" y="5129473"/>
            <a:ext cx="4091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Rows, observations, instances, data point, use cases, items, samples</a:t>
            </a:r>
            <a:endParaRPr lang="en-CA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68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D9FB-84E7-CA58-2B6D-12C5E123A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5E3E30-82CD-BDD6-1AE5-E0066230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370" y="904509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  <a:cs typeface="Calibri" panose="020F0502020204030204" pitchFamily="34" charset="0"/>
              </a:rPr>
              <a:t>Removing Duplicate rows (use cases)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50E2E-96CD-2952-1EC2-F8518B466E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5B471-6815-455B-44C9-7FD0415E2453}"/>
              </a:ext>
            </a:extLst>
          </p:cNvPr>
          <p:cNvSpPr/>
          <p:nvPr/>
        </p:nvSpPr>
        <p:spPr>
          <a:xfrm>
            <a:off x="913949" y="2907154"/>
            <a:ext cx="8083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First thing to remove duplicate rows: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86F33-BCB4-E419-B56E-94ECD3DBB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257" y="3799724"/>
            <a:ext cx="12910781" cy="2887264"/>
          </a:xfrm>
          <a:prstGeom prst="rect">
            <a:avLst/>
          </a:prstGeom>
        </p:spPr>
      </p:pic>
      <p:pic>
        <p:nvPicPr>
          <p:cNvPr id="11" name="Picture 2" descr="Black Straight Arrow Vector Icon Handdrawn Stock Vector ...">
            <a:extLst>
              <a:ext uri="{FF2B5EF4-FFF2-40B4-BE49-F238E27FC236}">
                <a16:creationId xmlns:a16="http://schemas.microsoft.com/office/drawing/2014/main" id="{D54F5A22-7854-40AC-7334-5FA4FA111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9" t="17139" r="22689" b="25021"/>
          <a:stretch/>
        </p:blipFill>
        <p:spPr bwMode="auto">
          <a:xfrm rot="2619224">
            <a:off x="1911788" y="4022823"/>
            <a:ext cx="591999" cy="63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Black Straight Arrow Vector Icon Handdrawn Stock Vector ...">
            <a:extLst>
              <a:ext uri="{FF2B5EF4-FFF2-40B4-BE49-F238E27FC236}">
                <a16:creationId xmlns:a16="http://schemas.microsoft.com/office/drawing/2014/main" id="{488F704F-09C1-8CB2-A77E-602EF33CB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9" t="17139" r="22689" b="25021"/>
          <a:stretch/>
        </p:blipFill>
        <p:spPr bwMode="auto">
          <a:xfrm rot="2619224">
            <a:off x="1929591" y="4461035"/>
            <a:ext cx="530175" cy="56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34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88D75EF-A865-531C-3F92-DF141744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554" y="3395151"/>
            <a:ext cx="10540244" cy="25810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99395B-2D4B-D091-92AE-8CF89C665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554" y="3501349"/>
            <a:ext cx="10540244" cy="2664558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4A61553F-3C30-470D-BC6D-1A8F885C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678" y="618326"/>
            <a:ext cx="12368563" cy="88027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673E"/>
                </a:solidFill>
                <a:latin typeface="+mn-lt"/>
                <a:cs typeface="Calibri" panose="020F0502020204030204" pitchFamily="34" charset="0"/>
              </a:rPr>
              <a:t>Data Cleaning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3B85D6-8E8B-5C90-0C0B-B8F98C1AD939}"/>
              </a:ext>
            </a:extLst>
          </p:cNvPr>
          <p:cNvGrpSpPr/>
          <p:nvPr/>
        </p:nvGrpSpPr>
        <p:grpSpPr>
          <a:xfrm>
            <a:off x="2005902" y="2236004"/>
            <a:ext cx="1894509" cy="2700611"/>
            <a:chOff x="2059555" y="2035207"/>
            <a:chExt cx="1894509" cy="27006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9AFA391-F982-54D8-A72E-140050992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145" t="10965" r="17421" b="10236"/>
            <a:stretch/>
          </p:blipFill>
          <p:spPr>
            <a:xfrm rot="21198899" flipV="1">
              <a:off x="2352786" y="2836488"/>
              <a:ext cx="1601278" cy="189933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41820A-8F2B-032F-A1EA-FF9B318AB9BF}"/>
                </a:ext>
              </a:extLst>
            </p:cNvPr>
            <p:cNvSpPr/>
            <p:nvPr/>
          </p:nvSpPr>
          <p:spPr>
            <a:xfrm>
              <a:off x="2059555" y="2035207"/>
              <a:ext cx="91723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Missing</a:t>
              </a:r>
            </a:p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value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4CE6BC-0242-7B8C-B2C6-A608052A7C94}"/>
              </a:ext>
            </a:extLst>
          </p:cNvPr>
          <p:cNvGrpSpPr/>
          <p:nvPr/>
        </p:nvGrpSpPr>
        <p:grpSpPr>
          <a:xfrm>
            <a:off x="7547195" y="5734999"/>
            <a:ext cx="917239" cy="1433253"/>
            <a:chOff x="7405395" y="5583432"/>
            <a:chExt cx="917239" cy="143325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0028ED-335B-24DD-AFAA-0B64B210F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145" t="10965" r="17421" b="10236"/>
            <a:stretch/>
          </p:blipFill>
          <p:spPr>
            <a:xfrm rot="401101">
              <a:off x="7724262" y="5583432"/>
              <a:ext cx="584829" cy="69368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6E8A38F-BEA2-FCCF-D5D4-74948C096FB1}"/>
                </a:ext>
              </a:extLst>
            </p:cNvPr>
            <p:cNvSpPr/>
            <p:nvPr/>
          </p:nvSpPr>
          <p:spPr>
            <a:xfrm>
              <a:off x="7405395" y="6308799"/>
              <a:ext cx="91723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Missing</a:t>
              </a:r>
            </a:p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value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7765C4-3538-7A0F-2817-0F183EAF7973}"/>
              </a:ext>
            </a:extLst>
          </p:cNvPr>
          <p:cNvGrpSpPr/>
          <p:nvPr/>
        </p:nvGrpSpPr>
        <p:grpSpPr>
          <a:xfrm>
            <a:off x="11986613" y="2232891"/>
            <a:ext cx="1524421" cy="2607472"/>
            <a:chOff x="11981787" y="1900815"/>
            <a:chExt cx="1524421" cy="26074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4A3976-A072-C3B4-E163-055CEC555A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145" t="10965" r="17421" b="10236"/>
            <a:stretch/>
          </p:blipFill>
          <p:spPr>
            <a:xfrm rot="21198899" flipH="1" flipV="1">
              <a:off x="11981787" y="2700124"/>
              <a:ext cx="1524421" cy="1808163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E135B9-E50E-6AA8-100D-B1A3373F8930}"/>
                </a:ext>
              </a:extLst>
            </p:cNvPr>
            <p:cNvSpPr/>
            <p:nvPr/>
          </p:nvSpPr>
          <p:spPr>
            <a:xfrm>
              <a:off x="12535453" y="1900815"/>
              <a:ext cx="91723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Missing</a:t>
              </a:r>
            </a:p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491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4A61553F-3C30-470D-BC6D-1A8F885C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678" y="618326"/>
            <a:ext cx="12368563" cy="88027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673E"/>
                </a:solidFill>
                <a:latin typeface="+mn-lt"/>
                <a:cs typeface="Calibri" panose="020F0502020204030204" pitchFamily="34" charset="0"/>
              </a:rPr>
              <a:t>Data Cleaning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3DBED-D53D-4EF8-990C-BCFB96A1F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727" y="3517571"/>
            <a:ext cx="10540244" cy="262278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97765C4-3538-7A0F-2817-0F183EAF7973}"/>
              </a:ext>
            </a:extLst>
          </p:cNvPr>
          <p:cNvGrpSpPr/>
          <p:nvPr/>
        </p:nvGrpSpPr>
        <p:grpSpPr>
          <a:xfrm>
            <a:off x="13275936" y="2214235"/>
            <a:ext cx="1524421" cy="2537077"/>
            <a:chOff x="11981787" y="1971210"/>
            <a:chExt cx="1524421" cy="25370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4A3976-A072-C3B4-E163-055CEC555A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145" t="10965" r="17421" b="10236"/>
            <a:stretch/>
          </p:blipFill>
          <p:spPr>
            <a:xfrm rot="21198899" flipH="1" flipV="1">
              <a:off x="11981787" y="2700124"/>
              <a:ext cx="1524421" cy="1808163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E135B9-E50E-6AA8-100D-B1A3373F8930}"/>
                </a:ext>
              </a:extLst>
            </p:cNvPr>
            <p:cNvSpPr/>
            <p:nvPr/>
          </p:nvSpPr>
          <p:spPr>
            <a:xfrm>
              <a:off x="12324675" y="1971210"/>
              <a:ext cx="1077539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Missing</a:t>
              </a:r>
            </a:p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Use case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3B85D6-8E8B-5C90-0C0B-B8F98C1AD939}"/>
              </a:ext>
            </a:extLst>
          </p:cNvPr>
          <p:cNvGrpSpPr/>
          <p:nvPr/>
        </p:nvGrpSpPr>
        <p:grpSpPr>
          <a:xfrm flipV="1">
            <a:off x="1439368" y="5590904"/>
            <a:ext cx="1134015" cy="1871194"/>
            <a:chOff x="2094817" y="1652087"/>
            <a:chExt cx="1859247" cy="308373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9AFA391-F982-54D8-A72E-140050992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145" t="10965" r="17421" b="10236"/>
            <a:stretch/>
          </p:blipFill>
          <p:spPr>
            <a:xfrm rot="21198899" flipV="1">
              <a:off x="2352786" y="2836488"/>
              <a:ext cx="1601278" cy="189933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41820A-8F2B-032F-A1EA-FF9B318AB9BF}"/>
                </a:ext>
              </a:extLst>
            </p:cNvPr>
            <p:cNvSpPr/>
            <p:nvPr/>
          </p:nvSpPr>
          <p:spPr>
            <a:xfrm rot="10800000">
              <a:off x="2094817" y="1652087"/>
              <a:ext cx="1810360" cy="11665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Missing</a:t>
              </a:r>
            </a:p>
            <a:p>
              <a:pPr algn="ctr"/>
              <a:r>
                <a:rPr lang="en-CA" sz="2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0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8214" y="732471"/>
            <a:ext cx="11411018" cy="722679"/>
          </a:xfrm>
        </p:spPr>
        <p:txBody>
          <a:bodyPr/>
          <a:lstStyle/>
          <a:p>
            <a:r>
              <a:rPr lang="en-IN" sz="6000" dirty="0">
                <a:latin typeface="Avenir Medium" panose="02000503020000020003" pitchFamily="2" charset="0"/>
              </a:rPr>
              <a:t>Outliers</a:t>
            </a:r>
            <a:endParaRPr lang="en-US" sz="6000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728214" y="2836622"/>
            <a:ext cx="107083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Outliers are innocent until proven guilty!</a:t>
            </a:r>
          </a:p>
          <a:p>
            <a:endParaRPr lang="en-IN" sz="3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Good reasons to remove outliers:</a:t>
            </a:r>
          </a:p>
          <a:p>
            <a:endParaRPr lang="en-IN" sz="3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indent="-742950"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Suspicious Measurements</a:t>
            </a:r>
          </a:p>
          <a:p>
            <a:endParaRPr lang="en-IN" sz="40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house built in year 1880 (when all others are after 1900).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25A746-E841-4946-A258-18EBBFC18BF1}"/>
              </a:ext>
            </a:extLst>
          </p:cNvPr>
          <p:cNvGrpSpPr/>
          <p:nvPr/>
        </p:nvGrpSpPr>
        <p:grpSpPr>
          <a:xfrm>
            <a:off x="11834473" y="3076637"/>
            <a:ext cx="2689124" cy="3791858"/>
            <a:chOff x="11834473" y="3076637"/>
            <a:chExt cx="2689124" cy="37918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CC4E3A8-8B89-274F-B4C3-2C40055B2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34473" y="3076637"/>
              <a:ext cx="2689124" cy="3791858"/>
            </a:xfrm>
            <a:prstGeom prst="rect">
              <a:avLst/>
            </a:prstGeom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A58C458-CF07-B945-BD78-EE99A696BC4D}"/>
                </a:ext>
              </a:extLst>
            </p:cNvPr>
            <p:cNvSpPr/>
            <p:nvPr/>
          </p:nvSpPr>
          <p:spPr>
            <a:xfrm>
              <a:off x="13389427" y="5012871"/>
              <a:ext cx="1077686" cy="47352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244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7370" y="904509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</a:rPr>
              <a:t>Outliers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913949" y="2907154"/>
            <a:ext cx="80835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Good reasons to remove outliers:</a:t>
            </a:r>
          </a:p>
          <a:p>
            <a:endParaRPr lang="en-IN" sz="3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sz="3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Different Population</a:t>
            </a:r>
          </a:p>
          <a:p>
            <a:endParaRPr lang="en-I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" panose="020B0502040204020203" pitchFamily="34" charset="0"/>
                <a:cs typeface="Segoe UI" panose="020B0502040204020203" pitchFamily="34" charset="0"/>
              </a:rPr>
              <a:t>A home with a lot size over 1,000,000 </a:t>
            </a:r>
            <a:r>
              <a:rPr lang="en-I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sqft</a:t>
            </a:r>
            <a:r>
              <a:rPr lang="en-IN" sz="2400" dirty="0">
                <a:latin typeface="Segoe UI" panose="020B0502040204020203" pitchFamily="34" charset="0"/>
                <a:cs typeface="Segoe UI" panose="020B0502040204020203" pitchFamily="34" charset="0"/>
              </a:rPr>
              <a:t> (when all others have lots under 500,000 </a:t>
            </a:r>
            <a:r>
              <a:rPr lang="en-IN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sqft</a:t>
            </a:r>
            <a:r>
              <a:rPr lang="en-IN" sz="2400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F30417-9698-9446-8DC2-05E105E1077E}"/>
              </a:ext>
            </a:extLst>
          </p:cNvPr>
          <p:cNvGrpSpPr/>
          <p:nvPr/>
        </p:nvGrpSpPr>
        <p:grpSpPr>
          <a:xfrm>
            <a:off x="8997473" y="2212593"/>
            <a:ext cx="6166179" cy="5247481"/>
            <a:chOff x="8997473" y="2212593"/>
            <a:chExt cx="6166179" cy="5247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A8274B-D940-5C47-B083-2E1EA0F1E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97473" y="2212593"/>
              <a:ext cx="6166179" cy="5247481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EED5034-4AF4-944F-BF87-FD24A17E9503}"/>
                </a:ext>
              </a:extLst>
            </p:cNvPr>
            <p:cNvSpPr/>
            <p:nvPr/>
          </p:nvSpPr>
          <p:spPr>
            <a:xfrm>
              <a:off x="13898880" y="5687568"/>
              <a:ext cx="1264772" cy="676656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0168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7370" y="1037859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</a:rPr>
              <a:t>Missing Data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1087370" y="2499461"/>
            <a:ext cx="143812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 algorithms simple don’t accept missing values.</a:t>
            </a:r>
          </a:p>
          <a:p>
            <a:endParaRPr lang="en-IN" sz="32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32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two most recommended ways to deal with missing data are: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D3879-318D-EE0A-55B8-1DA373966F91}"/>
              </a:ext>
            </a:extLst>
          </p:cNvPr>
          <p:cNvSpPr txBox="1"/>
          <p:nvPr/>
        </p:nvSpPr>
        <p:spPr>
          <a:xfrm>
            <a:off x="1087370" y="5120815"/>
            <a:ext cx="81292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Option 1: Drop missing values </a:t>
            </a:r>
          </a:p>
          <a:p>
            <a:endParaRPr lang="en-IN" sz="32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32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Option 2: Impute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32296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0385" y="931497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</a:rPr>
              <a:t>Missing Data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810385" y="1872683"/>
            <a:ext cx="1438123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Option 1: Drop missing values</a:t>
            </a:r>
          </a:p>
          <a:p>
            <a:r>
              <a:rPr lang="en-IN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you remove observations, you also remove some information. The fact that the piece of data is missing could be an information itself.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B16680-DA93-E04E-8B63-717AD3C444D2}"/>
              </a:ext>
            </a:extLst>
          </p:cNvPr>
          <p:cNvGrpSpPr/>
          <p:nvPr/>
        </p:nvGrpSpPr>
        <p:grpSpPr>
          <a:xfrm>
            <a:off x="1437418" y="4169030"/>
            <a:ext cx="4817078" cy="3652928"/>
            <a:chOff x="1437418" y="4169030"/>
            <a:chExt cx="4817078" cy="36529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BAAF44-BE2C-BC40-9B6D-7F300C588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7418" y="4169030"/>
              <a:ext cx="4652486" cy="3652928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84F2C76-31A9-1549-AA56-82BCACC9B66B}"/>
                </a:ext>
              </a:extLst>
            </p:cNvPr>
            <p:cNvSpPr/>
            <p:nvPr/>
          </p:nvSpPr>
          <p:spPr>
            <a:xfrm>
              <a:off x="4590288" y="4791456"/>
              <a:ext cx="1664208" cy="301221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F1A24F-5EF2-7246-B918-EC64B52BAF44}"/>
              </a:ext>
            </a:extLst>
          </p:cNvPr>
          <p:cNvGrpSpPr/>
          <p:nvPr/>
        </p:nvGrpSpPr>
        <p:grpSpPr>
          <a:xfrm>
            <a:off x="9325642" y="4169030"/>
            <a:ext cx="4652486" cy="3652928"/>
            <a:chOff x="9325642" y="4169030"/>
            <a:chExt cx="4652486" cy="365292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E4DAE6-EA27-E249-84A1-4D7C62BB5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5642" y="4169030"/>
              <a:ext cx="4652486" cy="3652928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1909CCF-E768-274C-95A8-7D21084B6ADD}"/>
                </a:ext>
              </a:extLst>
            </p:cNvPr>
            <p:cNvCxnSpPr>
              <a:cxnSpLocks/>
            </p:cNvCxnSpPr>
            <p:nvPr/>
          </p:nvCxnSpPr>
          <p:spPr>
            <a:xfrm>
              <a:off x="9325642" y="5029200"/>
              <a:ext cx="4652486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1DAE6E1-5A36-1440-B3CB-CAAB5810362D}"/>
                </a:ext>
              </a:extLst>
            </p:cNvPr>
            <p:cNvCxnSpPr>
              <a:cxnSpLocks/>
            </p:cNvCxnSpPr>
            <p:nvPr/>
          </p:nvCxnSpPr>
          <p:spPr>
            <a:xfrm>
              <a:off x="9325642" y="6224016"/>
              <a:ext cx="4652486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7BB9FB-C9D4-7D47-824D-8D41E89D8B88}"/>
                </a:ext>
              </a:extLst>
            </p:cNvPr>
            <p:cNvCxnSpPr>
              <a:cxnSpLocks/>
            </p:cNvCxnSpPr>
            <p:nvPr/>
          </p:nvCxnSpPr>
          <p:spPr>
            <a:xfrm>
              <a:off x="9325642" y="6797040"/>
              <a:ext cx="4652486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5AAD8F8-0E02-2748-B9C0-790FD3F9F301}"/>
                </a:ext>
              </a:extLst>
            </p:cNvPr>
            <p:cNvCxnSpPr>
              <a:cxnSpLocks/>
            </p:cNvCxnSpPr>
            <p:nvPr/>
          </p:nvCxnSpPr>
          <p:spPr>
            <a:xfrm>
              <a:off x="9325642" y="7443216"/>
              <a:ext cx="4652486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158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0892" y="631348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</a:rPr>
              <a:t>Missing Data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830892" y="1603330"/>
            <a:ext cx="14381230" cy="1236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Option 2: Impute Missing values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matter how sophisticated your imputation is, you're not adding any real information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9547B1-C7EF-B04D-B008-E3F410F851CA}"/>
              </a:ext>
            </a:extLst>
          </p:cNvPr>
          <p:cNvGrpSpPr/>
          <p:nvPr/>
        </p:nvGrpSpPr>
        <p:grpSpPr>
          <a:xfrm>
            <a:off x="1485900" y="3870050"/>
            <a:ext cx="1918281" cy="3781689"/>
            <a:chOff x="4401530" y="4169030"/>
            <a:chExt cx="1852966" cy="365292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B6261C5-2F26-4649-AEED-77120684B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3710"/>
            <a:stretch/>
          </p:blipFill>
          <p:spPr>
            <a:xfrm>
              <a:off x="4401530" y="4169030"/>
              <a:ext cx="1688374" cy="3652928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94B9DB0-9598-EA4C-9207-32805F930152}"/>
                </a:ext>
              </a:extLst>
            </p:cNvPr>
            <p:cNvSpPr/>
            <p:nvPr/>
          </p:nvSpPr>
          <p:spPr>
            <a:xfrm>
              <a:off x="4590288" y="4791456"/>
              <a:ext cx="1664208" cy="301221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D987A7F-D5F0-05DF-E41F-260BBF5C8797}"/>
              </a:ext>
            </a:extLst>
          </p:cNvPr>
          <p:cNvGrpSpPr/>
          <p:nvPr/>
        </p:nvGrpSpPr>
        <p:grpSpPr>
          <a:xfrm>
            <a:off x="3575957" y="3802080"/>
            <a:ext cx="2445883" cy="3917628"/>
            <a:chOff x="3575957" y="3802080"/>
            <a:chExt cx="2445883" cy="391762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CB9074-EB9A-8140-977E-4A0BD53A16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1847" b="1296"/>
            <a:stretch/>
          </p:blipFill>
          <p:spPr>
            <a:xfrm>
              <a:off x="4245429" y="3802080"/>
              <a:ext cx="1776411" cy="3917628"/>
            </a:xfrm>
            <a:prstGeom prst="rect">
              <a:avLst/>
            </a:prstGeom>
          </p:spPr>
        </p:pic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5EA31A28-0493-E340-9DEF-75E04A689F9F}"/>
                </a:ext>
              </a:extLst>
            </p:cNvPr>
            <p:cNvSpPr/>
            <p:nvPr/>
          </p:nvSpPr>
          <p:spPr>
            <a:xfrm>
              <a:off x="3575957" y="5760894"/>
              <a:ext cx="354192" cy="35419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5B174A-994C-4144-B7F5-38E94BA76A17}"/>
              </a:ext>
            </a:extLst>
          </p:cNvPr>
          <p:cNvGrpSpPr/>
          <p:nvPr/>
        </p:nvGrpSpPr>
        <p:grpSpPr>
          <a:xfrm>
            <a:off x="8161057" y="4019187"/>
            <a:ext cx="2963168" cy="3613620"/>
            <a:chOff x="3502946" y="4485225"/>
            <a:chExt cx="2082800" cy="2540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1499962-CDFB-994C-AFCE-EB360FE7A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2946" y="4485225"/>
              <a:ext cx="2082800" cy="254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B3BCFA1-5ACE-1243-AD5A-2F0CE2A99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12839" y="4865757"/>
              <a:ext cx="1358900" cy="4064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23D72EE-E219-3340-B8FA-ADDFE6009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0300" y="5755225"/>
              <a:ext cx="1358900" cy="406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BF4DC2-C075-AB21-F8E1-28CCA338EBEA}"/>
              </a:ext>
            </a:extLst>
          </p:cNvPr>
          <p:cNvGrpSpPr/>
          <p:nvPr/>
        </p:nvGrpSpPr>
        <p:grpSpPr>
          <a:xfrm>
            <a:off x="10528217" y="3927454"/>
            <a:ext cx="4940383" cy="3724285"/>
            <a:chOff x="10528217" y="3927454"/>
            <a:chExt cx="4940383" cy="372428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C86D163-D574-9043-BF03-7E2BC59F2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14063" y="3927454"/>
              <a:ext cx="4454537" cy="3724285"/>
            </a:xfrm>
            <a:prstGeom prst="rect">
              <a:avLst/>
            </a:prstGeom>
          </p:spPr>
        </p:pic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D96A9AC4-7C84-C241-92CA-3BF4B8E1320A}"/>
                </a:ext>
              </a:extLst>
            </p:cNvPr>
            <p:cNvSpPr/>
            <p:nvPr/>
          </p:nvSpPr>
          <p:spPr>
            <a:xfrm>
              <a:off x="10528217" y="5896515"/>
              <a:ext cx="354192" cy="354192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71F6380-2C0D-EA4E-BC8A-EE0ED458D1DB}"/>
              </a:ext>
            </a:extLst>
          </p:cNvPr>
          <p:cNvSpPr/>
          <p:nvPr/>
        </p:nvSpPr>
        <p:spPr>
          <a:xfrm>
            <a:off x="11064196" y="7823945"/>
            <a:ext cx="43542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rgbClr val="000000"/>
                </a:solidFill>
                <a:latin typeface="Avenir Book" panose="02000503020000020003" pitchFamily="2" charset="0"/>
              </a:rPr>
              <a:t>Based on condition or frequent class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114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7370" y="543169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</a:rPr>
              <a:t>Missing Data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1087370" y="1568309"/>
            <a:ext cx="13624673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Option 3: Label Missing Values</a:t>
            </a:r>
          </a:p>
          <a:p>
            <a:endParaRPr lang="en-IN" sz="35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35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Numeric Features: </a:t>
            </a:r>
            <a:r>
              <a:rPr lang="en-IN" sz="3500" b="1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Flag and Fill</a:t>
            </a:r>
          </a:p>
          <a:p>
            <a:pPr marL="742950" indent="-742950"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indicator variable to flag missing values</a:t>
            </a:r>
          </a:p>
          <a:p>
            <a:pPr marL="742950" indent="-742950"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Fill the original variable with any consistent placeholder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316256-576D-FE47-9559-49EB2BF0CA4A}"/>
              </a:ext>
            </a:extLst>
          </p:cNvPr>
          <p:cNvGrpSpPr/>
          <p:nvPr/>
        </p:nvGrpSpPr>
        <p:grpSpPr>
          <a:xfrm>
            <a:off x="3474042" y="4612579"/>
            <a:ext cx="1668605" cy="3321670"/>
            <a:chOff x="4401530" y="4169030"/>
            <a:chExt cx="1835009" cy="365292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1911A22-941C-8846-9DC6-5B0F34B5A6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3710"/>
            <a:stretch/>
          </p:blipFill>
          <p:spPr>
            <a:xfrm>
              <a:off x="4401530" y="4169030"/>
              <a:ext cx="1688374" cy="3652928"/>
            </a:xfrm>
            <a:prstGeom prst="rect">
              <a:avLst/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036C8DB-F6C2-024B-9D5C-65E194801BAB}"/>
                </a:ext>
              </a:extLst>
            </p:cNvPr>
            <p:cNvSpPr/>
            <p:nvPr/>
          </p:nvSpPr>
          <p:spPr>
            <a:xfrm>
              <a:off x="4572331" y="4755542"/>
              <a:ext cx="1664208" cy="301221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18D3681-AB6B-73EF-8144-A99017A665C6}"/>
              </a:ext>
            </a:extLst>
          </p:cNvPr>
          <p:cNvGrpSpPr/>
          <p:nvPr/>
        </p:nvGrpSpPr>
        <p:grpSpPr>
          <a:xfrm>
            <a:off x="5309857" y="4489997"/>
            <a:ext cx="4713575" cy="3503953"/>
            <a:chOff x="5309857" y="4489997"/>
            <a:chExt cx="4713575" cy="35039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373D647-DEE5-3D48-8549-FFA371FEB0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6696"/>
            <a:stretch/>
          </p:blipFill>
          <p:spPr>
            <a:xfrm>
              <a:off x="7458213" y="4489997"/>
              <a:ext cx="2565219" cy="348165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7A2D7D4-491F-A849-909D-6C4E657A31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1847" b="1296"/>
            <a:stretch/>
          </p:blipFill>
          <p:spPr>
            <a:xfrm>
              <a:off x="5897891" y="4552877"/>
              <a:ext cx="1560322" cy="3441073"/>
            </a:xfrm>
            <a:prstGeom prst="rect">
              <a:avLst/>
            </a:prstGeom>
          </p:spPr>
        </p:pic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C28A7FFE-4BEB-7642-A2AB-3515FCB90F1A}"/>
                </a:ext>
              </a:extLst>
            </p:cNvPr>
            <p:cNvSpPr/>
            <p:nvPr/>
          </p:nvSpPr>
          <p:spPr>
            <a:xfrm>
              <a:off x="5309857" y="6273414"/>
              <a:ext cx="311107" cy="311107"/>
            </a:xfrm>
            <a:prstGeom prst="chevro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E8FB273-46FB-494F-86DE-1D8ABDD4BF3D}"/>
                </a:ext>
              </a:extLst>
            </p:cNvPr>
            <p:cNvSpPr/>
            <p:nvPr/>
          </p:nvSpPr>
          <p:spPr>
            <a:xfrm>
              <a:off x="7458213" y="4608554"/>
              <a:ext cx="2415099" cy="582312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00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7370" y="904509"/>
            <a:ext cx="11411018" cy="722679"/>
          </a:xfrm>
        </p:spPr>
        <p:txBody>
          <a:bodyPr/>
          <a:lstStyle/>
          <a:p>
            <a:r>
              <a:rPr lang="en-IN" dirty="0">
                <a:latin typeface="Avenir Medium" panose="02000503020000020003" pitchFamily="2" charset="0"/>
                <a:cs typeface="Calibri" panose="020F0502020204030204" pitchFamily="34" charset="0"/>
              </a:rPr>
              <a:t>Notebook Activities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3433D-1209-754F-A20A-C73A2F6562F1}"/>
              </a:ext>
            </a:extLst>
          </p:cNvPr>
          <p:cNvSpPr/>
          <p:nvPr/>
        </p:nvSpPr>
        <p:spPr>
          <a:xfrm>
            <a:off x="1087370" y="2107576"/>
            <a:ext cx="13624673" cy="2482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Drop unwanted observations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Handle Missing Data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IN" sz="3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Remove ‘Guilty’ Outliers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20C40A-E238-F449-ADFE-1262D552F1A5}"/>
              </a:ext>
            </a:extLst>
          </p:cNvPr>
          <p:cNvSpPr/>
          <p:nvPr/>
        </p:nvSpPr>
        <p:spPr>
          <a:xfrm>
            <a:off x="3580629" y="6688077"/>
            <a:ext cx="88416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Better Data beats Fancier Algorithm</a:t>
            </a:r>
          </a:p>
        </p:txBody>
      </p:sp>
    </p:spTree>
    <p:extLst>
      <p:ext uri="{BB962C8B-B14F-4D97-AF65-F5344CB8AC3E}">
        <p14:creationId xmlns:p14="http://schemas.microsoft.com/office/powerpoint/2010/main" val="567413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3883" y="2971801"/>
            <a:ext cx="10596281" cy="239034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venir Medium" panose="02000503020000020003" pitchFamily="2" charset="0"/>
                <a:cs typeface="Calibri" panose="020F0502020204030204" pitchFamily="34" charset="0"/>
              </a:rPr>
              <a:t>Open Notebook</a:t>
            </a:r>
            <a:br>
              <a:rPr lang="en-US" dirty="0">
                <a:latin typeface="Avenir Medium" panose="02000503020000020003" pitchFamily="2" charset="0"/>
                <a:cs typeface="Calibri" panose="020F0502020204030204" pitchFamily="34" charset="0"/>
              </a:rPr>
            </a:br>
            <a:br>
              <a:rPr lang="en-US" dirty="0">
                <a:latin typeface="Avenir Medium" panose="02000503020000020003" pitchFamily="2" charset="0"/>
                <a:cs typeface="Calibri" panose="020F0502020204030204" pitchFamily="34" charset="0"/>
              </a:rPr>
            </a:br>
            <a:r>
              <a:rPr lang="en-US" sz="3600" dirty="0" err="1">
                <a:latin typeface="Avenir Medium" panose="02000503020000020003" pitchFamily="2" charset="0"/>
                <a:cs typeface="Calibri" panose="020F0502020204030204" pitchFamily="34" charset="0"/>
              </a:rPr>
              <a:t>Data</a:t>
            </a:r>
            <a:r>
              <a:rPr lang="en-US" sz="3600" err="1">
                <a:latin typeface="Avenir Medium" panose="02000503020000020003" pitchFamily="2" charset="0"/>
                <a:cs typeface="Calibri" panose="020F0502020204030204" pitchFamily="34" charset="0"/>
              </a:rPr>
              <a:t>_</a:t>
            </a:r>
            <a:r>
              <a:rPr lang="en-US" sz="3600">
                <a:latin typeface="Avenir Medium" panose="02000503020000020003" pitchFamily="2" charset="0"/>
                <a:cs typeface="Calibri" panose="020F0502020204030204" pitchFamily="34" charset="0"/>
              </a:rPr>
              <a:t>Cleaning.</a:t>
            </a:r>
            <a:r>
              <a:rPr lang="en-US" sz="3600" dirty="0" err="1">
                <a:latin typeface="Avenir Medium" panose="02000503020000020003" pitchFamily="2" charset="0"/>
                <a:cs typeface="Calibri" panose="020F0502020204030204" pitchFamily="34" charset="0"/>
              </a:rPr>
              <a:t>ipynb</a:t>
            </a:r>
            <a:endParaRPr lang="en-US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5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4754" y="3679485"/>
            <a:ext cx="4234606" cy="1185123"/>
          </a:xfrm>
        </p:spPr>
        <p:txBody>
          <a:bodyPr>
            <a:normAutofit/>
          </a:bodyPr>
          <a:lstStyle/>
          <a:p>
            <a:r>
              <a:rPr lang="en-US" dirty="0">
                <a:latin typeface="Avenir Medium" panose="02000503020000020003" pitchFamily="2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4796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B8CAB36A2D8409F6572231052C12A" ma:contentTypeVersion="4" ma:contentTypeDescription="Create a new document." ma:contentTypeScope="" ma:versionID="6f5e82948aaa69405a81ecfceca438aa">
  <xsd:schema xmlns:xsd="http://www.w3.org/2001/XMLSchema" xmlns:xs="http://www.w3.org/2001/XMLSchema" xmlns:p="http://schemas.microsoft.com/office/2006/metadata/properties" xmlns:ns2="07e9b253-4bb1-419b-a3a2-8b781af139fd" targetNamespace="http://schemas.microsoft.com/office/2006/metadata/properties" ma:root="true" ma:fieldsID="a3d46d9f31ffb322e81118aa3346a3e1" ns2:_="">
    <xsd:import namespace="07e9b253-4bb1-419b-a3a2-8b781af139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e9b253-4bb1-419b-a3a2-8b781af13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B34376-2448-4E13-9E2A-6F387AD9B7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AC6D55-7065-409A-BB9D-6A4BA3D000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e9b253-4bb1-419b-a3a2-8b781af139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6D782F-1CFA-4202-B09D-C5F43F5A516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21706</TotalTime>
  <Words>349</Words>
  <Application>Microsoft Office PowerPoint</Application>
  <PresentationFormat>Custom</PresentationFormat>
  <Paragraphs>97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Avenir Book</vt:lpstr>
      <vt:lpstr>Avenir Medium</vt:lpstr>
      <vt:lpstr>Avenir Roman</vt:lpstr>
      <vt:lpstr>Calibri</vt:lpstr>
      <vt:lpstr>Comic Sans MS</vt:lpstr>
      <vt:lpstr>Segoe UI</vt:lpstr>
      <vt:lpstr>Söhne</vt:lpstr>
      <vt:lpstr>Wingdings</vt:lpstr>
      <vt:lpstr>Office Theme</vt:lpstr>
      <vt:lpstr>Welcome to Week 6</vt:lpstr>
      <vt:lpstr>The 5 Core Components</vt:lpstr>
      <vt:lpstr>Data Set</vt:lpstr>
      <vt:lpstr>Removing Duplicate rows (use cases)</vt:lpstr>
      <vt:lpstr>Data Cleaning</vt:lpstr>
      <vt:lpstr>Data Cleaning</vt:lpstr>
      <vt:lpstr>Outliers</vt:lpstr>
      <vt:lpstr>Outliers</vt:lpstr>
      <vt:lpstr>Missing Data</vt:lpstr>
      <vt:lpstr>Missing Data</vt:lpstr>
      <vt:lpstr>Missing Data</vt:lpstr>
      <vt:lpstr>Missing Data</vt:lpstr>
      <vt:lpstr>Notebook Activities</vt:lpstr>
      <vt:lpstr>Open Notebook  Data_Cleaning.ipynb</vt:lpstr>
      <vt:lpstr>Thank you!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umer Altaf</cp:lastModifiedBy>
  <cp:revision>807</cp:revision>
  <dcterms:created xsi:type="dcterms:W3CDTF">2016-12-21T16:02:28Z</dcterms:created>
  <dcterms:modified xsi:type="dcterms:W3CDTF">2025-10-08T12:33:00Z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0x01010057DB8CAB36A2D8409F6572231052C12A</vt:lpwstr>
  </property>
</Properties>
</file>